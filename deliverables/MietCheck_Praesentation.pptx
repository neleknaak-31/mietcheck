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ab8182583d4283" /><Relationship Type="http://schemas.openxmlformats.org/officeDocument/2006/relationships/extended-properties" Target="/docProps/app.xml" Id="R0459ef35b9014663" /><Relationship Type="http://schemas.openxmlformats.org/officeDocument/2006/relationships/officeDocument" Target="/ppt/presentation.xml" Id="R555ceb90d20c41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8f90f8c27247ec"/>
  </p:sldMasterIdLst>
  <p:notesMasterIdLst>
    <p:notesMasterId xmlns:r="http://schemas.openxmlformats.org/officeDocument/2006/relationships" r:id="Rb41edbe4f2e0489d"/>
  </p:notesMasterIdLst>
  <p:sldIdLst>
    <p:sldId xmlns:r="http://schemas.openxmlformats.org/officeDocument/2006/relationships" id="256" r:id="R5cdb9120259f474e"/>
    <p:sldId xmlns:r="http://schemas.openxmlformats.org/officeDocument/2006/relationships" id="257" r:id="R7351e5bdd5f8478d"/>
    <p:sldId xmlns:r="http://schemas.openxmlformats.org/officeDocument/2006/relationships" id="258" r:id="R30f2eefc974e45ec"/>
    <p:sldId xmlns:r="http://schemas.openxmlformats.org/officeDocument/2006/relationships" id="259" r:id="Ra93efe2a9fc248c3"/>
    <p:sldId xmlns:r="http://schemas.openxmlformats.org/officeDocument/2006/relationships" id="260" r:id="Rad2e1205a1814948"/>
    <p:sldId xmlns:r="http://schemas.openxmlformats.org/officeDocument/2006/relationships" id="261" r:id="R6fcdf3f9795a4702"/>
    <p:sldId xmlns:r="http://schemas.openxmlformats.org/officeDocument/2006/relationships" id="262" r:id="R72275164dc3c4b13"/>
    <p:sldId xmlns:r="http://schemas.openxmlformats.org/officeDocument/2006/relationships" id="263" r:id="Rcd4985b12c4e43b5"/>
    <p:sldId xmlns:r="http://schemas.openxmlformats.org/officeDocument/2006/relationships" id="264" r:id="R758be1ac363f4a1c"/>
    <p:sldId xmlns:r="http://schemas.openxmlformats.org/officeDocument/2006/relationships" id="265" r:id="R269309743c8e4e75"/>
    <p:sldId xmlns:r="http://schemas.openxmlformats.org/officeDocument/2006/relationships" id="266" r:id="R1c0782fd1fcd49ce"/>
    <p:sldId xmlns:r="http://schemas.openxmlformats.org/officeDocument/2006/relationships" id="267" r:id="R4967b93195eb4b1e"/>
    <p:sldId xmlns:r="http://schemas.openxmlformats.org/officeDocument/2006/relationships" id="268" r:id="R4e0bc7a4acc14945"/>
    <p:sldId xmlns:r="http://schemas.openxmlformats.org/officeDocument/2006/relationships" id="269" r:id="R2cc43e94373b4459"/>
    <p:sldId xmlns:r="http://schemas.openxmlformats.org/officeDocument/2006/relationships" id="270" r:id="Rb648abb7338a4a05"/>
    <p:sldId xmlns:r="http://schemas.openxmlformats.org/officeDocument/2006/relationships" id="271" r:id="R73c15ef90c904e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5dd2c294fb48c2" /><Relationship Type="http://schemas.openxmlformats.org/officeDocument/2006/relationships/slideMaster" Target="/ppt/slideMasters/slideMaster1.xml" Id="Reb8f90f8c27247ec" /><Relationship Type="http://schemas.openxmlformats.org/officeDocument/2006/relationships/notesMaster" Target="/ppt/notesMasters/notesMaster1.xml" Id="Rb41edbe4f2e0489d" /><Relationship Type="http://schemas.openxmlformats.org/officeDocument/2006/relationships/presProps" Target="/ppt/presProps.xml" Id="R78319376d6f44f74" /><Relationship Type="http://schemas.openxmlformats.org/officeDocument/2006/relationships/viewProps" Target="/ppt/viewProps.xml" Id="R5683903a81b642ca" /><Relationship Type="http://schemas.openxmlformats.org/officeDocument/2006/relationships/tableStyles" Target="/ppt/tableStyles.xml" Id="Rf1887e5b47114f67" /><Relationship Type="http://schemas.openxmlformats.org/officeDocument/2006/relationships/slide" Target="/ppt/slides/slide1.xml" Id="R5cdb9120259f474e" /><Relationship Type="http://schemas.openxmlformats.org/officeDocument/2006/relationships/slide" Target="/ppt/slides/slide2.xml" Id="R7351e5bdd5f8478d" /><Relationship Type="http://schemas.openxmlformats.org/officeDocument/2006/relationships/slide" Target="/ppt/slides/slide3.xml" Id="R30f2eefc974e45ec" /><Relationship Type="http://schemas.openxmlformats.org/officeDocument/2006/relationships/slide" Target="/ppt/slides/slide4.xml" Id="Ra93efe2a9fc248c3" /><Relationship Type="http://schemas.openxmlformats.org/officeDocument/2006/relationships/slide" Target="/ppt/slides/slide5.xml" Id="Rad2e1205a1814948" /><Relationship Type="http://schemas.openxmlformats.org/officeDocument/2006/relationships/slide" Target="/ppt/slides/slide6.xml" Id="R6fcdf3f9795a4702" /><Relationship Type="http://schemas.openxmlformats.org/officeDocument/2006/relationships/slide" Target="/ppt/slides/slide7.xml" Id="R72275164dc3c4b13" /><Relationship Type="http://schemas.openxmlformats.org/officeDocument/2006/relationships/slide" Target="/ppt/slides/slide8.xml" Id="Rcd4985b12c4e43b5" /><Relationship Type="http://schemas.openxmlformats.org/officeDocument/2006/relationships/slide" Target="/ppt/slides/slide9.xml" Id="R758be1ac363f4a1c" /><Relationship Type="http://schemas.openxmlformats.org/officeDocument/2006/relationships/slide" Target="/ppt/slides/slide10.xml" Id="R269309743c8e4e75" /><Relationship Type="http://schemas.openxmlformats.org/officeDocument/2006/relationships/slide" Target="/ppt/slides/slide11.xml" Id="R1c0782fd1fcd49ce" /><Relationship Type="http://schemas.openxmlformats.org/officeDocument/2006/relationships/slide" Target="/ppt/slides/slide12.xml" Id="R4967b93195eb4b1e" /><Relationship Type="http://schemas.openxmlformats.org/officeDocument/2006/relationships/slide" Target="/ppt/slides/slide13.xml" Id="R4e0bc7a4acc14945" /><Relationship Type="http://schemas.openxmlformats.org/officeDocument/2006/relationships/slide" Target="/ppt/slides/slide14.xml" Id="R2cc43e94373b4459" /><Relationship Type="http://schemas.openxmlformats.org/officeDocument/2006/relationships/slide" Target="/ppt/slides/slide15.xml" Id="Rb648abb7338a4a05" /><Relationship Type="http://schemas.openxmlformats.org/officeDocument/2006/relationships/slide" Target="/ppt/slides/slide16.xml" Id="R73c15ef90c904e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643d70947748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7df7a4ee614b98" /><Relationship Type="http://schemas.openxmlformats.org/officeDocument/2006/relationships/notesMaster" Target="/ppt/notesMasters/notesMaster1.xml" Id="R14cc594a0c634a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ba1c31113a469e" /><Relationship Type="http://schemas.openxmlformats.org/officeDocument/2006/relationships/notesMaster" Target="/ppt/notesMasters/notesMaster1.xml" Id="R3ce2bcc4778648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8c92c3edc148cb" /><Relationship Type="http://schemas.openxmlformats.org/officeDocument/2006/relationships/notesMaster" Target="/ppt/notesMasters/notesMaster1.xml" Id="R2192be9ce42c4f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ecdef9bbd54a37" /><Relationship Type="http://schemas.openxmlformats.org/officeDocument/2006/relationships/notesMaster" Target="/ppt/notesMasters/notesMaster1.xml" Id="R84ae2e6c954349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a166e57eac4a2f" /><Relationship Type="http://schemas.openxmlformats.org/officeDocument/2006/relationships/notesMaster" Target="/ppt/notesMasters/notesMaster1.xml" Id="Rc72f263a405343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4734d2728a4de9" /><Relationship Type="http://schemas.openxmlformats.org/officeDocument/2006/relationships/notesMaster" Target="/ppt/notesMasters/notesMaster1.xml" Id="R6ab90f6c5cb94e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fc641c744c4761" /><Relationship Type="http://schemas.openxmlformats.org/officeDocument/2006/relationships/notesMaster" Target="/ppt/notesMasters/notesMaster1.xml" Id="R80c29727628843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7cb60c51204ff0" /><Relationship Type="http://schemas.openxmlformats.org/officeDocument/2006/relationships/notesMaster" Target="/ppt/notesMasters/notesMaster1.xml" Id="R85a75aec15b445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ff24ef4a754220" /><Relationship Type="http://schemas.openxmlformats.org/officeDocument/2006/relationships/notesMaster" Target="/ppt/notesMasters/notesMaster1.xml" Id="Rac2a2a8011aa44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130d4d817e4a30" /><Relationship Type="http://schemas.openxmlformats.org/officeDocument/2006/relationships/notesMaster" Target="/ppt/notesMasters/notesMaster1.xml" Id="R2c068b8d372643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9d95102e184c59" /><Relationship Type="http://schemas.openxmlformats.org/officeDocument/2006/relationships/notesMaster" Target="/ppt/notesMasters/notesMaster1.xml" Id="Ra021bb6d45474c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48b1946a5c42ac" /><Relationship Type="http://schemas.openxmlformats.org/officeDocument/2006/relationships/notesMaster" Target="/ppt/notesMasters/notesMaster1.xml" Id="Rc637b4a148f94c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c7bc7be84447dc" /><Relationship Type="http://schemas.openxmlformats.org/officeDocument/2006/relationships/notesMaster" Target="/ppt/notesMasters/notesMaster1.xml" Id="R1605f0d8eca240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90136770aeb41e0" /><Relationship Type="http://schemas.openxmlformats.org/officeDocument/2006/relationships/notesMaster" Target="/ppt/notesMasters/notesMaster1.xml" Id="R0953c18445be46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f17b26fa3b4165" /><Relationship Type="http://schemas.openxmlformats.org/officeDocument/2006/relationships/notesMaster" Target="/ppt/notesMasters/notesMaster1.xml" Id="R5e9046eb621d42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e93e1fff9d4ad4" /><Relationship Type="http://schemas.openxmlformats.org/officeDocument/2006/relationships/notesMaster" Target="/ppt/notesMasters/notesMaster1.xml" Id="R5190397c88174c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35 Sekunden.</a:t>
            </a:r>
          </a:p>
          <a:p xmlns:a="http://schemas.openxmlformats.org/drawingml/2006/main">
            <a:r>
              <a:t>MietCheck führt durch den vollständigen QUA³CK-Prozess. Die App wird in dieser Präsentation mit verifizierten Screenshots gezeigt; eine Live-Demo ist nicht erforderlich.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Die Forschungsfrage trennt bewusst drei Messkonzepte. Der Umzugsaufschlag ist ein deskriptiver Vergleich und keine zulässige oder faire Miete.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Der USP ist nicht ein weiterer Preisrechner. Die vier Go/No-Go-Regeln wurden vor dem finalen Test definiert, damit die Bewertung nicht nachträglich passend gemacht wird.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Vier Zielgruppen stehen für vier konkrete Entscheidungen: Bleiben oder umziehen, plausible Mehrkosten, persönliche Mietbelastung sowie Markt- und Methodenvergleich. Persönliche Eingaben werden nicht gespeichert.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Das Trainingsziel ist die Zensus-Bestandsmiete zum Stichtag 15. Mai 2022. GREIX aktualisiert nur die Marktseite der App und wird nicht fälschlich in das historische Trainingsziel gemischt.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StandardScaler nutzt ausschließlich Mittelwert und Standardabweichung des jeweiligen Trainingsfolds. Das ist für Ridge, SVM und MLP nötig. Entscheidungsbaum, Random Forest und HGB sind gegenüber monotoner Skalierung invariant; der HGB-Champion speichert deshalb bewusst keinen unnötigen Scaler.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Ein Random Split würde räumliche Nachbarschaft in Train und Test verteilen. Die drei Hash-dokumentierten Blockmengen überschneiden sich nicht.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Sieben Kandidaten inklusive Baseline, LinearSVR und einzelner Decision Tree laufen auf denselben 600.000 Zeilen. Der RBF-SVR wird ergänzend auf 10.000 räumlich validierten Zeilen geprüft, weil exakte Kernel-SVR superlinear skaliert.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A² zeigt den inkrementellen Zusatznutzen der Feature-Gruppen. A³ vergleicht acht HGB-Konfigurationen ausschließlich auf Entwicklungsblöcken und berücksichtigt Mittelwert, Streuung und schlechtesten Fold.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Der unangetastete Test umfasst 276.458 Zeilen aus 99 Raumblöcken. MAE 1,413 €/m², R² 0,584 und 38,3 Prozent Verbesserung. Die empirische Coverage liegt bei 86,8 statt nominal 90 Prozent und wird nicht versteckt.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Der Screenshot ersetzt die Live-Demo. Er zeigt das Berlin-Szenario, drei getrennte Mietwerte und den Umzugsaufschlag direkt am Ergebnis.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40 Sekunden.</a:t>
            </a:r>
          </a:p>
          <a:p xmlns:a="http://schemas.openxmlformats.org/drawingml/2006/main">
            <a:r>
              <a:t>Der zweite Screenshot zeigt, wie aktuelle GREIX-Quartale und der Markt-IQR die Angebotsseite erklären. Diese Streuung ist nicht dasselbe wie Modellunsicherheit.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Der Methodik-Screenshot belegt, dass die wissenschaftliche Nachweiskette in der App selbst sichtbar ist. Es gibt keine Live-Demo und damit kein Netzwerk- oder Login-Risiko.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</a:t>
            </a:r>
            <a:r>
              <a:t>Sekunden</a:t>
            </a:r>
            <a:r>
              <a:t>.</a:t>
            </a:r>
          </a:p>
          <a:p xmlns:a="http://schemas.openxmlformats.org/drawingml/2006/main">
            <a:r>
              <a:t>Nicht </a:t>
            </a:r>
            <a:r>
              <a:t>beobachtete</a:t>
            </a:r>
            <a:r>
              <a:t> </a:t>
            </a:r>
            <a:r>
              <a:t>Wohnungsmerkmale</a:t>
            </a:r>
            <a:r>
              <a:t>, </a:t>
            </a:r>
            <a:r>
              <a:t>Zeitversatz</a:t>
            </a:r>
            <a:r>
              <a:t>, </a:t>
            </a:r>
            <a:r>
              <a:t>begrenzte</a:t>
            </a:r>
            <a:r>
              <a:t> GREIX-</a:t>
            </a:r>
            <a:r>
              <a:t>Abdeckung</a:t>
            </a:r>
            <a:r>
              <a:t> und Coverage-</a:t>
            </a:r>
            <a:r>
              <a:t>Unterdeckung</a:t>
            </a:r>
            <a:r>
              <a:t> </a:t>
            </a:r>
            <a:r>
              <a:t>stehen</a:t>
            </a:r>
            <a:r>
              <a:t> </a:t>
            </a:r>
            <a:r>
              <a:t>sichtbar</a:t>
            </a:r>
            <a:r>
              <a:t> in App, Model Card und Risk Assessment.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Q definiert den Nutzen, U prüft Daten und Skalierung, A wählt und optimiert, C bewertet ehrlich, K überträgt das Wissen in die App. Genau diese geschlossene Kette ist das Ergebnis.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Backup-Folie für Quellen- und Reproduzierbarkeitsfragen. Die Primärquellen und der vollständige Laufweg sind im öffentlichen Repository dokumentiert.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f037e76ac54d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73bff18aef4fa1" /><Relationship Type="http://schemas.openxmlformats.org/officeDocument/2006/relationships/slideLayout" Target="/ppt/slideLayouts/slideLayout1.xml" Id="Rfe46d9acd7ac47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46d9acd7ac47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926621cf44da4" /><Relationship Type="http://schemas.openxmlformats.org/officeDocument/2006/relationships/image" Target="/ppt/media/image.png" Id="Rbc03e34753544043" /><Relationship Type="http://schemas.openxmlformats.org/officeDocument/2006/relationships/image" Target="/ppt/media/image.jpeg" Id="R9b7bf933e53e4630" /><Relationship Type="http://schemas.openxmlformats.org/officeDocument/2006/relationships/notesSlide" Target="/ppt/notesSlides/notesSlide1.xml" Id="R71142d3408454a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b676553204bb1" /><Relationship Type="http://schemas.openxmlformats.org/officeDocument/2006/relationships/notesSlide" Target="/ppt/notesSlides/notesSlide2.xml" Id="R0d9b5c858bd04a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f2f31edf24a56" /><Relationship Type="http://schemas.openxmlformats.org/officeDocument/2006/relationships/notesSlide" Target="/ppt/notesSlides/notesSlide3.xml" Id="Rf8a17533b5454a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40371052d4f31" /><Relationship Type="http://schemas.openxmlformats.org/officeDocument/2006/relationships/notesSlide" Target="/ppt/notesSlides/notesSlide4.xml" Id="Rf7d6cc53669f4f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70a99e6f84c1f" /><Relationship Type="http://schemas.openxmlformats.org/officeDocument/2006/relationships/notesSlide" Target="/ppt/notesSlides/notesSlide5.xml" Id="R0582af5fca2246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bb91f37ef4060" /><Relationship Type="http://schemas.openxmlformats.org/officeDocument/2006/relationships/notesSlide" Target="/ppt/notesSlides/notesSlide6.xml" Id="R7380241d483747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516247b5d40d9" /><Relationship Type="http://schemas.openxmlformats.org/officeDocument/2006/relationships/notesSlide" Target="/ppt/notesSlides/notesSlide7.xml" Id="R37746464225e49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9f6c4dfce4777" /><Relationship Type="http://schemas.openxmlformats.org/officeDocument/2006/relationships/chart" Target="/ppt/slides/charts/chart1.xml" Id="R5ea33468558d4809" /><Relationship Type="http://schemas.openxmlformats.org/officeDocument/2006/relationships/notesSlide" Target="/ppt/notesSlides/notesSlide8.xml" Id="R09ab9ede9bc249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3da8740ea4978" /><Relationship Type="http://schemas.openxmlformats.org/officeDocument/2006/relationships/chart" Target="/ppt/slides/charts/chart2.xml" Id="R0d4219b8daba44c8" /><Relationship Type="http://schemas.openxmlformats.org/officeDocument/2006/relationships/notesSlide" Target="/ppt/notesSlides/notesSlide9.xml" Id="Rb3aadb011e7741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95cf349784043" /><Relationship Type="http://schemas.openxmlformats.org/officeDocument/2006/relationships/chart" Target="/ppt/slides/charts/chart3.xml" Id="R8eea0f5a229e4985" /><Relationship Type="http://schemas.openxmlformats.org/officeDocument/2006/relationships/notesSlide" Target="/ppt/notesSlides/notesSlide10.xml" Id="Rcb62ae5499484d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fafa4184c4483" /><Relationship Type="http://schemas.openxmlformats.org/officeDocument/2006/relationships/image" Target="/ppt/media/image.png" Id="Rffc56df57e124ec5" /><Relationship Type="http://schemas.openxmlformats.org/officeDocument/2006/relationships/image" Target="/ppt/media/image.jpeg" Id="Raa42d9df0d0c4a4e" /><Relationship Type="http://schemas.openxmlformats.org/officeDocument/2006/relationships/notesSlide" Target="/ppt/notesSlides/notesSlide11.xml" Id="R8ee0c1426cfe46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af2fda58f4f32" /><Relationship Type="http://schemas.openxmlformats.org/officeDocument/2006/relationships/image" Target="/ppt/media/image.png" Id="Ra6f47d66fed842d6" /><Relationship Type="http://schemas.openxmlformats.org/officeDocument/2006/relationships/image" Target="/ppt/media/image2.jpeg" Id="R4b95227ebf6a417b" /><Relationship Type="http://schemas.openxmlformats.org/officeDocument/2006/relationships/notesSlide" Target="/ppt/notesSlides/notesSlide12.xml" Id="Rbf80a844974f46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e8a696f464580" /><Relationship Type="http://schemas.openxmlformats.org/officeDocument/2006/relationships/image" Target="/ppt/media/image.png" Id="Rde921752b5ea4b33" /><Relationship Type="http://schemas.openxmlformats.org/officeDocument/2006/relationships/image" Target="/ppt/media/image3.jpeg" Id="R7d258c8939bd4857" /><Relationship Type="http://schemas.openxmlformats.org/officeDocument/2006/relationships/notesSlide" Target="/ppt/notesSlides/notesSlide13.xml" Id="Raa7d3c17f2a244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cef8b50f04291" /><Relationship Type="http://schemas.openxmlformats.org/officeDocument/2006/relationships/notesSlide" Target="/ppt/notesSlides/notesSlide14.xml" Id="R5ea1fb3797d847c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0986449c64faa" /><Relationship Type="http://schemas.openxmlformats.org/officeDocument/2006/relationships/notesSlide" Target="/ppt/notesSlides/notesSlide15.xml" Id="R6800b383854d44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f2e9576b04a23" /><Relationship Type="http://schemas.openxmlformats.org/officeDocument/2006/relationships/notesSlide" Target="/ppt/notesSlides/notesSlide16.xml" Id="R9ff732b4b0444192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315CFF"/>
            </a:solidFill>
          </c:spPr>
          <c:dPt>
            <c:idx val="4"/>
            <c:spPr>
              <a:solidFill xmlns:a="http://schemas.openxmlformats.org/drawingml/2006/main">
                <a:srgbClr val="0F7B62"/>
              </a:solidFill>
            </c:spPr>
          </c:dPt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25" b="1">
                    <a:solidFill>
                      <a:srgbClr val="14213D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Median</c:v>
              </c:pt>
              <c:pt idx="1">
                <c:v>Ridge</c:v>
              </c:pt>
              <c:pt idx="2">
                <c:v>LinearSVR</c:v>
              </c:pt>
              <c:pt idx="3">
                <c:v>Tree</c:v>
              </c:pt>
              <c:pt idx="4">
                <c:v>MLP</c:v>
              </c:pt>
              <c:pt idx="5">
                <c:v>RF</c:v>
              </c:pt>
              <c:pt idx="6">
                <c:v>HGB</c:v>
              </c:pt>
            </c:strLit>
          </c:cat>
          <c:val>
            <c:numLit>
              <c:formatCode>0.000</c:formatCode>
              <c:ptCount val="7"/>
              <c:pt idx="0">
                <c:v>1.719</c:v>
              </c:pt>
              <c:pt idx="1">
                <c:v>1.632</c:v>
              </c:pt>
              <c:pt idx="2">
                <c:v>1.635</c:v>
              </c:pt>
              <c:pt idx="3">
                <c:v>1.393</c:v>
              </c:pt>
              <c:pt idx="4">
                <c:v>1.397</c:v>
              </c:pt>
              <c:pt idx="5">
                <c:v>1.32</c:v>
              </c:pt>
              <c:pt idx="6">
                <c:v>1.305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mittlerer MAE in €/m²</a:t>
                </a:r>
              </a:p>
            </c:rich>
          </c:tx>
          <c:layout>
            <c:manualLayout>
              <c:xMode val="edge"/>
              <c:yMode val="edge"/>
              <c:x val="0.001932367149758454"/>
              <c:y val="0.33355096237970255"/>
            </c:manualLayout>
          </c:layout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50112"/>
        <c:crosses val="autoZero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900" b="1">
                    <a:solidFill>
                      <a:srgbClr val="14213D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Kategorien</c:v>
              </c:pt>
              <c:pt idx="1">
                <c:v>+ Lage</c:v>
              </c:pt>
              <c:pt idx="2">
                <c:v>+ Umfeld</c:v>
              </c:pt>
              <c:pt idx="3">
                <c:v>+ Qualität</c:v>
              </c:pt>
            </c:strLit>
          </c:cat>
          <c:val>
            <c:numLit>
              <c:formatCode>0.000</c:formatCode>
              <c:ptCount val="4"/>
              <c:pt idx="0">
                <c:v>1.645</c:v>
              </c:pt>
              <c:pt idx="1">
                <c:v>1.351</c:v>
              </c:pt>
              <c:pt idx="2">
                <c:v>1.315</c:v>
              </c:pt>
              <c:pt idx="3">
                <c:v>1.294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es val="autoZero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 b="1">
                    <a:solidFill>
                      <a:srgbClr val="102138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2"/>
              <c:pt idx="0">
                <c:v>Kategorie-Baseline</c:v>
              </c:pt>
              <c:pt idx="1">
                <c:v>MietCheck HGB</c:v>
              </c:pt>
            </c:strLit>
          </c:cat>
          <c:val>
            <c:numLit>
              <c:formatCode>General</c:formatCode>
              <c:ptCount val="2"/>
              <c:pt idx="0">
                <c:v>2.292</c:v>
              </c:pt>
              <c:pt idx="1">
                <c:v>1.413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es val="autoZero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dark-panel">
            <a:extLst xmlns:a="http://schemas.openxmlformats.org/drawingml/2006/main">
              <a:ext uri="{FF2B5EF4-FFF2-40B4-BE49-F238E27FC236}">
                <a16:creationId xmlns:a16="http://schemas.microsoft.com/office/drawing/2014/main" id="{F0331D25-56BB-47BA-BAD7-64B03E71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57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cover-teal-panel">
            <a:extLst xmlns:a="http://schemas.openxmlformats.org/drawingml/2006/main">
              <a:ext uri="{FF2B5EF4-FFF2-40B4-BE49-F238E27FC236}">
                <a16:creationId xmlns:a16="http://schemas.microsoft.com/office/drawing/2014/main" id="{4A4EBC25-239D-4843-841C-EA12904A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0"/>
            <a:ext cx="1295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2D0E047-3D79-4F46-8585-5C2E544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cover-brand">
            <a:extLst xmlns:a="http://schemas.openxmlformats.org/drawingml/2006/main">
              <a:ext uri="{FF2B5EF4-FFF2-40B4-BE49-F238E27FC236}">
                <a16:creationId xmlns:a16="http://schemas.microsoft.com/office/drawing/2014/main" id="{874AF73B-78C5-4659-A16F-F40E8AF9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9C99A"/>
                </a:solidFill>
                <a:latin typeface="Arial"/>
                <a:ea typeface="Arial"/>
                <a:cs typeface="Arial"/>
              </a:defRPr>
            </a:pPr>
            <a:r>
              <a:t>MietCheck</a:t>
            </a:r>
          </a:p>
        </p:txBody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A2825C0-0427-4D65-96F4-DCA33846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C8D3"/>
                </a:solidFill>
                <a:latin typeface="Arial"/>
                <a:ea typeface="Arial"/>
                <a:cs typeface="Arial"/>
              </a:defRPr>
            </a:pPr>
            <a:r>
              <a:t>Q → U → A¹/A²/A³ → C → K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EB848AE-5642-4170-A7A6-DCFFBBD8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4762500" cy="232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MietCheck.
Von Big Data
zur Entscheidung.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80D8A79-F642-4A3D-90D2-A6CAAD44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4762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E5EA"/>
                </a:solidFill>
                <a:latin typeface="Arial"/>
                <a:ea typeface="Arial"/>
                <a:cs typeface="Arial"/>
              </a:defRPr>
            </a:pPr>
            <a:r>
              <a:t>2,06 Mio. Zensuszeilen, räumlich validiertes Machine Learning und aktuelle GREIX-Angebotsmieten.</a:t>
            </a:r>
          </a:p>
        </p:txBody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E18D4F40-3608-4072-A4F4-D16EF7FB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FC0CB"/>
                </a:solidFill>
                <a:latin typeface="Arial"/>
                <a:ea typeface="Arial"/>
                <a:cs typeface="Arial"/>
              </a:defRPr>
            </a:pPr>
            <a:r>
              <a:t>Nele Knaak · Matrikel-Nr.: [EINTRAGEN]
Prüfer/in: [EINTRAGEN] · Abgabe: [TT.MM.JJJJ]</a:t>
            </a:r>
          </a:p>
        </p:txBody>
      </p:sp>
      <p:sp>
        <p:nvSpPr>
          <p:cNvPr id="9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FDDDF729-7B0B-4E5F-8864-12CD015E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"/>
            <a:ext cx="5543550" cy="58293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Grafik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3e34753544043"/>
          <a:srcRect xmlns:a="http://schemas.openxmlformats.org/drawingml/2006/main" l="13781" t="0" r="13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495300"/>
            <a:ext cx="5238750" cy="5524500"/>
          </a:xfrm>
          <a:prstGeom xmlns:a="http://schemas.openxmlformats.org/drawingml/2006/main" prst="roundRect">
            <a:avLst>
              <a:gd name="adj" fmla="val 2909"/>
            </a:avLst>
          </a:prstGeom>
        </p:spPr>
      </p:pic>
      <p:pic>
        <p:nvPicPr>
          <p:cNvPr id="24" name="Grafik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bf933e53e4630"/>
          <a:srcRect xmlns:a="http://schemas.openxmlformats.org/drawingml/2006/main" l="13781" t="0" r="13781" b="0"/>
          <a:stretch xmlns:a="http://schemas.openxmlformats.org/drawingml/2006/main"/>
        </p:blipFill>
        <p:spPr>
          <a:xfrm xmlns:a="http://schemas.openxmlformats.org/drawingml/2006/main">
            <a:off x="6343650" y="495300"/>
            <a:ext cx="5238750" cy="5524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733908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header-2">
            <a:extLst xmlns:a="http://schemas.openxmlformats.org/drawingml/2006/main">
              <a:ext uri="{FF2B5EF4-FFF2-40B4-BE49-F238E27FC236}">
                <a16:creationId xmlns:a16="http://schemas.microsoft.com/office/drawing/2014/main" id="{6EC10815-DE82-41D8-9CEA-D482296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2">
            <a:extLst xmlns:a="http://schemas.openxmlformats.org/drawingml/2006/main">
              <a:ext uri="{FF2B5EF4-FFF2-40B4-BE49-F238E27FC236}">
                <a16:creationId xmlns:a16="http://schemas.microsoft.com/office/drawing/2014/main" id="{14AC3231-11AD-401F-A961-D4A2CCA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2">
            <a:extLst xmlns:a="http://schemas.openxmlformats.org/drawingml/2006/main">
              <a:ext uri="{FF2B5EF4-FFF2-40B4-BE49-F238E27FC236}">
                <a16:creationId xmlns:a16="http://schemas.microsoft.com/office/drawing/2014/main" id="{1AD3A4EE-75FF-4FD0-B581-34DAD77B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2">
            <a:extLst xmlns:a="http://schemas.openxmlformats.org/drawingml/2006/main">
              <a:ext uri="{FF2B5EF4-FFF2-40B4-BE49-F238E27FC236}">
                <a16:creationId xmlns:a16="http://schemas.microsoft.com/office/drawing/2014/main" id="{8CD777A9-E967-4772-BF44-1D119A27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Forschungsfrage: Was kostet ein Umzug wirklich?</a:t>
            </a:r>
          </a:p>
        </p:txBody>
      </p:sp>
      <p:sp>
        <p:nvSpPr>
          <p:cNvPr id="5" name="source-2">
            <a:extLst xmlns:a="http://schemas.openxmlformats.org/drawingml/2006/main">
              <a:ext uri="{FF2B5EF4-FFF2-40B4-BE49-F238E27FC236}">
                <a16:creationId xmlns:a16="http://schemas.microsoft.com/office/drawing/2014/main" id="{D53FF2FC-8014-4193-951D-3D269FA5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66CF1F9F-CA7B-4C5F-BA46-0048457A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7" name="three-lead">
            <a:extLst xmlns:a="http://schemas.openxmlformats.org/drawingml/2006/main">
              <a:ext uri="{FF2B5EF4-FFF2-40B4-BE49-F238E27FC236}">
                <a16:creationId xmlns:a16="http://schemas.microsoft.com/office/drawing/2014/main" id="{8636E47A-935C-4E78-A280-6615FCE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Wie groß ist die Lücke zwischen lokalem Bestand, aktuellem Angebot und persönlicher Mietbelastung?</a:t>
            </a:r>
          </a:p>
        </p:txBody>
      </p:sp>
      <p:cxnSp>
        <p:nvCxnSpPr>
          <p:cNvPr id="67" name="sep-one"/>
          <p:cNvCxnSpPr/>
          <p:nvPr/>
        </p:nvCxnSpPr>
        <p:spPr>
          <a:xfrm xmlns:a="http://schemas.openxmlformats.org/drawingml/2006/main">
            <a:off x="4029075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cxnSp>
        <p:nvCxnSpPr>
          <p:cNvPr id="68" name="sep-two"/>
          <p:cNvCxnSpPr/>
          <p:nvPr/>
        </p:nvCxnSpPr>
        <p:spPr>
          <a:xfrm xmlns:a="http://schemas.openxmlformats.org/drawingml/2006/main">
            <a:off x="7829550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0" name="accent-0">
            <a:extLst xmlns:a="http://schemas.openxmlformats.org/drawingml/2006/main">
              <a:ext uri="{FF2B5EF4-FFF2-40B4-BE49-F238E27FC236}">
                <a16:creationId xmlns:a16="http://schemas.microsoft.com/office/drawing/2014/main" id="{BFE1C8DB-F5D8-44DE-BFDD-3E67F71C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eality-label-0">
            <a:extLst xmlns:a="http://schemas.openxmlformats.org/drawingml/2006/main">
              <a:ext uri="{FF2B5EF4-FFF2-40B4-BE49-F238E27FC236}">
                <a16:creationId xmlns:a16="http://schemas.microsoft.com/office/drawing/2014/main" id="{42FE8853-3980-4BBC-9B60-9CA9D925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BESTANDSANKER</a:t>
            </a:r>
          </a:p>
        </p:txBody>
      </p:sp>
      <p:sp>
        <p:nvSpPr>
          <p:cNvPr id="12" name="reality-stat-0">
            <a:extLst xmlns:a="http://schemas.openxmlformats.org/drawingml/2006/main">
              <a:ext uri="{FF2B5EF4-FFF2-40B4-BE49-F238E27FC236}">
                <a16:creationId xmlns:a16="http://schemas.microsoft.com/office/drawing/2014/main" id="{CC65C230-C40D-41C0-93C6-675ECD73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15.05.2022</a:t>
            </a:r>
          </a:p>
        </p:txBody>
      </p:sp>
      <p:sp>
        <p:nvSpPr>
          <p:cNvPr id="13" name="reality-body-0">
            <a:extLst xmlns:a="http://schemas.openxmlformats.org/drawingml/2006/main">
              <a:ext uri="{FF2B5EF4-FFF2-40B4-BE49-F238E27FC236}">
                <a16:creationId xmlns:a16="http://schemas.microsoft.com/office/drawing/2014/main" id="{691211E7-F0A6-4D5E-893B-8FEBCFA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ML-Schätzung im lokalen Zensus-Wohnungsbestand</a:t>
            </a:r>
          </a:p>
        </p:txBody>
      </p:sp>
      <p:sp>
        <p:nvSpPr>
          <p:cNvPr id="14" name="accent-1">
            <a:extLst xmlns:a="http://schemas.openxmlformats.org/drawingml/2006/main">
              <a:ext uri="{FF2B5EF4-FFF2-40B4-BE49-F238E27FC236}">
                <a16:creationId xmlns:a16="http://schemas.microsoft.com/office/drawing/2014/main" id="{1242E35F-4239-4B8F-92D0-BFAF72C4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reality-label-1">
            <a:extLst xmlns:a="http://schemas.openxmlformats.org/drawingml/2006/main">
              <a:ext uri="{FF2B5EF4-FFF2-40B4-BE49-F238E27FC236}">
                <a16:creationId xmlns:a16="http://schemas.microsoft.com/office/drawing/2014/main" id="{1760BCF2-67ED-4182-BD7A-BB9C6D83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ANGEBOTSMARKT</a:t>
            </a:r>
          </a:p>
        </p:txBody>
      </p:sp>
      <p:sp>
        <p:nvSpPr>
          <p:cNvPr id="16" name="reality-stat-1">
            <a:extLst xmlns:a="http://schemas.openxmlformats.org/drawingml/2006/main">
              <a:ext uri="{FF2B5EF4-FFF2-40B4-BE49-F238E27FC236}">
                <a16:creationId xmlns:a16="http://schemas.microsoft.com/office/drawing/2014/main" id="{28ACE1E8-FC3F-452A-9096-9EA211AE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7" name="reality-body-1">
            <a:extLst xmlns:a="http://schemas.openxmlformats.org/drawingml/2006/main">
              <a:ext uri="{FF2B5EF4-FFF2-40B4-BE49-F238E27FC236}">
                <a16:creationId xmlns:a16="http://schemas.microsoft.com/office/drawing/2014/main" id="{E4F69F57-42E1-434E-9743-45EDE7E2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GREIX-Median plus Marktstreuung heutiger Inserate</a:t>
            </a:r>
          </a:p>
        </p:txBody>
      </p:sp>
      <p:sp>
        <p:nvSpPr>
          <p:cNvPr id="18" name="accent-2">
            <a:extLst xmlns:a="http://schemas.openxmlformats.org/drawingml/2006/main">
              <a:ext uri="{FF2B5EF4-FFF2-40B4-BE49-F238E27FC236}">
                <a16:creationId xmlns:a16="http://schemas.microsoft.com/office/drawing/2014/main" id="{609D948D-D3A1-4A59-AD8C-20504F75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reality-label-2">
            <a:extLst xmlns:a="http://schemas.openxmlformats.org/drawingml/2006/main">
              <a:ext uri="{FF2B5EF4-FFF2-40B4-BE49-F238E27FC236}">
                <a16:creationId xmlns:a16="http://schemas.microsoft.com/office/drawing/2014/main" id="{87AE13FF-99B5-465B-ADF0-1372DDDA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PERSÖNLICH</a:t>
            </a:r>
          </a:p>
        </p:txBody>
      </p:sp>
      <p:sp>
        <p:nvSpPr>
          <p:cNvPr id="20" name="reality-stat-2">
            <a:extLst xmlns:a="http://schemas.openxmlformats.org/drawingml/2006/main">
              <a:ext uri="{FF2B5EF4-FFF2-40B4-BE49-F238E27FC236}">
                <a16:creationId xmlns:a16="http://schemas.microsoft.com/office/drawing/2014/main" id="{E49F3B35-4F8F-4587-819B-681D03E7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Deine Miete</a:t>
            </a:r>
          </a:p>
        </p:txBody>
      </p:sp>
      <p:sp>
        <p:nvSpPr>
          <p:cNvPr id="21" name="reality-body-2">
            <a:extLst xmlns:a="http://schemas.openxmlformats.org/drawingml/2006/main">
              <a:ext uri="{FF2B5EF4-FFF2-40B4-BE49-F238E27FC236}">
                <a16:creationId xmlns:a16="http://schemas.microsoft.com/office/drawing/2014/main" id="{1D749FD9-2126-4183-8B50-8943098F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Vertragsmiete, Fläche und Haushaltsnettoeinkommen</a:t>
            </a:r>
          </a:p>
        </p:txBody>
      </p:sp>
      <p:sp>
        <p:nvSpPr>
          <p:cNvPr id="22" name="hook-band">
            <a:extLst xmlns:a="http://schemas.openxmlformats.org/drawingml/2006/main">
              <a:ext uri="{FF2B5EF4-FFF2-40B4-BE49-F238E27FC236}">
                <a16:creationId xmlns:a16="http://schemas.microsoft.com/office/drawing/2014/main" id="{68495040-5D02-4BA2-923C-006DC67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04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hook-copy">
            <a:extLst xmlns:a="http://schemas.openxmlformats.org/drawingml/2006/main">
              <a:ext uri="{FF2B5EF4-FFF2-40B4-BE49-F238E27FC236}">
                <a16:creationId xmlns:a16="http://schemas.microsoft.com/office/drawing/2014/main" id="{71BAF13C-DBC0-4963-973E-66F0EC08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057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USP: Der Umzugsaufschlag verbindet die drei Realitäten – mit Datenstand, Markt-IQR und Modellband.</a:t>
            </a:r>
          </a:p>
        </p:txBody>
      </p:sp>
    </p:spTree>
    <p:extLst>
      <p:ext uri="{BB962C8B-B14F-4D97-AF65-F5344CB8AC3E}">
        <p14:creationId xmlns:p14="http://schemas.microsoft.com/office/powerpoint/2010/main" val="8512704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er-3">
            <a:extLst xmlns:a="http://schemas.openxmlformats.org/drawingml/2006/main">
              <a:ext uri="{FF2B5EF4-FFF2-40B4-BE49-F238E27FC236}">
                <a16:creationId xmlns:a16="http://schemas.microsoft.com/office/drawing/2014/main" id="{3349ACC1-86AB-4260-802A-9D804214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3">
            <a:extLst xmlns:a="http://schemas.openxmlformats.org/drawingml/2006/main">
              <a:ext uri="{FF2B5EF4-FFF2-40B4-BE49-F238E27FC236}">
                <a16:creationId xmlns:a16="http://schemas.microsoft.com/office/drawing/2014/main" id="{43F911F0-300C-42A2-A31B-A9DB55A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3">
            <a:extLst xmlns:a="http://schemas.openxmlformats.org/drawingml/2006/main">
              <a:ext uri="{FF2B5EF4-FFF2-40B4-BE49-F238E27FC236}">
                <a16:creationId xmlns:a16="http://schemas.microsoft.com/office/drawing/2014/main" id="{F2C4DF9A-DA9A-4B44-ACC7-8E11DD0D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D926BDD7-3534-460D-AA46-41C45CE8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Der USP ist die Kombination – mit klaren Gates</a:t>
            </a:r>
          </a:p>
        </p:txBody>
      </p:sp>
      <p:sp>
        <p:nvSpPr>
          <p:cNvPr id="5" name="source-3">
            <a:extLst xmlns:a="http://schemas.openxmlformats.org/drawingml/2006/main">
              <a:ext uri="{FF2B5EF4-FFF2-40B4-BE49-F238E27FC236}">
                <a16:creationId xmlns:a16="http://schemas.microsoft.com/office/drawing/2014/main" id="{6D1E651A-8D24-4BDA-BAAE-7F7A733A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Q-Gates vor dem finalen Test: ≥2 Mio. Zeilen · ≥7 Kandidaten inkl. Baseline · Spatial Holdout · ≥15 % MAE-Gewinn.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48F37945-AAEE-4074-A7DA-6720A7AE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7" name="competitor-lead">
            <a:extLst xmlns:a="http://schemas.openxmlformats.org/drawingml/2006/main">
              <a:ext uri="{FF2B5EF4-FFF2-40B4-BE49-F238E27FC236}">
                <a16:creationId xmlns:a16="http://schemas.microsoft.com/office/drawing/2014/main" id="{93A2B095-BBFF-4A39-A18E-4C4F2A54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 geprüftes Angebot verbindet Bestand, aktuellen Markt, persönliche Belastung, Unsicherheit und offene ML-Methode.</a:t>
            </a:r>
          </a:p>
        </p:txBody>
      </p:sp>
      <p:graphicFrame>
        <p:nvGraphicFramePr>
          <p:cNvPr id="18" name="Tabelle 17"/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724150"/>
                <a:gridCol w="1333500"/>
                <a:gridCol w="1333500"/>
                <a:gridCol w="1485900"/>
                <a:gridCol w="1809750"/>
                <a:gridCol w="236220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Angebot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Bestand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aktuell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persönlich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Unsicherheit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offene ML-Methode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Destatis-Vergleich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Immowelt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Immolyze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unklar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nicht offen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Kommunale Mietspiegel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unterschiedlich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MietCheck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747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11">
            <a:extLst xmlns:a="http://schemas.openxmlformats.org/drawingml/2006/main">
              <a:ext uri="{FF2B5EF4-FFF2-40B4-BE49-F238E27FC236}">
                <a16:creationId xmlns:a16="http://schemas.microsoft.com/office/drawing/2014/main" id="{69C0D3BE-8666-42D8-A511-6D32A785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11">
            <a:extLst xmlns:a="http://schemas.openxmlformats.org/drawingml/2006/main">
              <a:ext uri="{FF2B5EF4-FFF2-40B4-BE49-F238E27FC236}">
                <a16:creationId xmlns:a16="http://schemas.microsoft.com/office/drawing/2014/main" id="{2241EBF9-3B9C-45FA-BF42-71FDB3E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11">
            <a:extLst xmlns:a="http://schemas.openxmlformats.org/drawingml/2006/main">
              <a:ext uri="{FF2B5EF4-FFF2-40B4-BE49-F238E27FC236}">
                <a16:creationId xmlns:a16="http://schemas.microsoft.com/office/drawing/2014/main" id="{4545EEF1-C021-4BA2-9408-E9F43FE8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11">
            <a:extLst xmlns:a="http://schemas.openxmlformats.org/drawingml/2006/main">
              <a:ext uri="{FF2B5EF4-FFF2-40B4-BE49-F238E27FC236}">
                <a16:creationId xmlns:a16="http://schemas.microsoft.com/office/drawing/2014/main" id="{6F7FA0BD-7285-4198-90B3-A6B9DEBF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Zielgruppen: Wer profitiert von MietCheck?</a:t>
            </a:r>
          </a:p>
        </p:txBody>
      </p:sp>
      <p:sp>
        <p:nvSpPr>
          <p:cNvPr id="5" name="source-11">
            <a:extLst xmlns:a="http://schemas.openxmlformats.org/drawingml/2006/main">
              <a:ext uri="{FF2B5EF4-FFF2-40B4-BE49-F238E27FC236}">
                <a16:creationId xmlns:a16="http://schemas.microsoft.com/office/drawing/2014/main" id="{960D00F3-3CAE-4A61-B148-62C5D45D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E79274EB-7947-41C3-8A02-3F03F433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7" name="limits-lead">
            <a:extLst xmlns:a="http://schemas.openxmlformats.org/drawingml/2006/main">
              <a:ext uri="{FF2B5EF4-FFF2-40B4-BE49-F238E27FC236}">
                <a16:creationId xmlns:a16="http://schemas.microsoft.com/office/drawing/2014/main" id="{A2974C9F-7C28-4462-8412-716EF76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Vier Zielgruppen, vier Entscheidungen – dieselben drei Mietrealitäten werden jeweils anders relevant.</a:t>
            </a:r>
          </a:p>
        </p:txBody>
      </p:sp>
      <p:cxnSp>
        <p:nvCxnSpPr>
          <p:cNvPr id="68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9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032A934B-C847-40C6-A537-458E8AE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Zielgruppe &amp; Entscheidung</a:t>
            </a:r>
          </a:p>
        </p:txBody>
      </p:sp>
      <p:sp>
        <p:nvSpPr>
          <p:cNvPr id="10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8BF5A322-F572-4231-8032-AE559B81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Konkreter Mehrwert</a:t>
            </a:r>
          </a:p>
        </p:txBody>
      </p:sp>
      <p:sp>
        <p:nvSpPr>
          <p:cNvPr id="11" name="limit-dot-0">
            <a:extLst xmlns:a="http://schemas.openxmlformats.org/drawingml/2006/main">
              <a:ext uri="{FF2B5EF4-FFF2-40B4-BE49-F238E27FC236}">
                <a16:creationId xmlns:a16="http://schemas.microsoft.com/office/drawing/2014/main" id="{DDD37B09-8035-4B89-B47E-734E779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4AC89F28-5CCE-4F3A-AA44-5D84CBE3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Bestandsmietende · Bleiben oder umziehen?</a:t>
            </a:r>
          </a:p>
        </p:txBody>
      </p:sp>
      <p:sp>
        <p:nvSpPr>
          <p:cNvPr id="13" name="mit-dot-0">
            <a:extLst xmlns:a="http://schemas.openxmlformats.org/drawingml/2006/main">
              <a:ext uri="{FF2B5EF4-FFF2-40B4-BE49-F238E27FC236}">
                <a16:creationId xmlns:a16="http://schemas.microsoft.com/office/drawing/2014/main" id="{E4713A01-42DB-4F73-AA07-658794D1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mit-copy-0">
            <a:extLst xmlns:a="http://schemas.openxmlformats.org/drawingml/2006/main">
              <a:ext uri="{FF2B5EF4-FFF2-40B4-BE49-F238E27FC236}">
                <a16:creationId xmlns:a16="http://schemas.microsoft.com/office/drawing/2014/main" id="{CBE6039B-582C-46A1-A37C-8BA5B2B8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Miete vs. Bestand vs. aktuelles Angebot</a:t>
            </a:r>
          </a:p>
        </p:txBody>
      </p:sp>
      <p:sp>
        <p:nvSpPr>
          <p:cNvPr id="15" name="limit-dot-1">
            <a:extLst xmlns:a="http://schemas.openxmlformats.org/drawingml/2006/main">
              <a:ext uri="{FF2B5EF4-FFF2-40B4-BE49-F238E27FC236}">
                <a16:creationId xmlns:a16="http://schemas.microsoft.com/office/drawing/2014/main" id="{735C978F-BD3A-4A2F-9F0A-51736733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D421D142-943C-4107-972A-97DC39AA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Wohnungssuchende · Welche Mehrkosten sind plausibel?</a:t>
            </a:r>
          </a:p>
        </p:txBody>
      </p:sp>
      <p:sp>
        <p:nvSpPr>
          <p:cNvPr id="17" name="mit-dot-1">
            <a:extLst xmlns:a="http://schemas.openxmlformats.org/drawingml/2006/main">
              <a:ext uri="{FF2B5EF4-FFF2-40B4-BE49-F238E27FC236}">
                <a16:creationId xmlns:a16="http://schemas.microsoft.com/office/drawing/2014/main" id="{67B7C1AB-9E09-4067-89BC-3ED8B760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mit-copy-1">
            <a:extLst xmlns:a="http://schemas.openxmlformats.org/drawingml/2006/main">
              <a:ext uri="{FF2B5EF4-FFF2-40B4-BE49-F238E27FC236}">
                <a16:creationId xmlns:a16="http://schemas.microsoft.com/office/drawing/2014/main" id="{F8644C7B-BF1E-48BC-B788-FD05FE1D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Umzugsaufschlag in €/m², Euro und Prozent</a:t>
            </a:r>
          </a:p>
        </p:txBody>
      </p:sp>
      <p:sp>
        <p:nvSpPr>
          <p:cNvPr id="19" name="limit-dot-2">
            <a:extLst xmlns:a="http://schemas.openxmlformats.org/drawingml/2006/main">
              <a:ext uri="{FF2B5EF4-FFF2-40B4-BE49-F238E27FC236}">
                <a16:creationId xmlns:a16="http://schemas.microsoft.com/office/drawing/2014/main" id="{B72C6549-DA74-4AA6-9F21-90E3D43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FD9A2864-D2E7-4D66-A7E6-A1733FD4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Studierende &amp; Berufseinsteigende · Wie belastet die Miete?</a:t>
            </a:r>
          </a:p>
        </p:txBody>
      </p:sp>
      <p:sp>
        <p:nvSpPr>
          <p:cNvPr id="21" name="mit-dot-2">
            <a:extLst xmlns:a="http://schemas.openxmlformats.org/drawingml/2006/main">
              <a:ext uri="{FF2B5EF4-FFF2-40B4-BE49-F238E27FC236}">
                <a16:creationId xmlns:a16="http://schemas.microsoft.com/office/drawing/2014/main" id="{DBB39BF6-D06F-4604-9961-5696EB5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mit-copy-2">
            <a:extLst xmlns:a="http://schemas.openxmlformats.org/drawingml/2006/main">
              <a:ext uri="{FF2B5EF4-FFF2-40B4-BE49-F238E27FC236}">
                <a16:creationId xmlns:a16="http://schemas.microsoft.com/office/drawing/2014/main" id="{DEA41A41-08DC-484A-B0EF-4580F664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Kaltmietanteil am Haushaltsnettoeinkommen</a:t>
            </a:r>
          </a:p>
        </p:txBody>
      </p:sp>
      <p:sp>
        <p:nvSpPr>
          <p:cNvPr id="23" name="limit-dot-3">
            <a:extLst xmlns:a="http://schemas.openxmlformats.org/drawingml/2006/main">
              <a:ext uri="{FF2B5EF4-FFF2-40B4-BE49-F238E27FC236}">
                <a16:creationId xmlns:a16="http://schemas.microsoft.com/office/drawing/2014/main" id="{E1065956-2E0E-4DBC-BD7C-899E8FCD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4AF22B09-425D-4468-B63E-058F57B6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Dateninteressierte · Wie unterscheiden sich Märkte?</a:t>
            </a:r>
          </a:p>
        </p:txBody>
      </p:sp>
      <p:sp>
        <p:nvSpPr>
          <p:cNvPr id="25" name="mit-dot-3">
            <a:extLst xmlns:a="http://schemas.openxmlformats.org/drawingml/2006/main">
              <a:ext uri="{FF2B5EF4-FFF2-40B4-BE49-F238E27FC236}">
                <a16:creationId xmlns:a16="http://schemas.microsoft.com/office/drawing/2014/main" id="{D1BA2AFD-3626-4EBE-AA4E-4B1BEF4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mit-copy-3">
            <a:extLst xmlns:a="http://schemas.openxmlformats.org/drawingml/2006/main">
              <a:ext uri="{FF2B5EF4-FFF2-40B4-BE49-F238E27FC236}">
                <a16:creationId xmlns:a16="http://schemas.microsoft.com/office/drawing/2014/main" id="{D17182A3-0D2D-4DF2-A106-4F150423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Zeitreihe, Markt-IQR, Methodik und Grenzen</a:t>
            </a:r>
          </a:p>
        </p:txBody>
      </p:sp>
      <p:sp>
        <p:nvSpPr>
          <p:cNvPr id="27" name="not-advice">
            <a:extLst xmlns:a="http://schemas.openxmlformats.org/drawingml/2006/main">
              <a:ext uri="{FF2B5EF4-FFF2-40B4-BE49-F238E27FC236}">
                <a16:creationId xmlns:a16="http://schemas.microsoft.com/office/drawing/2014/main" id="{D8247965-B413-4039-8BA9-83240F17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DD9BC2A2-4C9F-4C0A-B305-B70F79A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Entscheidungsunterstützung statt Scheingenauigkeit · persönliche Eingaben werden nicht gespeichert</a:t>
            </a:r>
          </a:p>
        </p:txBody>
      </p:sp>
    </p:spTree>
    <p:extLst>
      <p:ext uri="{BB962C8B-B14F-4D97-AF65-F5344CB8AC3E}">
        <p14:creationId xmlns:p14="http://schemas.microsoft.com/office/powerpoint/2010/main" val="5418921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header-4">
            <a:extLst xmlns:a="http://schemas.openxmlformats.org/drawingml/2006/main">
              <a:ext uri="{FF2B5EF4-FFF2-40B4-BE49-F238E27FC236}">
                <a16:creationId xmlns:a16="http://schemas.microsoft.com/office/drawing/2014/main" id="{FE2DFF40-1733-4D8F-BFFA-7CDFFE75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4">
            <a:extLst xmlns:a="http://schemas.openxmlformats.org/drawingml/2006/main">
              <a:ext uri="{FF2B5EF4-FFF2-40B4-BE49-F238E27FC236}">
                <a16:creationId xmlns:a16="http://schemas.microsoft.com/office/drawing/2014/main" id="{45B1232D-4AF4-4EB8-80EE-FE18AE03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4">
            <a:extLst xmlns:a="http://schemas.openxmlformats.org/drawingml/2006/main">
              <a:ext uri="{FF2B5EF4-FFF2-40B4-BE49-F238E27FC236}">
                <a16:creationId xmlns:a16="http://schemas.microsoft.com/office/drawing/2014/main" id="{6E886B2A-B946-49AB-BF05-FEF7E294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4">
            <a:extLst xmlns:a="http://schemas.openxmlformats.org/drawingml/2006/main">
              <a:ext uri="{FF2B5EF4-FFF2-40B4-BE49-F238E27FC236}">
                <a16:creationId xmlns:a16="http://schemas.microsoft.com/office/drawing/2014/main" id="{6A54FC6A-69C5-44E3-86AF-F350F72A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 · 2,06 Mio. Rasterwerte – mit prüfbarer Herkunft</a:t>
            </a:r>
          </a:p>
        </p:txBody>
      </p:sp>
      <p:sp>
        <p:nvSpPr>
          <p:cNvPr id="5" name="source-4">
            <a:extLst xmlns:a="http://schemas.openxmlformats.org/drawingml/2006/main">
              <a:ext uri="{FF2B5EF4-FFF2-40B4-BE49-F238E27FC236}">
                <a16:creationId xmlns:a16="http://schemas.microsoft.com/office/drawing/2014/main" id="{02A83C39-71E7-4AF8-820C-A1CEF46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Quellen: Statistische Ämter des Bundes und der Länder, Zensus 2022; Kiel Institut / VALUE; eigene Verarbeitung.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F869F740-D3B4-4B97-9CB7-34817E9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7" name="data-lead">
            <a:extLst xmlns:a="http://schemas.openxmlformats.org/drawingml/2006/main">
              <a:ext uri="{FF2B5EF4-FFF2-40B4-BE49-F238E27FC236}">
                <a16:creationId xmlns:a16="http://schemas.microsoft.com/office/drawing/2014/main" id="{B4271CAE-9283-43AA-90A6-AB4A3297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Sieben Zensusprodukte bilden die ML-Basis; GREIX bleibt zeitlich und methodisch getrennt.</a:t>
            </a:r>
          </a:p>
        </p:txBody>
      </p:sp>
      <p:sp>
        <p:nvSpPr>
          <p:cNvPr id="8" name="data-panel-0">
            <a:extLst xmlns:a="http://schemas.openxmlformats.org/drawingml/2006/main">
              <a:ext uri="{FF2B5EF4-FFF2-40B4-BE49-F238E27FC236}">
                <a16:creationId xmlns:a16="http://schemas.microsoft.com/office/drawing/2014/main" id="{1A7A264D-3017-4E57-A9D9-ED7AA06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data-stat-0">
            <a:extLst xmlns:a="http://schemas.openxmlformats.org/drawingml/2006/main">
              <a:ext uri="{FF2B5EF4-FFF2-40B4-BE49-F238E27FC236}">
                <a16:creationId xmlns:a16="http://schemas.microsoft.com/office/drawing/2014/main" id="{32587D6D-F09F-409E-9CA3-4E90B2EE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2,06 Mio.</a:t>
            </a:r>
          </a:p>
        </p:txBody>
      </p:sp>
      <p:sp>
        <p:nvSpPr>
          <p:cNvPr id="10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4A5682B2-8B7B-4D08-96C8-DD51B669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Modellzeilen</a:t>
            </a:r>
          </a:p>
        </p:txBody>
      </p:sp>
      <p:sp>
        <p:nvSpPr>
          <p:cNvPr id="11" name="data-detail-0">
            <a:extLst xmlns:a="http://schemas.openxmlformats.org/drawingml/2006/main">
              <a:ext uri="{FF2B5EF4-FFF2-40B4-BE49-F238E27FC236}">
                <a16:creationId xmlns:a16="http://schemas.microsoft.com/office/drawing/2014/main" id="{14D1CEDA-E73D-4630-9195-FA0745FD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Ziel × Baualter × Wohnungsgröße</a:t>
            </a:r>
          </a:p>
        </p:txBody>
      </p:sp>
      <p:sp>
        <p:nvSpPr>
          <p:cNvPr id="12" name="data-panel-1">
            <a:extLst xmlns:a="http://schemas.openxmlformats.org/drawingml/2006/main">
              <a:ext uri="{FF2B5EF4-FFF2-40B4-BE49-F238E27FC236}">
                <a16:creationId xmlns:a16="http://schemas.microsoft.com/office/drawing/2014/main" id="{F10AEE68-84F0-4365-9278-90327CB3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data-stat-1">
            <a:extLst xmlns:a="http://schemas.openxmlformats.org/drawingml/2006/main">
              <a:ext uri="{FF2B5EF4-FFF2-40B4-BE49-F238E27FC236}">
                <a16:creationId xmlns:a16="http://schemas.microsoft.com/office/drawing/2014/main" id="{A4A6871E-A7CB-4F82-81A4-A88742D1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1,18 Mio.</a:t>
            </a:r>
          </a:p>
        </p:txBody>
      </p:sp>
      <p:sp>
        <p:nvSpPr>
          <p:cNvPr id="14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3CF622A1-9CA1-4097-B131-8FBFA09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eindeutige Zellen</a:t>
            </a:r>
          </a:p>
        </p:txBody>
      </p:sp>
      <p:sp>
        <p:nvSpPr>
          <p:cNvPr id="15" name="data-detail-1">
            <a:extLst xmlns:a="http://schemas.openxmlformats.org/drawingml/2006/main">
              <a:ext uri="{FF2B5EF4-FFF2-40B4-BE49-F238E27FC236}">
                <a16:creationId xmlns:a16="http://schemas.microsoft.com/office/drawing/2014/main" id="{0FE048F3-49E8-4E3A-B46C-4BEC1355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100-m-Gitter mit räumlicher Struktur</a:t>
            </a:r>
          </a:p>
        </p:txBody>
      </p:sp>
      <p:sp>
        <p:nvSpPr>
          <p:cNvPr id="16" name="data-panel-2">
            <a:extLst xmlns:a="http://schemas.openxmlformats.org/drawingml/2006/main">
              <a:ext uri="{FF2B5EF4-FFF2-40B4-BE49-F238E27FC236}">
                <a16:creationId xmlns:a16="http://schemas.microsoft.com/office/drawing/2014/main" id="{BC04BDC7-A819-4F3B-93E9-3CF62223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data-stat-2">
            <a:extLst xmlns:a="http://schemas.openxmlformats.org/drawingml/2006/main">
              <a:ext uri="{FF2B5EF4-FFF2-40B4-BE49-F238E27FC236}">
                <a16:creationId xmlns:a16="http://schemas.microsoft.com/office/drawing/2014/main" id="{9CF2B0B9-261F-4B0E-B36B-F5B96D49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8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595E184D-7D4E-4DEC-B4F9-4D4FE44A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aktuelle Referenz</a:t>
            </a:r>
          </a:p>
        </p:txBody>
      </p:sp>
      <p:sp>
        <p:nvSpPr>
          <p:cNvPr id="19" name="data-detail-2">
            <a:extLst xmlns:a="http://schemas.openxmlformats.org/drawingml/2006/main">
              <a:ext uri="{FF2B5EF4-FFF2-40B4-BE49-F238E27FC236}">
                <a16:creationId xmlns:a16="http://schemas.microsoft.com/office/drawing/2014/main" id="{3260DD6A-99B4-49F8-8ABF-D7A90246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37 lokale Märkte + Deutschland</a:t>
            </a:r>
          </a:p>
        </p:txBody>
      </p:sp>
      <p:cxnSp>
        <p:nvCxnSpPr>
          <p:cNvPr id="124" name="provenance-line"/>
          <p:cNvCxnSpPr/>
          <p:nvPr/>
        </p:nvCxnSpPr>
        <p:spPr>
          <a:xfrm xmlns:a="http://schemas.openxmlformats.org/drawingml/2006/main">
            <a:off x="704850" y="5391150"/>
            <a:ext cx="10287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21" name="prov-1">
            <a:extLst xmlns:a="http://schemas.openxmlformats.org/drawingml/2006/main">
              <a:ext uri="{FF2B5EF4-FFF2-40B4-BE49-F238E27FC236}">
                <a16:creationId xmlns:a16="http://schemas.microsoft.com/office/drawing/2014/main" id="{566414B1-3C05-424B-99DC-3135B03C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offizielle URLs</a:t>
            </a:r>
          </a:p>
        </p:txBody>
      </p:sp>
      <p:sp>
        <p:nvSpPr>
          <p:cNvPr id="22" name="prov-2">
            <a:extLst xmlns:a="http://schemas.openxmlformats.org/drawingml/2006/main">
              <a:ext uri="{FF2B5EF4-FFF2-40B4-BE49-F238E27FC236}">
                <a16:creationId xmlns:a16="http://schemas.microsoft.com/office/drawing/2014/main" id="{A95C49A8-946A-4AA7-908C-82A7832F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SHA-256-Hashes</a:t>
            </a:r>
          </a:p>
        </p:txBody>
      </p:sp>
      <p:sp>
        <p:nvSpPr>
          <p:cNvPr id="23" name="prov-3">
            <a:extLst xmlns:a="http://schemas.openxmlformats.org/drawingml/2006/main">
              <a:ext uri="{FF2B5EF4-FFF2-40B4-BE49-F238E27FC236}">
                <a16:creationId xmlns:a16="http://schemas.microsoft.com/office/drawing/2014/main" id="{18C1085D-0815-4AAD-BE1A-24882167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Missingness &lt; 1 %</a:t>
            </a:r>
          </a:p>
        </p:txBody>
      </p:sp>
      <p:sp>
        <p:nvSpPr>
          <p:cNvPr id="24" name="prov-4">
            <a:extLst xmlns:a="http://schemas.openxmlformats.org/drawingml/2006/main">
              <a:ext uri="{FF2B5EF4-FFF2-40B4-BE49-F238E27FC236}">
                <a16:creationId xmlns:a16="http://schemas.microsoft.com/office/drawing/2014/main" id="{C40CFC0B-EF10-4FF2-B860-6686B186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reproduzierbarer Join</a:t>
            </a:r>
          </a:p>
        </p:txBody>
      </p:sp>
    </p:spTree>
    <p:extLst>
      <p:ext uri="{BB962C8B-B14F-4D97-AF65-F5344CB8AC3E}">
        <p14:creationId xmlns:p14="http://schemas.microsoft.com/office/powerpoint/2010/main" val="10109527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header-5">
            <a:extLst xmlns:a="http://schemas.openxmlformats.org/drawingml/2006/main">
              <a:ext uri="{FF2B5EF4-FFF2-40B4-BE49-F238E27FC236}">
                <a16:creationId xmlns:a16="http://schemas.microsoft.com/office/drawing/2014/main" id="{0982890D-C06F-4D1D-9BDF-2CB4C880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5">
            <a:extLst xmlns:a="http://schemas.openxmlformats.org/drawingml/2006/main">
              <a:ext uri="{FF2B5EF4-FFF2-40B4-BE49-F238E27FC236}">
                <a16:creationId xmlns:a16="http://schemas.microsoft.com/office/drawing/2014/main" id="{292AF08D-5ABF-4932-B5A6-AAC7FBE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5">
            <a:extLst xmlns:a="http://schemas.openxmlformats.org/drawingml/2006/main">
              <a:ext uri="{FF2B5EF4-FFF2-40B4-BE49-F238E27FC236}">
                <a16:creationId xmlns:a16="http://schemas.microsoft.com/office/drawing/2014/main" id="{CBDE695F-2DBD-4E72-8DD3-75E98CD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5">
            <a:extLst xmlns:a="http://schemas.openxmlformats.org/drawingml/2006/main">
              <a:ext uri="{FF2B5EF4-FFF2-40B4-BE49-F238E27FC236}">
                <a16:creationId xmlns:a16="http://schemas.microsoft.com/office/drawing/2014/main" id="{F9602C05-8B21-4CCA-B177-DFDD9828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 · StandardScaler: fit nur im Trainingsfold</a:t>
            </a:r>
          </a:p>
        </p:txBody>
      </p:sp>
      <p:sp>
        <p:nvSpPr>
          <p:cNvPr id="5" name="source-5">
            <a:extLst xmlns:a="http://schemas.openxmlformats.org/drawingml/2006/main">
              <a:ext uri="{FF2B5EF4-FFF2-40B4-BE49-F238E27FC236}">
                <a16:creationId xmlns:a16="http://schemas.microsoft.com/office/drawing/2014/main" id="{23A5CF72-0F63-43FA-8320-B3E7787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257CDD34-AE7C-4E6E-8511-91959DE9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7" name="qua-lead">
            <a:extLst xmlns:a="http://schemas.openxmlformats.org/drawingml/2006/main">
              <a:ext uri="{FF2B5EF4-FFF2-40B4-BE49-F238E27FC236}">
                <a16:creationId xmlns:a16="http://schemas.microsoft.com/office/drawing/2014/main" id="{119894A2-0B4E-45A3-B1FD-E4BAD4C2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Große Einheiten dürfen Ridge, SVM und MLP nicht dominieren – und der Scaler darf keine Testinformation sehen.</a:t>
            </a:r>
          </a:p>
        </p:txBody>
      </p:sp>
      <p:cxnSp>
        <p:nvCxnSpPr>
          <p:cNvPr id="78" name="qua-line"/>
          <p:cNvCxnSpPr/>
          <p:nvPr/>
        </p:nvCxnSpPr>
        <p:spPr>
          <a:xfrm xmlns:a="http://schemas.openxmlformats.org/drawingml/2006/main">
            <a:off x="819150" y="3105150"/>
            <a:ext cx="100012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qua-node-0">
            <a:extLst xmlns:a="http://schemas.openxmlformats.org/drawingml/2006/main">
              <a:ext uri="{FF2B5EF4-FFF2-40B4-BE49-F238E27FC236}">
                <a16:creationId xmlns:a16="http://schemas.microsoft.com/office/drawing/2014/main" id="{CCA637B2-C571-47AE-9FA1-5F46DE76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qua-code-0">
            <a:extLst xmlns:a="http://schemas.openxmlformats.org/drawingml/2006/main">
              <a:ext uri="{FF2B5EF4-FFF2-40B4-BE49-F238E27FC236}">
                <a16:creationId xmlns:a16="http://schemas.microsoft.com/office/drawing/2014/main" id="{386E887F-1A73-401C-8945-0A77703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RAW</a:t>
            </a:r>
          </a:p>
        </p:txBody>
      </p:sp>
      <p:sp>
        <p:nvSpPr>
          <p:cNvPr id="11" name="qua-title-0">
            <a:extLst xmlns:a="http://schemas.openxmlformats.org/drawingml/2006/main">
              <a:ext uri="{FF2B5EF4-FFF2-40B4-BE49-F238E27FC236}">
                <a16:creationId xmlns:a16="http://schemas.microsoft.com/office/drawing/2014/main" id="{E7DC3A47-9FF9-4A56-937E-4123E406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Rohdaten</a:t>
            </a:r>
          </a:p>
        </p:txBody>
      </p:sp>
      <p:sp>
        <p:nvSpPr>
          <p:cNvPr id="12" name="qua-body-0">
            <a:extLst xmlns:a="http://schemas.openxmlformats.org/drawingml/2006/main">
              <a:ext uri="{FF2B5EF4-FFF2-40B4-BE49-F238E27FC236}">
                <a16:creationId xmlns:a16="http://schemas.microsoft.com/office/drawing/2014/main" id="{24A5C344-F5B0-4C0D-8C6A-5F95E43E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Meter, Anzahl,
Prozent</a:t>
            </a:r>
          </a:p>
        </p:txBody>
      </p:sp>
      <p:sp>
        <p:nvSpPr>
          <p:cNvPr id="13" name="qua-node-1">
            <a:extLst xmlns:a="http://schemas.openxmlformats.org/drawingml/2006/main">
              <a:ext uri="{FF2B5EF4-FFF2-40B4-BE49-F238E27FC236}">
                <a16:creationId xmlns:a16="http://schemas.microsoft.com/office/drawing/2014/main" id="{83265EE9-2C6C-4EF5-AF65-9D05F0CC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qua-code-1">
            <a:extLst xmlns:a="http://schemas.openxmlformats.org/drawingml/2006/main">
              <a:ext uri="{FF2B5EF4-FFF2-40B4-BE49-F238E27FC236}">
                <a16:creationId xmlns:a16="http://schemas.microsoft.com/office/drawing/2014/main" id="{42C9F2BC-6922-499E-A9D2-A54B0308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</a:t>
            </a:r>
          </a:p>
        </p:txBody>
      </p:sp>
      <p:sp>
        <p:nvSpPr>
          <p:cNvPr id="15" name="qua-title-1">
            <a:extLst xmlns:a="http://schemas.openxmlformats.org/drawingml/2006/main">
              <a:ext uri="{FF2B5EF4-FFF2-40B4-BE49-F238E27FC236}">
                <a16:creationId xmlns:a16="http://schemas.microsoft.com/office/drawing/2014/main" id="{B032892B-D912-45FF-A3E5-170EADC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Imputation</a:t>
            </a:r>
          </a:p>
        </p:txBody>
      </p:sp>
      <p:sp>
        <p:nvSpPr>
          <p:cNvPr id="16" name="qua-body-1">
            <a:extLst xmlns:a="http://schemas.openxmlformats.org/drawingml/2006/main">
              <a:ext uri="{FF2B5EF4-FFF2-40B4-BE49-F238E27FC236}">
                <a16:creationId xmlns:a16="http://schemas.microsoft.com/office/drawing/2014/main" id="{626CD865-394D-4751-AD8D-EBE13C6B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Median nur im
Trainingsfold</a:t>
            </a:r>
          </a:p>
        </p:txBody>
      </p:sp>
      <p:sp>
        <p:nvSpPr>
          <p:cNvPr id="17" name="qua-node-2">
            <a:extLst xmlns:a="http://schemas.openxmlformats.org/drawingml/2006/main">
              <a:ext uri="{FF2B5EF4-FFF2-40B4-BE49-F238E27FC236}">
                <a16:creationId xmlns:a16="http://schemas.microsoft.com/office/drawing/2014/main" id="{9D292083-C59F-4B94-ACF0-4BD043D1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qua-code-2">
            <a:extLst xmlns:a="http://schemas.openxmlformats.org/drawingml/2006/main">
              <a:ext uri="{FF2B5EF4-FFF2-40B4-BE49-F238E27FC236}">
                <a16:creationId xmlns:a16="http://schemas.microsoft.com/office/drawing/2014/main" id="{E8F386BA-267D-4CC6-804C-013F0307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FIT</a:t>
            </a:r>
          </a:p>
        </p:txBody>
      </p:sp>
      <p:sp>
        <p:nvSpPr>
          <p:cNvPr id="19" name="qua-title-2">
            <a:extLst xmlns:a="http://schemas.openxmlformats.org/drawingml/2006/main">
              <a:ext uri="{FF2B5EF4-FFF2-40B4-BE49-F238E27FC236}">
                <a16:creationId xmlns:a16="http://schemas.microsoft.com/office/drawing/2014/main" id="{69AD4DC1-3330-4778-8F2B-21D382EF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Scaler fit</a:t>
            </a:r>
          </a:p>
        </p:txBody>
      </p:sp>
      <p:sp>
        <p:nvSpPr>
          <p:cNvPr id="20" name="qua-body-2">
            <a:extLst xmlns:a="http://schemas.openxmlformats.org/drawingml/2006/main">
              <a:ext uri="{FF2B5EF4-FFF2-40B4-BE49-F238E27FC236}">
                <a16:creationId xmlns:a16="http://schemas.microsoft.com/office/drawing/2014/main" id="{A6AEB6BC-6A4D-411B-9225-ADD3467D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μtrain und
σtrain</a:t>
            </a:r>
          </a:p>
        </p:txBody>
      </p:sp>
      <p:sp>
        <p:nvSpPr>
          <p:cNvPr id="21" name="qua-node-3">
            <a:extLst xmlns:a="http://schemas.openxmlformats.org/drawingml/2006/main">
              <a:ext uri="{FF2B5EF4-FFF2-40B4-BE49-F238E27FC236}">
                <a16:creationId xmlns:a16="http://schemas.microsoft.com/office/drawing/2014/main" id="{B6F042AD-C67E-4ED8-BE66-58CF9052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qua-code-3">
            <a:extLst xmlns:a="http://schemas.openxmlformats.org/drawingml/2006/main">
              <a:ext uri="{FF2B5EF4-FFF2-40B4-BE49-F238E27FC236}">
                <a16:creationId xmlns:a16="http://schemas.microsoft.com/office/drawing/2014/main" id="{F8113B7F-41C8-4441-A486-1F1E139F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z</a:t>
            </a:r>
          </a:p>
        </p:txBody>
      </p:sp>
      <p:sp>
        <p:nvSpPr>
          <p:cNvPr id="23" name="qua-title-3">
            <a:extLst xmlns:a="http://schemas.openxmlformats.org/drawingml/2006/main">
              <a:ext uri="{FF2B5EF4-FFF2-40B4-BE49-F238E27FC236}">
                <a16:creationId xmlns:a16="http://schemas.microsoft.com/office/drawing/2014/main" id="{7ADA6DC2-FCAC-46D4-AA40-F64FF01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Skalierung</a:t>
            </a:r>
          </a:p>
        </p:txBody>
      </p:sp>
      <p:sp>
        <p:nvSpPr>
          <p:cNvPr id="24" name="qua-body-3">
            <a:extLst xmlns:a="http://schemas.openxmlformats.org/drawingml/2006/main">
              <a:ext uri="{FF2B5EF4-FFF2-40B4-BE49-F238E27FC236}">
                <a16:creationId xmlns:a16="http://schemas.microsoft.com/office/drawing/2014/main" id="{C1D2488C-2701-4595-BE73-43CDC6C3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 = (x−μ) / σ</a:t>
            </a:r>
          </a:p>
        </p:txBody>
      </p:sp>
      <p:sp>
        <p:nvSpPr>
          <p:cNvPr id="25" name="qua-node-4">
            <a:extLst xmlns:a="http://schemas.openxmlformats.org/drawingml/2006/main">
              <a:ext uri="{FF2B5EF4-FFF2-40B4-BE49-F238E27FC236}">
                <a16:creationId xmlns:a16="http://schemas.microsoft.com/office/drawing/2014/main" id="{4D0CE753-FC3D-4F0C-8600-F18BC022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qua-code-4">
            <a:extLst xmlns:a="http://schemas.openxmlformats.org/drawingml/2006/main">
              <a:ext uri="{FF2B5EF4-FFF2-40B4-BE49-F238E27FC236}">
                <a16:creationId xmlns:a16="http://schemas.microsoft.com/office/drawing/2014/main" id="{E683A53B-007D-462E-AC3E-DEE2EE01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≈0</a:t>
            </a:r>
          </a:p>
        </p:txBody>
      </p:sp>
      <p:sp>
        <p:nvSpPr>
          <p:cNvPr id="27" name="qua-title-4">
            <a:extLst xmlns:a="http://schemas.openxmlformats.org/drawingml/2006/main">
              <a:ext uri="{FF2B5EF4-FFF2-40B4-BE49-F238E27FC236}">
                <a16:creationId xmlns:a16="http://schemas.microsoft.com/office/drawing/2014/main" id="{38F3DB8E-4363-4379-B1CB-4E4E4341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Mittelwert</a:t>
            </a:r>
          </a:p>
        </p:txBody>
      </p:sp>
      <p:sp>
        <p:nvSpPr>
          <p:cNvPr id="28" name="qua-body-4">
            <a:extLst xmlns:a="http://schemas.openxmlformats.org/drawingml/2006/main">
              <a:ext uri="{FF2B5EF4-FFF2-40B4-BE49-F238E27FC236}">
                <a16:creationId xmlns:a16="http://schemas.microsoft.com/office/drawing/2014/main" id="{224AE07F-B093-490E-A948-39DB0E1B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skalierte Features
um 0</a:t>
            </a:r>
          </a:p>
        </p:txBody>
      </p:sp>
      <p:sp>
        <p:nvSpPr>
          <p:cNvPr id="29" name="qua-node-5">
            <a:extLst xmlns:a="http://schemas.openxmlformats.org/drawingml/2006/main">
              <a:ext uri="{FF2B5EF4-FFF2-40B4-BE49-F238E27FC236}">
                <a16:creationId xmlns:a16="http://schemas.microsoft.com/office/drawing/2014/main" id="{270C27A3-C902-4AFD-AAC2-5BDFEC1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qua-code-5">
            <a:extLst xmlns:a="http://schemas.openxmlformats.org/drawingml/2006/main">
              <a:ext uri="{FF2B5EF4-FFF2-40B4-BE49-F238E27FC236}">
                <a16:creationId xmlns:a16="http://schemas.microsoft.com/office/drawing/2014/main" id="{FCC4EF4A-8512-48A3-8831-9E061E81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≈1</a:t>
            </a:r>
          </a:p>
        </p:txBody>
      </p:sp>
      <p:sp>
        <p:nvSpPr>
          <p:cNvPr id="31" name="qua-title-5">
            <a:extLst xmlns:a="http://schemas.openxmlformats.org/drawingml/2006/main">
              <a:ext uri="{FF2B5EF4-FFF2-40B4-BE49-F238E27FC236}">
                <a16:creationId xmlns:a16="http://schemas.microsoft.com/office/drawing/2014/main" id="{36C77C3F-FA64-4A9B-9F9B-FFDC7A47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Streuung</a:t>
            </a:r>
          </a:p>
        </p:txBody>
      </p:sp>
      <p:sp>
        <p:nvSpPr>
          <p:cNvPr id="32" name="qua-body-5">
            <a:extLst xmlns:a="http://schemas.openxmlformats.org/drawingml/2006/main">
              <a:ext uri="{FF2B5EF4-FFF2-40B4-BE49-F238E27FC236}">
                <a16:creationId xmlns:a16="http://schemas.microsoft.com/office/drawing/2014/main" id="{4B36DA70-1D7C-4624-AE0C-2892880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Standardabw.
um 1</a:t>
            </a:r>
          </a:p>
        </p:txBody>
      </p:sp>
      <p:sp>
        <p:nvSpPr>
          <p:cNvPr id="33" name="qua-node-6">
            <a:extLst xmlns:a="http://schemas.openxmlformats.org/drawingml/2006/main">
              <a:ext uri="{FF2B5EF4-FFF2-40B4-BE49-F238E27FC236}">
                <a16:creationId xmlns:a16="http://schemas.microsoft.com/office/drawing/2014/main" id="{B9AD47CB-300D-4477-B3AF-1F1C605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qua-code-6">
            <a:extLst xmlns:a="http://schemas.openxmlformats.org/drawingml/2006/main">
              <a:ext uri="{FF2B5EF4-FFF2-40B4-BE49-F238E27FC236}">
                <a16:creationId xmlns:a16="http://schemas.microsoft.com/office/drawing/2014/main" id="{38370EE2-D8F6-4F77-B860-D5C69DA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HGB</a:t>
            </a:r>
          </a:p>
        </p:txBody>
      </p:sp>
      <p:sp>
        <p:nvSpPr>
          <p:cNvPr id="35" name="qua-title-6">
            <a:extLst xmlns:a="http://schemas.openxmlformats.org/drawingml/2006/main">
              <a:ext uri="{FF2B5EF4-FFF2-40B4-BE49-F238E27FC236}">
                <a16:creationId xmlns:a16="http://schemas.microsoft.com/office/drawing/2014/main" id="{431DEE9C-2598-4628-9CF7-2B9455C7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Ausnahme</a:t>
            </a:r>
          </a:p>
        </p:txBody>
      </p:sp>
      <p:sp>
        <p:nvSpPr>
          <p:cNvPr id="36" name="qua-body-6">
            <a:extLst xmlns:a="http://schemas.openxmlformats.org/drawingml/2006/main">
              <a:ext uri="{FF2B5EF4-FFF2-40B4-BE49-F238E27FC236}">
                <a16:creationId xmlns:a16="http://schemas.microsoft.com/office/drawing/2014/main" id="{F46B16DE-5F66-4D44-8247-94C25B9D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Bäume brauchen
keinen Scaler</a:t>
            </a:r>
          </a:p>
        </p:txBody>
      </p:sp>
      <p:sp>
        <p:nvSpPr>
          <p:cNvPr id="37" name="qua-proof">
            <a:extLst xmlns:a="http://schemas.openxmlformats.org/drawingml/2006/main">
              <a:ext uri="{FF2B5EF4-FFF2-40B4-BE49-F238E27FC236}">
                <a16:creationId xmlns:a16="http://schemas.microsoft.com/office/drawing/2014/main" id="{79C01114-5798-4A12-A02C-0B4D3007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qua-proof-text">
            <a:extLst xmlns:a="http://schemas.openxmlformats.org/drawingml/2006/main">
              <a:ext uri="{FF2B5EF4-FFF2-40B4-BE49-F238E27FC236}">
                <a16:creationId xmlns:a16="http://schemas.microsoft.com/office/drawing/2014/main" id="{BCC6D296-7FE5-4A6A-B02E-6CF0F2B1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8801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Pipeline: Imputer → StandardScaler → Ridge / LinearSVR / RBF-SVR / MLP · kein Leakage</a:t>
            </a:r>
          </a:p>
        </p:txBody>
      </p:sp>
    </p:spTree>
    <p:extLst>
      <p:ext uri="{BB962C8B-B14F-4D97-AF65-F5344CB8AC3E}">
        <p14:creationId xmlns:p14="http://schemas.microsoft.com/office/powerpoint/2010/main" val="11237052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6">
            <a:extLst xmlns:a="http://schemas.openxmlformats.org/drawingml/2006/main">
              <a:ext uri="{FF2B5EF4-FFF2-40B4-BE49-F238E27FC236}">
                <a16:creationId xmlns:a16="http://schemas.microsoft.com/office/drawing/2014/main" id="{0201AF3F-D560-434C-B5E1-22BF718D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6">
            <a:extLst xmlns:a="http://schemas.openxmlformats.org/drawingml/2006/main">
              <a:ext uri="{FF2B5EF4-FFF2-40B4-BE49-F238E27FC236}">
                <a16:creationId xmlns:a16="http://schemas.microsoft.com/office/drawing/2014/main" id="{CBDCB447-4CC3-4C6C-8CAB-DF21C980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6">
            <a:extLst xmlns:a="http://schemas.openxmlformats.org/drawingml/2006/main">
              <a:ext uri="{FF2B5EF4-FFF2-40B4-BE49-F238E27FC236}">
                <a16:creationId xmlns:a16="http://schemas.microsoft.com/office/drawing/2014/main" id="{8F3C3909-1F9E-49BE-A431-2F4553A8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6">
            <a:extLst xmlns:a="http://schemas.openxmlformats.org/drawingml/2006/main">
              <a:ext uri="{FF2B5EF4-FFF2-40B4-BE49-F238E27FC236}">
                <a16:creationId xmlns:a16="http://schemas.microsoft.com/office/drawing/2014/main" id="{3DDA1986-F268-47C3-8586-BB7BE1AB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 · Räumliche Blöcke verhindern Daten-Leakage</a:t>
            </a:r>
          </a:p>
        </p:txBody>
      </p:sp>
      <p:sp>
        <p:nvSpPr>
          <p:cNvPr id="5" name="source-6">
            <a:extLst xmlns:a="http://schemas.openxmlformats.org/drawingml/2006/main">
              <a:ext uri="{FF2B5EF4-FFF2-40B4-BE49-F238E27FC236}">
                <a16:creationId xmlns:a16="http://schemas.microsoft.com/office/drawing/2014/main" id="{1E6449F9-59C4-4B5A-AC95-A6CB5FD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777CDC41-6C7C-4BA3-AD0E-F3625389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7" name="spatial-lead">
            <a:extLst xmlns:a="http://schemas.openxmlformats.org/drawingml/2006/main">
              <a:ext uri="{FF2B5EF4-FFF2-40B4-BE49-F238E27FC236}">
                <a16:creationId xmlns:a16="http://schemas.microsoft.com/office/drawing/2014/main" id="{213AF970-1361-40B0-A0B4-8138761E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Benachbarte 100-m-Zellen sind ähnlich: MietCheck trennt deshalb ganze 25-km-Räume.</a:t>
            </a:r>
          </a:p>
        </p:txBody>
      </p:sp>
      <p:cxnSp>
        <p:nvCxnSpPr>
          <p:cNvPr id="68" name="spatial-connector"/>
          <p:cNvCxnSpPr/>
          <p:nvPr/>
        </p:nvCxnSpPr>
        <p:spPr>
          <a:xfrm xmlns:a="http://schemas.openxmlformats.org/drawingml/2006/main">
            <a:off x="2266950" y="3867150"/>
            <a:ext cx="7658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spatial-panel-0">
            <a:extLst xmlns:a="http://schemas.openxmlformats.org/drawingml/2006/main">
              <a:ext uri="{FF2B5EF4-FFF2-40B4-BE49-F238E27FC236}">
                <a16:creationId xmlns:a16="http://schemas.microsoft.com/office/drawing/2014/main" id="{DCB50187-0190-4652-BA6D-76E3B6FD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patial-bar-0">
            <a:extLst xmlns:a="http://schemas.openxmlformats.org/drawingml/2006/main">
              <a:ext uri="{FF2B5EF4-FFF2-40B4-BE49-F238E27FC236}">
                <a16:creationId xmlns:a16="http://schemas.microsoft.com/office/drawing/2014/main" id="{1081FAAC-6AAA-41F9-996F-093250EE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patial-title-0">
            <a:extLst xmlns:a="http://schemas.openxmlformats.org/drawingml/2006/main">
              <a:ext uri="{FF2B5EF4-FFF2-40B4-BE49-F238E27FC236}">
                <a16:creationId xmlns:a16="http://schemas.microsoft.com/office/drawing/2014/main" id="{67BF5BF0-395A-44A8-8587-A5F6C2FF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Entwicklung</a:t>
            </a:r>
          </a:p>
        </p:txBody>
      </p:sp>
      <p:sp>
        <p:nvSpPr>
          <p:cNvPr id="12" name="spatial-rows-0">
            <a:extLst xmlns:a="http://schemas.openxmlformats.org/drawingml/2006/main">
              <a:ext uri="{FF2B5EF4-FFF2-40B4-BE49-F238E27FC236}">
                <a16:creationId xmlns:a16="http://schemas.microsoft.com/office/drawing/2014/main" id="{2C2287B0-50FA-4531-9371-1B0FB9B1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1.518.322</a:t>
            </a:r>
          </a:p>
        </p:txBody>
      </p:sp>
      <p:sp>
        <p:nvSpPr>
          <p:cNvPr id="13" name="spatial-blocks-0">
            <a:extLst xmlns:a="http://schemas.openxmlformats.org/drawingml/2006/main">
              <a:ext uri="{FF2B5EF4-FFF2-40B4-BE49-F238E27FC236}">
                <a16:creationId xmlns:a16="http://schemas.microsoft.com/office/drawing/2014/main" id="{FE5339B7-BD13-4B02-B461-B393DAC1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465 Raumblöcke</a:t>
            </a:r>
          </a:p>
        </p:txBody>
      </p:sp>
      <p:sp>
        <p:nvSpPr>
          <p:cNvPr id="14" name="spatial-body-0">
            <a:extLst xmlns:a="http://schemas.openxmlformats.org/drawingml/2006/main">
              <a:ext uri="{FF2B5EF4-FFF2-40B4-BE49-F238E27FC236}">
                <a16:creationId xmlns:a16="http://schemas.microsoft.com/office/drawing/2014/main" id="{2C76E826-F38F-4390-86A8-2916B97F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A¹ Auswahl, A² Features und A³ Tuning</a:t>
            </a:r>
          </a:p>
        </p:txBody>
      </p:sp>
      <p:sp>
        <p:nvSpPr>
          <p:cNvPr id="15" name="spatial-panel-1">
            <a:extLst xmlns:a="http://schemas.openxmlformats.org/drawingml/2006/main">
              <a:ext uri="{FF2B5EF4-FFF2-40B4-BE49-F238E27FC236}">
                <a16:creationId xmlns:a16="http://schemas.microsoft.com/office/drawing/2014/main" id="{9C02D8D4-A6E5-4866-AD69-2663679E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patial-bar-1">
            <a:extLst xmlns:a="http://schemas.openxmlformats.org/drawingml/2006/main">
              <a:ext uri="{FF2B5EF4-FFF2-40B4-BE49-F238E27FC236}">
                <a16:creationId xmlns:a16="http://schemas.microsoft.com/office/drawing/2014/main" id="{FCD9105A-E7EE-44AF-93E9-2D7CAE93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patial-title-1">
            <a:extLst xmlns:a="http://schemas.openxmlformats.org/drawingml/2006/main">
              <a:ext uri="{FF2B5EF4-FFF2-40B4-BE49-F238E27FC236}">
                <a16:creationId xmlns:a16="http://schemas.microsoft.com/office/drawing/2014/main" id="{6AC30D47-9034-49E0-940D-C67EB125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Kalibrierung</a:t>
            </a:r>
          </a:p>
        </p:txBody>
      </p:sp>
      <p:sp>
        <p:nvSpPr>
          <p:cNvPr id="18" name="spatial-rows-1">
            <a:extLst xmlns:a="http://schemas.openxmlformats.org/drawingml/2006/main">
              <a:ext uri="{FF2B5EF4-FFF2-40B4-BE49-F238E27FC236}">
                <a16:creationId xmlns:a16="http://schemas.microsoft.com/office/drawing/2014/main" id="{48F0DAA8-F354-41E6-8A71-B1F4516D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263.789</a:t>
            </a:r>
          </a:p>
        </p:txBody>
      </p:sp>
      <p:sp>
        <p:nvSpPr>
          <p:cNvPr id="19" name="spatial-blocks-1">
            <a:extLst xmlns:a="http://schemas.openxmlformats.org/drawingml/2006/main">
              <a:ext uri="{FF2B5EF4-FFF2-40B4-BE49-F238E27FC236}">
                <a16:creationId xmlns:a16="http://schemas.microsoft.com/office/drawing/2014/main" id="{13713357-3205-4BD2-B48F-8C944BCC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0" name="spatial-body-1">
            <a:extLst xmlns:a="http://schemas.openxmlformats.org/drawingml/2006/main">
              <a:ext uri="{FF2B5EF4-FFF2-40B4-BE49-F238E27FC236}">
                <a16:creationId xmlns:a16="http://schemas.microsoft.com/office/drawing/2014/main" id="{1569CEF8-E865-4749-A9C7-E5CE015E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nur für conformale Modellbänder</a:t>
            </a:r>
          </a:p>
        </p:txBody>
      </p:sp>
      <p:sp>
        <p:nvSpPr>
          <p:cNvPr id="21" name="spatial-panel-2">
            <a:extLst xmlns:a="http://schemas.openxmlformats.org/drawingml/2006/main">
              <a:ext uri="{FF2B5EF4-FFF2-40B4-BE49-F238E27FC236}">
                <a16:creationId xmlns:a16="http://schemas.microsoft.com/office/drawing/2014/main" id="{FF77BA2D-8132-4C64-8BE8-6B53A665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patial-bar-2">
            <a:extLst xmlns:a="http://schemas.openxmlformats.org/drawingml/2006/main">
              <a:ext uri="{FF2B5EF4-FFF2-40B4-BE49-F238E27FC236}">
                <a16:creationId xmlns:a16="http://schemas.microsoft.com/office/drawing/2014/main" id="{2C676B79-32DD-458F-B6EC-514D4B38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patial-title-2">
            <a:extLst xmlns:a="http://schemas.openxmlformats.org/drawingml/2006/main">
              <a:ext uri="{FF2B5EF4-FFF2-40B4-BE49-F238E27FC236}">
                <a16:creationId xmlns:a16="http://schemas.microsoft.com/office/drawing/2014/main" id="{729C706C-3A98-45E9-A9A1-46605B04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Finaler Test</a:t>
            </a:r>
          </a:p>
        </p:txBody>
      </p:sp>
      <p:sp>
        <p:nvSpPr>
          <p:cNvPr id="24" name="spatial-rows-2">
            <a:extLst xmlns:a="http://schemas.openxmlformats.org/drawingml/2006/main">
              <a:ext uri="{FF2B5EF4-FFF2-40B4-BE49-F238E27FC236}">
                <a16:creationId xmlns:a16="http://schemas.microsoft.com/office/drawing/2014/main" id="{67152874-8548-4E21-8C7B-DE48C86B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276.458</a:t>
            </a:r>
          </a:p>
        </p:txBody>
      </p:sp>
      <p:sp>
        <p:nvSpPr>
          <p:cNvPr id="25" name="spatial-blocks-2">
            <a:extLst xmlns:a="http://schemas.openxmlformats.org/drawingml/2006/main">
              <a:ext uri="{FF2B5EF4-FFF2-40B4-BE49-F238E27FC236}">
                <a16:creationId xmlns:a16="http://schemas.microsoft.com/office/drawing/2014/main" id="{04422683-002C-4877-9D27-0FF3D0C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6" name="spatial-body-2">
            <a:extLst xmlns:a="http://schemas.openxmlformats.org/drawingml/2006/main">
              <a:ext uri="{FF2B5EF4-FFF2-40B4-BE49-F238E27FC236}">
                <a16:creationId xmlns:a16="http://schemas.microsoft.com/office/drawing/2014/main" id="{F5D1CF9B-6E5E-4137-86D1-BF94BE77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genau einmal für C ausgewertet</a:t>
            </a:r>
          </a:p>
        </p:txBody>
      </p:sp>
      <p:sp>
        <p:nvSpPr>
          <p:cNvPr id="27" name="zero-overlap">
            <a:extLst xmlns:a="http://schemas.openxmlformats.org/drawingml/2006/main">
              <a:ext uri="{FF2B5EF4-FFF2-40B4-BE49-F238E27FC236}">
                <a16:creationId xmlns:a16="http://schemas.microsoft.com/office/drawing/2014/main" id="{CD6B495C-95A3-4DAA-8BDB-AB29D353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6197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zero-overlap-text">
            <a:extLst xmlns:a="http://schemas.openxmlformats.org/drawingml/2006/main">
              <a:ext uri="{FF2B5EF4-FFF2-40B4-BE49-F238E27FC236}">
                <a16:creationId xmlns:a16="http://schemas.microsoft.com/office/drawing/2014/main" id="{B224B00C-1173-4B29-B66B-EB2B77A8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5638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0 gemeinsame 25-km-Blöcke zwischen den drei Teilmengen</a:t>
            </a:r>
          </a:p>
        </p:txBody>
      </p:sp>
    </p:spTree>
    <p:extLst>
      <p:ext uri="{BB962C8B-B14F-4D97-AF65-F5344CB8AC3E}">
        <p14:creationId xmlns:p14="http://schemas.microsoft.com/office/powerpoint/2010/main" val="19470863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7">
            <a:extLst xmlns:a="http://schemas.openxmlformats.org/drawingml/2006/main">
              <a:ext uri="{FF2B5EF4-FFF2-40B4-BE49-F238E27FC236}">
                <a16:creationId xmlns:a16="http://schemas.microsoft.com/office/drawing/2014/main" id="{A2EF4C0C-351A-415D-BBF0-F68FE628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7">
            <a:extLst xmlns:a="http://schemas.openxmlformats.org/drawingml/2006/main">
              <a:ext uri="{FF2B5EF4-FFF2-40B4-BE49-F238E27FC236}">
                <a16:creationId xmlns:a16="http://schemas.microsoft.com/office/drawing/2014/main" id="{D9811E14-6FCB-4A5A-8D85-95995D7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7">
            <a:extLst xmlns:a="http://schemas.openxmlformats.org/drawingml/2006/main">
              <a:ext uri="{FF2B5EF4-FFF2-40B4-BE49-F238E27FC236}">
                <a16:creationId xmlns:a16="http://schemas.microsoft.com/office/drawing/2014/main" id="{5132B435-1949-48CF-BEFC-28A89C7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7">
            <a:extLst xmlns:a="http://schemas.openxmlformats.org/drawingml/2006/main">
              <a:ext uri="{FF2B5EF4-FFF2-40B4-BE49-F238E27FC236}">
                <a16:creationId xmlns:a16="http://schemas.microsoft.com/office/drawing/2014/main" id="{331EC3CF-0C9C-41F6-927B-B760D098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A¹ · Sieben Kandidaten auf identischen Spatial Folds</a:t>
            </a:r>
          </a:p>
        </p:txBody>
      </p:sp>
      <p:sp>
        <p:nvSpPr>
          <p:cNvPr id="5" name="source-7">
            <a:extLst xmlns:a="http://schemas.openxmlformats.org/drawingml/2006/main">
              <a:ext uri="{FF2B5EF4-FFF2-40B4-BE49-F238E27FC236}">
                <a16:creationId xmlns:a16="http://schemas.microsoft.com/office/drawing/2014/main" id="{C844D5A3-8CD2-4757-9DD4-A52A6A1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600.000 Zeilen · 3-Fold GroupKFold · gleicher Sample/gleiche Raumblöcke · reports/algorithm_benchmark.json.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E16D482B-C207-4EA4-991D-82C3EAAA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7" name="benchmark-callout-one">
            <a:extLst xmlns:a="http://schemas.openxmlformats.org/drawingml/2006/main">
              <a:ext uri="{FF2B5EF4-FFF2-40B4-BE49-F238E27FC236}">
                <a16:creationId xmlns:a16="http://schemas.microsoft.com/office/drawing/2014/main" id="{30138196-B0BC-49E9-AB97-6D06F0BE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716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benchmark-callout-one-title">
            <a:extLst xmlns:a="http://schemas.openxmlformats.org/drawingml/2006/main">
              <a:ext uri="{FF2B5EF4-FFF2-40B4-BE49-F238E27FC236}">
                <a16:creationId xmlns:a16="http://schemas.microsoft.com/office/drawing/2014/main" id="{19CF8CF1-DDC9-4F98-A796-ED58F48A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1,305 €/m²</a:t>
            </a:r>
          </a:p>
        </p:txBody>
      </p:sp>
      <p:sp>
        <p:nvSpPr>
          <p:cNvPr id="9" name="benchmark-callout-one-body">
            <a:extLst xmlns:a="http://schemas.openxmlformats.org/drawingml/2006/main">
              <a:ext uri="{FF2B5EF4-FFF2-40B4-BE49-F238E27FC236}">
                <a16:creationId xmlns:a16="http://schemas.microsoft.com/office/drawing/2014/main" id="{79441BFC-EBEF-4CCE-A893-4A57CA97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HGB: niedrigster mittlerer CV-MAE</a:t>
            </a:r>
          </a:p>
        </p:txBody>
      </p:sp>
      <p:sp>
        <p:nvSpPr>
          <p:cNvPr id="10" name="benchmark-callout-two">
            <a:extLst xmlns:a="http://schemas.openxmlformats.org/drawingml/2006/main">
              <a:ext uri="{FF2B5EF4-FFF2-40B4-BE49-F238E27FC236}">
                <a16:creationId xmlns:a16="http://schemas.microsoft.com/office/drawing/2014/main" id="{65D5071D-164F-4B9D-BE7F-8B16D333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benchmark-callout-two-title">
            <a:extLst xmlns:a="http://schemas.openxmlformats.org/drawingml/2006/main">
              <a:ext uri="{FF2B5EF4-FFF2-40B4-BE49-F238E27FC236}">
                <a16:creationId xmlns:a16="http://schemas.microsoft.com/office/drawing/2014/main" id="{65B8FDAB-DC22-4EF5-B32C-E7155AFF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SVM + Baum</a:t>
            </a:r>
          </a:p>
        </p:txBody>
      </p:sp>
      <p:sp>
        <p:nvSpPr>
          <p:cNvPr id="12" name="benchmark-callout-two-body">
            <a:extLst xmlns:a="http://schemas.openxmlformats.org/drawingml/2006/main">
              <a:ext uri="{FF2B5EF4-FFF2-40B4-BE49-F238E27FC236}">
                <a16:creationId xmlns:a16="http://schemas.microsoft.com/office/drawing/2014/main" id="{0BDBB343-017D-4A5A-8CB7-17A11D75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767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klassische Verfahren explizit geprüft</a:t>
            </a:r>
          </a:p>
        </p:txBody>
      </p:sp>
      <p:sp>
        <p:nvSpPr>
          <p:cNvPr id="13" name="benchmark-interpretation">
            <a:extLst xmlns:a="http://schemas.openxmlformats.org/drawingml/2006/main">
              <a:ext uri="{FF2B5EF4-FFF2-40B4-BE49-F238E27FC236}">
                <a16:creationId xmlns:a16="http://schemas.microsoft.com/office/drawing/2014/main" id="{BAFFB62E-1B94-491C-9465-2928E7F6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HGB gewinnt. Random Forest bleibt Challenger; exakter RBF-SVR ist bei 600k nicht skalierbar.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339213" y="1457325"/>
          <a:ext xmlns:a="http://schemas.openxmlformats.org/drawingml/2006/main" cx="6572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a33468558d4809"/>
          </a:graphicData>
        </a:graphic>
      </p:graphicFrame>
    </p:spTree>
    <p:extLst>
      <p:ext uri="{BB962C8B-B14F-4D97-AF65-F5344CB8AC3E}">
        <p14:creationId xmlns:p14="http://schemas.microsoft.com/office/powerpoint/2010/main" val="20731337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A²/A³ · Features anpassen, acht HGB-Varianten tunen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Berechnung: reports/feature_ablation.json und reports/hgb_tuning.json.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Lage liefert den größten Zusatznutzen; Kalibrierung und Test bleiben während des Tunings gesperrt.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der vier Feature-Stufen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4 Stufen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Kategorien → Lage → Umfeld → Qualität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 Tunings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automatisierte, reproduzierbare HGB-Suche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Gewählt: Kandidat 6 · 127 Blätter · learning_rate 0,06 · L2 = 5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4219b8daba44c8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 · Finaler Test: 38,3 % weniger Fehler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 auf 276.458 Zeilen aus 99 gesperrten Raumblöcken; reports/final_model_evaluation.json.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Das nominale 90-%-Intervall erreicht räumlich 86,8 % – und genau das zeigt die App.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auf dem finalen Test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38,3 %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weniger MAE als die Kategorie-Baseline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86,8 %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empirische Coverage des nominalen 90-%-Bands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Keine 90-%-Garantie: räumlicher Verteilungswechsel verletzt perfekte Austauschbarkeit.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ea0f5a229e4985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Dein Mietbild: drei Werte bleiben getrennt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Szenario eingeben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drei Mietrealitäten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Umzugsaufschlag</a:t>
            </a:r>
          </a:p>
        </p:txBody>
      </p:sp>
      <p:pic>
        <p:nvPicPr>
          <p:cNvPr id="28" name="Grafik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56df57e124ec5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Ergebnis statt Scheingenauigkeit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Bestandsanker, Angebot und persönliche Belastung mit klarer Zeitreferenz.</a:t>
            </a:r>
          </a:p>
        </p:txBody>
      </p:sp>
      <p:pic>
        <p:nvPicPr>
          <p:cNvPr id="32" name="Grafik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2d9df0d0c4a4e"/>
          <a:srcRect xmlns:a="http://schemas.openxmlformats.org/drawingml/2006/main" l="0" t="24967" r="0" b="24967"/>
          <a:stretch xmlns:a="http://schemas.openxmlformats.org/drawingml/2006/main"/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Marktverlauf: Aktualität und Streuung sichtbar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Region wählen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Quartalsverlauf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Markt-IQR lesen</a:t>
            </a:r>
          </a:p>
        </p:txBody>
      </p:sp>
      <p:pic>
        <p:nvPicPr>
          <p:cNvPr id="28" name="Grafik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47d66fed842d6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GREIX 2026-Q1 · unabhängig vom ML-Ziel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Der Angebotsmarkt aktualisiert die App, ohne den Zensus 2022 umzudeuten.</a:t>
            </a:r>
          </a:p>
        </p:txBody>
      </p:sp>
      <p:pic>
        <p:nvPicPr>
          <p:cNvPr id="32" name="Grafik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5227ebf6a417b"/>
          <a:srcRect xmlns:a="http://schemas.openxmlformats.org/drawingml/2006/main" l="0" t="24967" r="0" b="24967"/>
          <a:stretch xmlns:a="http://schemas.openxmlformats.org/drawingml/2006/main"/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Methodik: Modellgüte, Quellen und Grenzen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Datenstand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Spatial Holdout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Coverage &amp; Disclaimer</a:t>
            </a:r>
          </a:p>
        </p:txBody>
      </p:sp>
      <p:pic>
        <p:nvPicPr>
          <p:cNvPr id="28" name="Grafik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21752b5ea4b33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Transparenz ist Teil des Produkts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Nutzer sehen Datenquellen, 7-Kandidaten-Vergleich, Testgüte und 86,8 % Coverage.</a:t>
            </a:r>
          </a:p>
        </p:txBody>
      </p:sp>
      <p:pic>
        <p:nvPicPr>
          <p:cNvPr id="32" name="Grafik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58c8939bd4857"/>
          <a:srcRect xmlns:a="http://schemas.openxmlformats.org/drawingml/2006/main" l="0" t="24967" r="0" b="24967"/>
          <a:stretch xmlns:a="http://schemas.openxmlformats.org/drawingml/2006/main"/>
        </p:blipFill>
        <p:spPr>
          <a:xfrm xmlns:a="http://schemas.openxmlformats.org/drawingml/2006/main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11">
            <a:extLst xmlns:a="http://schemas.openxmlformats.org/drawingml/2006/main">
              <a:ext uri="{FF2B5EF4-FFF2-40B4-BE49-F238E27FC236}">
                <a16:creationId xmlns:a16="http://schemas.microsoft.com/office/drawing/2014/main" id="{69C0D3BE-8666-42D8-A511-6D32A785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11">
            <a:extLst xmlns:a="http://schemas.openxmlformats.org/drawingml/2006/main">
              <a:ext uri="{FF2B5EF4-FFF2-40B4-BE49-F238E27FC236}">
                <a16:creationId xmlns:a16="http://schemas.microsoft.com/office/drawing/2014/main" id="{2241EBF9-3B9C-45FA-BF42-71FDB3E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11">
            <a:extLst xmlns:a="http://schemas.openxmlformats.org/drawingml/2006/main">
              <a:ext uri="{FF2B5EF4-FFF2-40B4-BE49-F238E27FC236}">
                <a16:creationId xmlns:a16="http://schemas.microsoft.com/office/drawing/2014/main" id="{4545EEF1-C021-4BA2-9408-E9F43FE8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11">
            <a:extLst xmlns:a="http://schemas.openxmlformats.org/drawingml/2006/main">
              <a:ext uri="{FF2B5EF4-FFF2-40B4-BE49-F238E27FC236}">
                <a16:creationId xmlns:a16="http://schemas.microsoft.com/office/drawing/2014/main" id="{6F7FA0BD-7285-4198-90B3-A6B9DEBF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C/K · Ein gutes Modell kennt seine Einsatzgrenze</a:t>
            </a:r>
          </a:p>
        </p:txBody>
      </p:sp>
      <p:sp>
        <p:nvSpPr>
          <p:cNvPr id="5" name="source-11">
            <a:extLst xmlns:a="http://schemas.openxmlformats.org/drawingml/2006/main">
              <a:ext uri="{FF2B5EF4-FFF2-40B4-BE49-F238E27FC236}">
                <a16:creationId xmlns:a16="http://schemas.microsoft.com/office/drawing/2014/main" id="{960D00F3-3CAE-4A61-B148-62C5D45D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E79274EB-7947-41C3-8A02-3F03F433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  <p:sp>
        <p:nvSpPr>
          <p:cNvPr id="7" name="limits-lead">
            <a:extLst xmlns:a="http://schemas.openxmlformats.org/drawingml/2006/main">
              <a:ext uri="{FF2B5EF4-FFF2-40B4-BE49-F238E27FC236}">
                <a16:creationId xmlns:a16="http://schemas.microsoft.com/office/drawing/2014/main" id="{A2974C9F-7C28-4462-8412-716EF76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MietCheck unterstützt Exploration und Umzugsentscheidungen – keine rechtliche Preisfeststellung.</a:t>
            </a:r>
          </a:p>
        </p:txBody>
      </p:sp>
      <p:cxnSp>
        <p:nvCxnSpPr>
          <p:cNvPr id="68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9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032A934B-C847-40C6-A537-458E8AE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Was fehlt?</a:t>
            </a:r>
          </a:p>
        </p:txBody>
      </p:sp>
      <p:sp>
        <p:nvSpPr>
          <p:cNvPr id="10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8BF5A322-F572-4231-8032-AE559B81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Wie wird das abgefedert?</a:t>
            </a:r>
          </a:p>
        </p:txBody>
      </p:sp>
      <p:sp>
        <p:nvSpPr>
          <p:cNvPr id="11" name="limit-dot-0">
            <a:extLst xmlns:a="http://schemas.openxmlformats.org/drawingml/2006/main">
              <a:ext uri="{FF2B5EF4-FFF2-40B4-BE49-F238E27FC236}">
                <a16:creationId xmlns:a16="http://schemas.microsoft.com/office/drawing/2014/main" id="{DDD37B09-8035-4B89-B47E-734E779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4AC89F28-5CCE-4F3A-AA44-5D84CBE3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Ausstattung, Energiezustand, Etage und Mikrolage</a:t>
            </a:r>
          </a:p>
        </p:txBody>
      </p:sp>
      <p:sp>
        <p:nvSpPr>
          <p:cNvPr id="13" name="mit-dot-0">
            <a:extLst xmlns:a="http://schemas.openxmlformats.org/drawingml/2006/main">
              <a:ext uri="{FF2B5EF4-FFF2-40B4-BE49-F238E27FC236}">
                <a16:creationId xmlns:a16="http://schemas.microsoft.com/office/drawing/2014/main" id="{E4713A01-42DB-4F73-AA07-658794D1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mit-copy-0">
            <a:extLst xmlns:a="http://schemas.openxmlformats.org/drawingml/2006/main">
              <a:ext uri="{FF2B5EF4-FFF2-40B4-BE49-F238E27FC236}">
                <a16:creationId xmlns:a16="http://schemas.microsoft.com/office/drawing/2014/main" id="{CBE6039B-582C-46A1-A37C-8BA5B2B8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adressgenaue oder rechtliche Behauptung</a:t>
            </a:r>
          </a:p>
        </p:txBody>
      </p:sp>
      <p:sp>
        <p:nvSpPr>
          <p:cNvPr id="15" name="limit-dot-1">
            <a:extLst xmlns:a="http://schemas.openxmlformats.org/drawingml/2006/main">
              <a:ext uri="{FF2B5EF4-FFF2-40B4-BE49-F238E27FC236}">
                <a16:creationId xmlns:a16="http://schemas.microsoft.com/office/drawing/2014/main" id="{735C978F-BD3A-4A2F-9F0A-51736733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D421D142-943C-4107-972A-97DC39AA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Zensus-Stichtag 2022 und räumlicher Shift</a:t>
            </a:r>
          </a:p>
        </p:txBody>
      </p:sp>
      <p:sp>
        <p:nvSpPr>
          <p:cNvPr id="17" name="mit-dot-1">
            <a:extLst xmlns:a="http://schemas.openxmlformats.org/drawingml/2006/main">
              <a:ext uri="{FF2B5EF4-FFF2-40B4-BE49-F238E27FC236}">
                <a16:creationId xmlns:a16="http://schemas.microsoft.com/office/drawing/2014/main" id="{67B7C1AB-9E09-4067-89BC-3ED8B760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mit-copy-1">
            <a:extLst xmlns:a="http://schemas.openxmlformats.org/drawingml/2006/main">
              <a:ext uri="{FF2B5EF4-FFF2-40B4-BE49-F238E27FC236}">
                <a16:creationId xmlns:a16="http://schemas.microsoft.com/office/drawing/2014/main" id="{F8644C7B-BF1E-48BC-B788-FD05FE1D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aktuellen GREIX-Markt separat ausweisen</a:t>
            </a:r>
          </a:p>
        </p:txBody>
      </p:sp>
      <p:sp>
        <p:nvSpPr>
          <p:cNvPr id="19" name="limit-dot-2">
            <a:extLst xmlns:a="http://schemas.openxmlformats.org/drawingml/2006/main">
              <a:ext uri="{FF2B5EF4-FFF2-40B4-BE49-F238E27FC236}">
                <a16:creationId xmlns:a16="http://schemas.microsoft.com/office/drawing/2014/main" id="{B72C6549-DA74-4AA6-9F21-90E3D43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FD9A2864-D2E7-4D66-A7E6-A1733FD4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Angebotsdaten außerhalb der GREIX-Märkte</a:t>
            </a:r>
          </a:p>
        </p:txBody>
      </p:sp>
      <p:sp>
        <p:nvSpPr>
          <p:cNvPr id="21" name="mit-dot-2">
            <a:extLst xmlns:a="http://schemas.openxmlformats.org/drawingml/2006/main">
              <a:ext uri="{FF2B5EF4-FFF2-40B4-BE49-F238E27FC236}">
                <a16:creationId xmlns:a16="http://schemas.microsoft.com/office/drawing/2014/main" id="{DBB39BF6-D06F-4604-9961-5696EB5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mit-copy-2">
            <a:extLst xmlns:a="http://schemas.openxmlformats.org/drawingml/2006/main">
              <a:ext uri="{FF2B5EF4-FFF2-40B4-BE49-F238E27FC236}">
                <a16:creationId xmlns:a16="http://schemas.microsoft.com/office/drawing/2014/main" id="{DEA41A41-08DC-484A-B0EF-4580F664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fehlenden Regionen erfinden</a:t>
            </a:r>
          </a:p>
        </p:txBody>
      </p:sp>
      <p:sp>
        <p:nvSpPr>
          <p:cNvPr id="23" name="limit-dot-3">
            <a:extLst xmlns:a="http://schemas.openxmlformats.org/drawingml/2006/main">
              <a:ext uri="{FF2B5EF4-FFF2-40B4-BE49-F238E27FC236}">
                <a16:creationId xmlns:a16="http://schemas.microsoft.com/office/drawing/2014/main" id="{E1065956-2E0E-4DBC-BD7C-899E8FCD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4AF22B09-425D-4468-B63E-058F57B6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nominale 90-%-Coverage nicht erreicht</a:t>
            </a:r>
          </a:p>
        </p:txBody>
      </p:sp>
      <p:sp>
        <p:nvSpPr>
          <p:cNvPr id="25" name="mit-dot-3">
            <a:extLst xmlns:a="http://schemas.openxmlformats.org/drawingml/2006/main">
              <a:ext uri="{FF2B5EF4-FFF2-40B4-BE49-F238E27FC236}">
                <a16:creationId xmlns:a16="http://schemas.microsoft.com/office/drawing/2014/main" id="{D1BA2AFD-3626-4EBE-AA4E-4B1BEF4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mit-copy-3">
            <a:extLst xmlns:a="http://schemas.openxmlformats.org/drawingml/2006/main">
              <a:ext uri="{FF2B5EF4-FFF2-40B4-BE49-F238E27FC236}">
                <a16:creationId xmlns:a16="http://schemas.microsoft.com/office/drawing/2014/main" id="{D17182A3-0D2D-4DF2-A106-4F150423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empirische 86,8 % offen kommunizieren</a:t>
            </a:r>
          </a:p>
        </p:txBody>
      </p:sp>
      <p:sp>
        <p:nvSpPr>
          <p:cNvPr id="27" name="not-advice">
            <a:extLst xmlns:a="http://schemas.openxmlformats.org/drawingml/2006/main">
              <a:ext uri="{FF2B5EF4-FFF2-40B4-BE49-F238E27FC236}">
                <a16:creationId xmlns:a16="http://schemas.microsoft.com/office/drawing/2014/main" id="{D8247965-B413-4039-8BA9-83240F17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DD9BC2A2-4C9F-4C0A-B305-B70F79A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Kein amtlicher Mietspiegel · keine Rechtsberatung · keine Bonitäts- oder Vermieterentscheidung</a:t>
            </a:r>
          </a:p>
        </p:txBody>
      </p:sp>
    </p:spTree>
    <p:extLst>
      <p:ext uri="{BB962C8B-B14F-4D97-AF65-F5344CB8AC3E}">
        <p14:creationId xmlns:p14="http://schemas.microsoft.com/office/powerpoint/2010/main" val="5418921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1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lusion-kicker">
            <a:extLst xmlns:a="http://schemas.openxmlformats.org/drawingml/2006/main">
              <a:ext uri="{FF2B5EF4-FFF2-40B4-BE49-F238E27FC236}">
                <a16:creationId xmlns:a16="http://schemas.microsoft.com/office/drawing/2014/main" id="{A9783E21-7A02-4E63-BEE7-7D97DBAC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FAZIT · QUA³CK GESCHLOSSEN</a:t>
            </a:r>
          </a:p>
        </p:txBody>
      </p:sp>
      <p:sp>
        <p:nvSpPr>
          <p:cNvPr id="2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12A9F7B3-107F-4DA8-BA91-CF1A9429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Nicht eine „faire“ Miete.
Eine nachvollziehbare Umzugsentscheidung.</a:t>
            </a:r>
          </a:p>
        </p:txBody>
      </p:sp>
      <p:sp>
        <p:nvSpPr>
          <p:cNvPr id="3" name="conclusion-proof">
            <a:extLst xmlns:a="http://schemas.openxmlformats.org/drawingml/2006/main">
              <a:ext uri="{FF2B5EF4-FFF2-40B4-BE49-F238E27FC236}">
                <a16:creationId xmlns:a16="http://schemas.microsoft.com/office/drawing/2014/main" id="{426EFC8B-986D-4707-814A-5F17FA45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7DEE8"/>
                </a:solidFill>
                <a:latin typeface="Arial"/>
                <a:ea typeface="Arial"/>
                <a:cs typeface="Arial"/>
              </a:defRPr>
            </a:pPr>
            <a:r>
              <a:t>2,06 Mio. Zeilen · StandardScaler verstanden · 7 Kandidaten · Spatial Holdout · 38,3 % Gewinn · 86,8 % Coverage</a:t>
            </a:r>
          </a:p>
        </p:txBody>
      </p:sp>
      <p:cxnSp>
        <p:nvCxnSpPr>
          <p:cNvPr id="26" name="conclusion-rule"/>
          <p:cNvCxnSpPr/>
          <p:nvPr/>
        </p:nvCxnSpPr>
        <p:spPr>
          <a:xfrm xmlns:a="http://schemas.openxmlformats.org/drawingml/2006/main">
            <a:off x="533400" y="5295900"/>
            <a:ext cx="1066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B4B60"/>
            </a:solidFill>
            <a:prstDash val="solid"/>
          </a:ln>
        </p:spPr>
      </p:cxnSp>
      <p:sp>
        <p:nvSpPr>
          <p:cNvPr id="5" name="conclusion-close">
            <a:extLst xmlns:a="http://schemas.openxmlformats.org/drawingml/2006/main">
              <a:ext uri="{FF2B5EF4-FFF2-40B4-BE49-F238E27FC236}">
                <a16:creationId xmlns:a16="http://schemas.microsoft.com/office/drawing/2014/main" id="{8B624221-185C-4722-8C76-79EA142D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9906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MietCheck übersetzt Big Data und ehrliches Machine Learning in einen echten persönlichen Mehrwert.</a:t>
            </a:r>
          </a:p>
        </p:txBody>
      </p:sp>
      <p:sp>
        <p:nvSpPr>
          <p:cNvPr id="6" name="conclusion-page">
            <a:extLst xmlns:a="http://schemas.openxmlformats.org/drawingml/2006/main">
              <a:ext uri="{FF2B5EF4-FFF2-40B4-BE49-F238E27FC236}">
                <a16:creationId xmlns:a16="http://schemas.microsoft.com/office/drawing/2014/main" id="{FD6BCA4C-6701-4E94-94B4-47B92254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AAB5C3"/>
                </a:solidFill>
                <a:latin typeface="Arial"/>
                <a:ea typeface="Arial"/>
                <a:cs typeface="Arial"/>
              </a:defRPr>
            </a:pPr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517038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header-13">
            <a:extLst xmlns:a="http://schemas.openxmlformats.org/drawingml/2006/main">
              <a:ext uri="{FF2B5EF4-FFF2-40B4-BE49-F238E27FC236}">
                <a16:creationId xmlns:a16="http://schemas.microsoft.com/office/drawing/2014/main" id="{2CD076FD-D4E2-433F-B474-C7867F3D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header-teal-13">
            <a:extLst xmlns:a="http://schemas.openxmlformats.org/drawingml/2006/main">
              <a:ext uri="{FF2B5EF4-FFF2-40B4-BE49-F238E27FC236}">
                <a16:creationId xmlns:a16="http://schemas.microsoft.com/office/drawing/2014/main" id="{6E18CD19-21E4-4971-B783-F35A938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header-accent-13">
            <a:extLst xmlns:a="http://schemas.openxmlformats.org/drawingml/2006/main">
              <a:ext uri="{FF2B5EF4-FFF2-40B4-BE49-F238E27FC236}">
                <a16:creationId xmlns:a16="http://schemas.microsoft.com/office/drawing/2014/main" id="{CCF94777-7A5C-4147-B3E4-A13E01D3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itle-13">
            <a:extLst xmlns:a="http://schemas.openxmlformats.org/drawingml/2006/main">
              <a:ext uri="{FF2B5EF4-FFF2-40B4-BE49-F238E27FC236}">
                <a16:creationId xmlns:a16="http://schemas.microsoft.com/office/drawing/2014/main" id="{E920D481-0D5D-4D08-BDF4-AF2BE302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Backup · Quellen und Reproduzierbarkeit</a:t>
            </a:r>
          </a:p>
        </p:txBody>
      </p:sp>
      <p:sp>
        <p:nvSpPr>
          <p:cNvPr id="5" name="source-13">
            <a:extLst xmlns:a="http://schemas.openxmlformats.org/drawingml/2006/main">
              <a:ext uri="{FF2B5EF4-FFF2-40B4-BE49-F238E27FC236}">
                <a16:creationId xmlns:a16="http://schemas.microsoft.com/office/drawing/2014/main" id="{22EF8BF9-60F6-4D2D-BF33-19F40312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" name="page-13">
            <a:extLst xmlns:a="http://schemas.openxmlformats.org/drawingml/2006/main">
              <a:ext uri="{FF2B5EF4-FFF2-40B4-BE49-F238E27FC236}">
                <a16:creationId xmlns:a16="http://schemas.microsoft.com/office/drawing/2014/main" id="{6530395F-337D-4405-9E2C-F25840B6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16</a:t>
            </a:r>
          </a:p>
        </p:txBody>
      </p:sp>
      <p:sp>
        <p:nvSpPr>
          <p:cNvPr id="7" name="sources-one-title">
            <a:extLst xmlns:a="http://schemas.openxmlformats.org/drawingml/2006/main">
              <a:ext uri="{FF2B5EF4-FFF2-40B4-BE49-F238E27FC236}">
                <a16:creationId xmlns:a16="http://schemas.microsoft.com/office/drawing/2014/main" id="{B47C0066-7B17-4687-B334-E76AEA45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Zensus 2022</a:t>
            </a:r>
          </a:p>
        </p:txBody>
      </p:sp>
      <p:sp>
        <p:nvSpPr>
          <p:cNvPr id="8" name="sources-one-body">
            <a:extLst xmlns:a="http://schemas.openxmlformats.org/drawingml/2006/main">
              <a:ext uri="{FF2B5EF4-FFF2-40B4-BE49-F238E27FC236}">
                <a16:creationId xmlns:a16="http://schemas.microsoft.com/office/drawing/2014/main" id="{52420C3A-CEA9-4C96-B15D-52FA05D2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49530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Statistische Ämter des Bundes und der Länder
100-m-Gitterdaten · Datenlizenz Deutschland – Namensnennung 2.0
Stichtag: 15.05.2022 · Veröffentlichung 2025</a:t>
            </a:r>
          </a:p>
        </p:txBody>
      </p:sp>
      <p:sp>
        <p:nvSpPr>
          <p:cNvPr id="9" name="sources-two-title">
            <a:extLst xmlns:a="http://schemas.openxmlformats.org/drawingml/2006/main">
              <a:ext uri="{FF2B5EF4-FFF2-40B4-BE49-F238E27FC236}">
                <a16:creationId xmlns:a16="http://schemas.microsoft.com/office/drawing/2014/main" id="{73B91E00-1407-4856-8C68-6E11CE8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GREIX Mietpreisindex</a:t>
            </a:r>
          </a:p>
        </p:txBody>
      </p:sp>
      <p:sp>
        <p:nvSpPr>
          <p:cNvPr id="10" name="sources-two-body">
            <a:extLst xmlns:a="http://schemas.openxmlformats.org/drawingml/2006/main">
              <a:ext uri="{FF2B5EF4-FFF2-40B4-BE49-F238E27FC236}">
                <a16:creationId xmlns:a16="http://schemas.microsoft.com/office/drawing/2014/main" id="{07CB8445-206B-4569-8FB3-E385D5A6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2197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Kiel Institut für Weltwirtschaft auf Basis der VALUE Marktdatenbank
Nominale Quartalswerte 2012-Q1 bis 2026-Q1
37 lokale Märkte plus Deutschlandreferenz</a:t>
            </a:r>
          </a:p>
        </p:txBody>
      </p:sp>
      <p:cxnSp>
        <p:nvCxnSpPr>
          <p:cNvPr id="70" name="sources-divider"/>
          <p:cNvCxnSpPr/>
          <p:nvPr/>
        </p:nvCxnSpPr>
        <p:spPr>
          <a:xfrm xmlns:a="http://schemas.openxmlformats.org/drawingml/2006/main">
            <a:off x="457200" y="3543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2" name="sources-repro-title">
            <a:extLst xmlns:a="http://schemas.openxmlformats.org/drawingml/2006/main">
              <a:ext uri="{FF2B5EF4-FFF2-40B4-BE49-F238E27FC236}">
                <a16:creationId xmlns:a16="http://schemas.microsoft.com/office/drawing/2014/main" id="{F8D67AEF-8165-4356-B8ED-2A174E8A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Reproduzierbar im Repository</a:t>
            </a:r>
          </a:p>
        </p:txBody>
      </p:sp>
      <p:sp>
        <p:nvSpPr>
          <p:cNvPr id="13" name="sources-repro-body">
            <a:extLst xmlns:a="http://schemas.openxmlformats.org/drawingml/2006/main">
              <a:ext uri="{FF2B5EF4-FFF2-40B4-BE49-F238E27FC236}">
                <a16:creationId xmlns:a16="http://schemas.microsoft.com/office/drawing/2014/main" id="{74CED86B-6349-4E4D-996A-92AAF05E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 ohne Analysecode · U/A/C vollständig ausgeführt
11/11 Codezellen ohne Fehler · JSON-Reports · GitHub Actions
Model/Data/Risk Cards · MLflow Registry · Docker</a:t>
            </a:r>
          </a:p>
        </p:txBody>
      </p:sp>
      <p:sp>
        <p:nvSpPr>
          <p:cNvPr id="14" name="sources-code">
            <a:extLst xmlns:a="http://schemas.openxmlformats.org/drawingml/2006/main">
              <a:ext uri="{FF2B5EF4-FFF2-40B4-BE49-F238E27FC236}">
                <a16:creationId xmlns:a16="http://schemas.microsoft.com/office/drawing/2014/main" id="{A6283417-4B44-4B98-BB27-C7DA65AD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04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ources-code-text">
            <a:extLst xmlns:a="http://schemas.openxmlformats.org/drawingml/2006/main">
              <a:ext uri="{FF2B5EF4-FFF2-40B4-BE49-F238E27FC236}">
                <a16:creationId xmlns:a16="http://schemas.microsoft.com/office/drawing/2014/main" id="{F34B8F02-9BD0-4C66-B679-6A54855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591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scripts/ · notebooks/ · reports/ · models/ · tests/ · docs/DATA_CARD.md · docs/MODEL_CARD.md</a:t>
            </a:r>
          </a:p>
        </p:txBody>
      </p:sp>
    </p:spTree>
    <p:extLst>
      <p:ext uri="{BB962C8B-B14F-4D97-AF65-F5344CB8AC3E}">
        <p14:creationId xmlns:p14="http://schemas.microsoft.com/office/powerpoint/2010/main" val="815019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2026-07-23T09:06:05.3190000Z</dcterms:created>
  <dcterms:modified xsi:type="dcterms:W3CDTF">2026-07-23T09:06:05.3190000Z</dcterms:modified>
</coreProperties>
</file>