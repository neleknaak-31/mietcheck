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8a037898e457c" /><Relationship Type="http://schemas.openxmlformats.org/officeDocument/2006/relationships/extended-properties" Target="/docProps/app.xml" Id="R57d000f3fa0f43a5" /><Relationship Type="http://schemas.openxmlformats.org/officeDocument/2006/relationships/officeDocument" Target="/ppt/presentation.xml" Id="R526072328e8c47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493b255274424"/>
  </p:sldMasterIdLst>
  <p:notesMasterIdLst>
    <p:notesMasterId xmlns:r="http://schemas.openxmlformats.org/officeDocument/2006/relationships" r:id="R526d73e6cc5549ed"/>
  </p:notesMasterIdLst>
  <p:sldIdLst>
    <p:sldId xmlns:r="http://schemas.openxmlformats.org/officeDocument/2006/relationships" id="256" r:id="R5a7d816358f844f1"/>
    <p:sldId xmlns:r="http://schemas.openxmlformats.org/officeDocument/2006/relationships" id="257" r:id="R11f90a57e26e4b17"/>
    <p:sldId xmlns:r="http://schemas.openxmlformats.org/officeDocument/2006/relationships" id="258" r:id="R502ec36242464cab"/>
    <p:sldId xmlns:r="http://schemas.openxmlformats.org/officeDocument/2006/relationships" id="259" r:id="Rdfe429ecf27a49a9"/>
    <p:sldId xmlns:r="http://schemas.openxmlformats.org/officeDocument/2006/relationships" id="260" r:id="R9a0a3c8f7d074df4"/>
    <p:sldId xmlns:r="http://schemas.openxmlformats.org/officeDocument/2006/relationships" id="261" r:id="Ra7e35fa68ded4002"/>
    <p:sldId xmlns:r="http://schemas.openxmlformats.org/officeDocument/2006/relationships" id="262" r:id="R8da05490e83b4709"/>
    <p:sldId xmlns:r="http://schemas.openxmlformats.org/officeDocument/2006/relationships" id="263" r:id="R9e86dc857602476a"/>
    <p:sldId xmlns:r="http://schemas.openxmlformats.org/officeDocument/2006/relationships" id="264" r:id="R614a3c339edb4a99"/>
    <p:sldId xmlns:r="http://schemas.openxmlformats.org/officeDocument/2006/relationships" id="265" r:id="Ra96ccae2e44743e4"/>
    <p:sldId xmlns:r="http://schemas.openxmlformats.org/officeDocument/2006/relationships" id="266" r:id="Rd1b35c14e71e45ea"/>
    <p:sldId xmlns:r="http://schemas.openxmlformats.org/officeDocument/2006/relationships" id="267" r:id="R9ef12811feed449a"/>
    <p:sldId xmlns:r="http://schemas.openxmlformats.org/officeDocument/2006/relationships" id="268" r:id="Rb63b783804f74d27"/>
    <p:sldId xmlns:r="http://schemas.openxmlformats.org/officeDocument/2006/relationships" id="269" r:id="R53722f8543c44562"/>
    <p:sldId xmlns:r="http://schemas.openxmlformats.org/officeDocument/2006/relationships" id="270" r:id="R832dbc96b8db4a84"/>
    <p:sldId xmlns:r="http://schemas.openxmlformats.org/officeDocument/2006/relationships" id="271" r:id="R72a99535e95143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1fa522b21460f" /><Relationship Type="http://schemas.openxmlformats.org/officeDocument/2006/relationships/slideMaster" Target="/ppt/slideMasters/slideMaster1.xml" Id="R749493b255274424" /><Relationship Type="http://schemas.openxmlformats.org/officeDocument/2006/relationships/notesMaster" Target="/ppt/notesMasters/notesMaster1.xml" Id="R526d73e6cc5549ed" /><Relationship Type="http://schemas.openxmlformats.org/officeDocument/2006/relationships/presProps" Target="/ppt/presProps.xml" Id="Rf661d134750c4724" /><Relationship Type="http://schemas.openxmlformats.org/officeDocument/2006/relationships/viewProps" Target="/ppt/viewProps.xml" Id="Rc65fe4eb9df54e29" /><Relationship Type="http://schemas.openxmlformats.org/officeDocument/2006/relationships/tableStyles" Target="/ppt/tableStyles.xml" Id="R8dac99509af94c40" /><Relationship Type="http://schemas.openxmlformats.org/officeDocument/2006/relationships/slide" Target="/ppt/slides/slide1.xml" Id="R5a7d816358f844f1" /><Relationship Type="http://schemas.openxmlformats.org/officeDocument/2006/relationships/slide" Target="/ppt/slides/slide2.xml" Id="R11f90a57e26e4b17" /><Relationship Type="http://schemas.openxmlformats.org/officeDocument/2006/relationships/slide" Target="/ppt/slides/slide3.xml" Id="R502ec36242464cab" /><Relationship Type="http://schemas.openxmlformats.org/officeDocument/2006/relationships/slide" Target="/ppt/slides/slide4.xml" Id="Rdfe429ecf27a49a9" /><Relationship Type="http://schemas.openxmlformats.org/officeDocument/2006/relationships/slide" Target="/ppt/slides/slide5.xml" Id="R9a0a3c8f7d074df4" /><Relationship Type="http://schemas.openxmlformats.org/officeDocument/2006/relationships/slide" Target="/ppt/slides/slide6.xml" Id="Ra7e35fa68ded4002" /><Relationship Type="http://schemas.openxmlformats.org/officeDocument/2006/relationships/slide" Target="/ppt/slides/slide7.xml" Id="R8da05490e83b4709" /><Relationship Type="http://schemas.openxmlformats.org/officeDocument/2006/relationships/slide" Target="/ppt/slides/slide8.xml" Id="R9e86dc857602476a" /><Relationship Type="http://schemas.openxmlformats.org/officeDocument/2006/relationships/slide" Target="/ppt/slides/slide9.xml" Id="R614a3c339edb4a99" /><Relationship Type="http://schemas.openxmlformats.org/officeDocument/2006/relationships/slide" Target="/ppt/slides/slide10.xml" Id="Ra96ccae2e44743e4" /><Relationship Type="http://schemas.openxmlformats.org/officeDocument/2006/relationships/slide" Target="/ppt/slides/slide11.xml" Id="Rd1b35c14e71e45ea" /><Relationship Type="http://schemas.openxmlformats.org/officeDocument/2006/relationships/slide" Target="/ppt/slides/slide12.xml" Id="R9ef12811feed449a" /><Relationship Type="http://schemas.openxmlformats.org/officeDocument/2006/relationships/slide" Target="/ppt/slides/slide13.xml" Id="Rb63b783804f74d27" /><Relationship Type="http://schemas.openxmlformats.org/officeDocument/2006/relationships/slide" Target="/ppt/slides/slide14.xml" Id="R53722f8543c44562" /><Relationship Type="http://schemas.openxmlformats.org/officeDocument/2006/relationships/slide" Target="/ppt/slides/slide15.xml" Id="R832dbc96b8db4a84" /><Relationship Type="http://schemas.openxmlformats.org/officeDocument/2006/relationships/slide" Target="/ppt/slides/slide16.xml" Id="R72a99535e951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83f3a7a4e5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304f52f444fdf" /><Relationship Type="http://schemas.openxmlformats.org/officeDocument/2006/relationships/notesMaster" Target="/ppt/notesMasters/notesMaster1.xml" Id="R982b1de7b09041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fa38998e24c5f" /><Relationship Type="http://schemas.openxmlformats.org/officeDocument/2006/relationships/notesMaster" Target="/ppt/notesMasters/notesMaster1.xml" Id="R8741841fc46e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20c9985a043ef" /><Relationship Type="http://schemas.openxmlformats.org/officeDocument/2006/relationships/notesMaster" Target="/ppt/notesMasters/notesMaster1.xml" Id="R4d5fb6a8f23f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281001f7742d5" /><Relationship Type="http://schemas.openxmlformats.org/officeDocument/2006/relationships/notesMaster" Target="/ppt/notesMasters/notesMaster1.xml" Id="R6d4082e75e03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e3579a3f4d4fa7" /><Relationship Type="http://schemas.openxmlformats.org/officeDocument/2006/relationships/notesMaster" Target="/ppt/notesMasters/notesMaster1.xml" Id="Rf32a6fc3451b4b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c667fa3f34f9a" /><Relationship Type="http://schemas.openxmlformats.org/officeDocument/2006/relationships/notesMaster" Target="/ppt/notesMasters/notesMaster1.xml" Id="R510e4f1f3912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81b2f98e134992" /><Relationship Type="http://schemas.openxmlformats.org/officeDocument/2006/relationships/notesMaster" Target="/ppt/notesMasters/notesMaster1.xml" Id="R050dd8c5d6e84c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62b3d318c4954" /><Relationship Type="http://schemas.openxmlformats.org/officeDocument/2006/relationships/notesMaster" Target="/ppt/notesMasters/notesMaster1.xml" Id="R11a8267195e443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c1a13ee49849b3" /><Relationship Type="http://schemas.openxmlformats.org/officeDocument/2006/relationships/notesMaster" Target="/ppt/notesMasters/notesMaster1.xml" Id="R63ac9c3d792a4f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2978204d38401c" /><Relationship Type="http://schemas.openxmlformats.org/officeDocument/2006/relationships/notesMaster" Target="/ppt/notesMasters/notesMaster1.xml" Id="Rf78818c3360f4d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0f31dd34034133" /><Relationship Type="http://schemas.openxmlformats.org/officeDocument/2006/relationships/notesMaster" Target="/ppt/notesMasters/notesMaster1.xml" Id="R337f2dd8e79b42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d4c310618a49dd" /><Relationship Type="http://schemas.openxmlformats.org/officeDocument/2006/relationships/notesMaster" Target="/ppt/notesMasters/notesMaster1.xml" Id="R8ccc9a09818948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473a08eb344236" /><Relationship Type="http://schemas.openxmlformats.org/officeDocument/2006/relationships/notesMaster" Target="/ppt/notesMasters/notesMaster1.xml" Id="R1ff4abc79c0f43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41556232834036" /><Relationship Type="http://schemas.openxmlformats.org/officeDocument/2006/relationships/notesMaster" Target="/ppt/notesMasters/notesMaster1.xml" Id="R52da5e83452a41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635f168f144df3" /><Relationship Type="http://schemas.openxmlformats.org/officeDocument/2006/relationships/notesMaster" Target="/ppt/notesMasters/notesMaster1.xml" Id="Rd10fc54745d54d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35ce5233e54ca5" /><Relationship Type="http://schemas.openxmlformats.org/officeDocument/2006/relationships/notesMaster" Target="/ppt/notesMasters/notesMaster1.xml" Id="R2c3c5a734c3540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35 Sekunden.</a:t>
            </a:r>
          </a:p>
          <a:p xmlns:a="http://schemas.openxmlformats.org/drawingml/2006/main">
            <a:r>
              <a:t>MietCheck führt durch den vollständigen QUA³CK-Prozess. Die App wird in dieser Präsentation mit verifizierten Screenshots gezeigt; eine Live-Demo ist nicht erforderlich.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55 Sekunden.</a:t>
            </a:r>
          </a:p>
          <a:p xmlns:a="http://schemas.openxmlformats.org/drawingml/2006/main">
            <a:r>
              <a:t>Die Forschungsfrage trennt bewusst drei Messkonzepte. Der Umzugsaufschlag ist ein deskriptiver Vergleich und keine zulässige oder faire Miete.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55 Sekunden.</a:t>
            </a:r>
          </a:p>
          <a:p xmlns:a="http://schemas.openxmlformats.org/drawingml/2006/main">
            <a:r>
              <a:t>Der USP ist nicht ein weiterer Preisrechner. Die vier Go/No-Go-Regeln wurden vor dem finalen Test definiert, damit die Bewertung nicht nachträglich passend gemacht wird.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55 </a:t>
            </a:r>
            <a:r>
              <a:t>Sekunden</a:t>
            </a:r>
            <a:r>
              <a:t>.</a:t>
            </a:r>
          </a:p>
          <a:p xmlns:a="http://schemas.openxmlformats.org/drawingml/2006/main">
            <a:r>
              <a:t>Nicht </a:t>
            </a:r>
            <a:r>
              <a:t>beobachtete</a:t>
            </a:r>
            <a:r>
              <a:t> </a:t>
            </a:r>
            <a:r>
              <a:t>Wohnungsmerkmale</a:t>
            </a:r>
            <a:r>
              <a:t>, </a:t>
            </a:r>
            <a:r>
              <a:t>Zeitversatz</a:t>
            </a:r>
            <a:r>
              <a:t>, </a:t>
            </a:r>
            <a:r>
              <a:t>begrenzte</a:t>
            </a:r>
            <a:r>
              <a:t> GREIX-</a:t>
            </a:r>
            <a:r>
              <a:t>Abdeckung</a:t>
            </a:r>
            <a:r>
              <a:t> und Coverage-</a:t>
            </a:r>
            <a:r>
              <a:t>Unterdeckung</a:t>
            </a:r>
            <a:r>
              <a:t> </a:t>
            </a:r>
            <a:r>
              <a:t>stehen</a:t>
            </a:r>
            <a:r>
              <a:t> </a:t>
            </a:r>
            <a:r>
              <a:t>sichtbar</a:t>
            </a:r>
            <a:r>
              <a:t> in App, Model Card und Risk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55 Sekunden.</a:t>
            </a:r>
          </a:p>
          <a:p xmlns:a="http://schemas.openxmlformats.org/drawingml/2006/main">
            <a:r>
              <a:t>Das Trainingsziel ist die Zensus-Bestandsmiete zum Stichtag 15. Mai 2022. GREIX aktualisiert nur die Marktseite der App und wird nicht fälschlich in das historische Trainingsziel gemischt.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80 Sekunden.</a:t>
            </a:r>
          </a:p>
          <a:p xmlns:a="http://schemas.openxmlformats.org/drawingml/2006/main">
            <a:r>
              <a:t>StandardScaler nutzt ausschließlich Mittelwert und Standardabweichung des jeweiligen Trainingsfolds. Das ist für Ridge, SVM und MLP nötig. Entscheidungsbaum, Random Forest und HGB sind gegenüber monotoner Skalierung invariant; der HGB-Champion speichert deshalb bewusst keinen unnötigen Scaler.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65 Sekunden.</a:t>
            </a:r>
          </a:p>
          <a:p xmlns:a="http://schemas.openxmlformats.org/drawingml/2006/main">
            <a:r>
              <a:t>Ein Random Split würde räumliche Nachbarschaft in Train und Test verteilen. Die drei Hash-dokumentierten Blockmengen überschneiden sich nicht.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80 Sekunden.</a:t>
            </a:r>
          </a:p>
          <a:p xmlns:a="http://schemas.openxmlformats.org/drawingml/2006/main">
            <a:r>
              <a:t>Sieben Kandidaten inklusive Baseline, LinearSVR und einzelner Decision Tree laufen auf denselben 600.000 Zeilen. Der RBF-SVR wird ergänzend auf 10.000 räumlich validierten Zeilen geprüft, weil exakte Kernel-SVR superlinear skaliert.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A² zeigt den inkrementellen Zusatznutzen der Feature-Gruppen. A³ vergleicht acht HGB-Konfigurationen ausschließlich auf Entwicklungsblöcken und berücksichtigt Mittelwert, Streuung und schlechtesten Fold.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80 Sekunden.</a:t>
            </a:r>
          </a:p>
          <a:p xmlns:a="http://schemas.openxmlformats.org/drawingml/2006/main">
            <a:r>
              <a:t>Der unangetastete Test umfasst 276.458 Zeilen aus 99 Raumblöcken. MAE 1,413 €/m², R² 0,584 und 38,3 Prozent Verbesserung. Die empirische Coverage liegt bei 86,8 statt nominal 90 Prozent und wird nicht versteckt.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Der Screenshot ersetzt die Live-Demo. Er zeigt das Berlin-Szenario, drei getrennte Mietwerte und den Umzugsaufschlag direkt am Ergebnis.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40 Sekunden.</a:t>
            </a:r>
          </a:p>
          <a:p xmlns:a="http://schemas.openxmlformats.org/drawingml/2006/main">
            <a:r>
              <a:t>Der zweite Screenshot zeigt, wie aktuelle GREIX-Quartale und der Markt-IQR die Angebotsseite erklären. Diese Streuung ist nicht dasselbe wie Modellunsicherheit.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Der Methodik-Screenshot belegt, dass die wissenschaftliche Nachweiskette in der App selbst sichtbar ist. Es gibt keine Live-Demo und damit kein Netzwerk- oder Login-Risiko.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55 </a:t>
            </a:r>
            <a:r>
              <a:t>Sekunden</a:t>
            </a:r>
            <a:r>
              <a:t>.</a:t>
            </a:r>
          </a:p>
          <a:p xmlns:a="http://schemas.openxmlformats.org/drawingml/2006/main">
            <a:r>
              <a:t>Nicht </a:t>
            </a:r>
            <a:r>
              <a:t>beobachtete</a:t>
            </a:r>
            <a:r>
              <a:t> </a:t>
            </a:r>
            <a:r>
              <a:t>Wohnungsmerkmale</a:t>
            </a:r>
            <a:r>
              <a:t>, </a:t>
            </a:r>
            <a:r>
              <a:t>Zeitversatz</a:t>
            </a:r>
            <a:r>
              <a:t>, </a:t>
            </a:r>
            <a:r>
              <a:t>begrenzte</a:t>
            </a:r>
            <a:r>
              <a:t> GREIX-</a:t>
            </a:r>
            <a:r>
              <a:t>Abdeckung</a:t>
            </a:r>
            <a:r>
              <a:t> und Coverage-</a:t>
            </a:r>
            <a:r>
              <a:t>Unterdeckung</a:t>
            </a:r>
            <a:r>
              <a:t> </a:t>
            </a:r>
            <a:r>
              <a:t>stehen</a:t>
            </a:r>
            <a:r>
              <a:t> </a:t>
            </a:r>
            <a:r>
              <a:t>sichtbar</a:t>
            </a:r>
            <a:r>
              <a:t> in App, Model Card und Risk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Q definiert den Nutzen, U prüft Daten und Skalierung, A wählt und optimiert, C bewertet ehrlich, K überträgt das Wissen in die App. Genau diese geschlossene Kette ist das Ergebnis.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Backup-Folie für Quellen- und Reproduzierbarkeitsfragen. Die Primärquellen und der vollständige Laufweg sind im öffentlichen Repository dokumentiert.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3d8c5189d48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780d44453a4155" /><Relationship Type="http://schemas.openxmlformats.org/officeDocument/2006/relationships/slideLayout" Target="/ppt/slideLayouts/slideLayout1.xml" Id="R7a87698f8c63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87698f8c63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7c56c24c043c3" /><Relationship Type="http://schemas.openxmlformats.org/officeDocument/2006/relationships/image" Target="/ppt/media/image.png" Id="R31b9f8e377e34005" /><Relationship Type="http://schemas.openxmlformats.org/officeDocument/2006/relationships/image" Target="/ppt/media/image.jpeg" Id="R004f2ac74c044a3a" /><Relationship Type="http://schemas.openxmlformats.org/officeDocument/2006/relationships/notesSlide" Target="/ppt/notesSlides/notesSlide1.xml" Id="R64c554a944e4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e509c11ba43f0" /><Relationship Type="http://schemas.openxmlformats.org/officeDocument/2006/relationships/notesSlide" Target="/ppt/notesSlides/notesSlide2.xml" Id="Rc2ab998f534d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99528ac2c426d" /><Relationship Type="http://schemas.openxmlformats.org/officeDocument/2006/relationships/notesSlide" Target="/ppt/notesSlides/notesSlide3.xml" Id="R8bd06d20133f4a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fd87adf64933" /><Relationship Type="http://schemas.openxmlformats.org/officeDocument/2006/relationships/notesSlide" Target="/ppt/notesSlides/notesSlide4.xml" Id="R1c8e9e9c8725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fc36bf344eed" /><Relationship Type="http://schemas.openxmlformats.org/officeDocument/2006/relationships/notesSlide" Target="/ppt/notesSlides/notesSlide5.xml" Id="R607fbd667008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516d072d54ce6" /><Relationship Type="http://schemas.openxmlformats.org/officeDocument/2006/relationships/notesSlide" Target="/ppt/notesSlides/notesSlide6.xml" Id="R00e62316b7824c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e46b1da874852" /><Relationship Type="http://schemas.openxmlformats.org/officeDocument/2006/relationships/notesSlide" Target="/ppt/notesSlides/notesSlide7.xml" Id="Rfa79b220b18548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b9838cb114c05" /><Relationship Type="http://schemas.openxmlformats.org/officeDocument/2006/relationships/chart" Target="/ppt/slides/charts/chart1.xml" Id="R3c77b21b82bd4957" /><Relationship Type="http://schemas.openxmlformats.org/officeDocument/2006/relationships/notesSlide" Target="/ppt/notesSlides/notesSlide8.xml" Id="Rc821705aadc845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4d4330824c3d" /><Relationship Type="http://schemas.openxmlformats.org/officeDocument/2006/relationships/chart" Target="/ppt/slides/charts/chart2.xml" Id="Rda22121e8a0448c0" /><Relationship Type="http://schemas.openxmlformats.org/officeDocument/2006/relationships/notesSlide" Target="/ppt/notesSlides/notesSlide9.xml" Id="R5f87fa11920344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b9aa2a03444c0" /><Relationship Type="http://schemas.openxmlformats.org/officeDocument/2006/relationships/chart" Target="/ppt/slides/charts/chart3.xml" Id="R63e7cc27b4ce4946" /><Relationship Type="http://schemas.openxmlformats.org/officeDocument/2006/relationships/notesSlide" Target="/ppt/notesSlides/notesSlide10.xml" Id="R1d7dd98b004e43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f605729764a57" /><Relationship Type="http://schemas.openxmlformats.org/officeDocument/2006/relationships/image" Target="/ppt/media/image.png" Id="R0d0eeef4d1ba4189" /><Relationship Type="http://schemas.openxmlformats.org/officeDocument/2006/relationships/image" Target="/ppt/media/image.jpeg" Id="R0d9a06380cd345d0" /><Relationship Type="http://schemas.openxmlformats.org/officeDocument/2006/relationships/notesSlide" Target="/ppt/notesSlides/notesSlide11.xml" Id="R51e28b4849c348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e3dd581c042af" /><Relationship Type="http://schemas.openxmlformats.org/officeDocument/2006/relationships/image" Target="/ppt/media/image.png" Id="R72b4d0c6c056461f" /><Relationship Type="http://schemas.openxmlformats.org/officeDocument/2006/relationships/image" Target="/ppt/media/image2.jpeg" Id="R9bad135d67bd45b0" /><Relationship Type="http://schemas.openxmlformats.org/officeDocument/2006/relationships/notesSlide" Target="/ppt/notesSlides/notesSlide12.xml" Id="R4c3c659af2e74a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f7db0f7e54538" /><Relationship Type="http://schemas.openxmlformats.org/officeDocument/2006/relationships/image" Target="/ppt/media/image.png" Id="Ree3c3bac76334e46" /><Relationship Type="http://schemas.openxmlformats.org/officeDocument/2006/relationships/image" Target="/ppt/media/image3.jpeg" Id="Rd6b632417a7346aa" /><Relationship Type="http://schemas.openxmlformats.org/officeDocument/2006/relationships/notesSlide" Target="/ppt/notesSlides/notesSlide13.xml" Id="R22e05aee9f114b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00d4225204af3" /><Relationship Type="http://schemas.openxmlformats.org/officeDocument/2006/relationships/notesSlide" Target="/ppt/notesSlides/notesSlide14.xml" Id="R1cd6ddc05e3f4f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72fe6eea04bef" /><Relationship Type="http://schemas.openxmlformats.org/officeDocument/2006/relationships/notesSlide" Target="/ppt/notesSlides/notesSlide15.xml" Id="R8d8208417b2d47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fee538084e7d" /><Relationship Type="http://schemas.openxmlformats.org/officeDocument/2006/relationships/notesSlide" Target="/ppt/notesSlides/notesSlide16.xml" Id="R0d9298bc7ad143a2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315CFF"/>
            </a:solidFill>
          </c:spPr>
          <c:dPt>
            <c:idx val="4"/>
            <c:spPr>
              <a:solidFill xmlns:a="http://schemas.openxmlformats.org/drawingml/2006/main">
                <a:srgbClr val="0F7B62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14213D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Median</c:v>
              </c:pt>
              <c:pt idx="1">
                <c:v>Ridge</c:v>
              </c:pt>
              <c:pt idx="2">
                <c:v>LinearSVR</c:v>
              </c:pt>
              <c:pt idx="3">
                <c:v>Tree</c:v>
              </c:pt>
              <c:pt idx="4">
                <c:v>MLP</c:v>
              </c:pt>
              <c:pt idx="5">
                <c:v>RF</c:v>
              </c:pt>
              <c:pt idx="6">
                <c:v>HGB</c:v>
              </c:pt>
            </c:strLit>
          </c:cat>
          <c:val>
            <c:numLit>
              <c:formatCode>0.000</c:formatCode>
              <c:ptCount val="7"/>
              <c:pt idx="0">
                <c:v>1.719</c:v>
              </c:pt>
              <c:pt idx="1">
                <c:v>1.632</c:v>
              </c:pt>
              <c:pt idx="2">
                <c:v>1.635</c:v>
              </c:pt>
              <c:pt idx="3">
                <c:v>1.393</c:v>
              </c:pt>
              <c:pt idx="4">
                <c:v>1.397</c:v>
              </c:pt>
              <c:pt idx="5">
                <c:v>1.32</c:v>
              </c:pt>
              <c:pt idx="6">
                <c:v>1.305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67587"/>
                    </a:solidFill>
                  </a:rPr>
                  <a:t>mittlerer MAE in €/m²</a:t>
                </a:r>
              </a:p>
            </c:rich>
          </c:tx>
          <c:layout>
            <c:manualLayout>
              <c:xMode val="edge"/>
              <c:yMode val="edge"/>
              <c:x val="0.001932367149758454"/>
              <c:y val="0.33355096237970255"/>
            </c:manualLayout>
          </c:layout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67587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1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58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1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38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7F9F8"/>
          </a:solidFill>
          <a:prstDash val="solid"/>
        </a:ln>
      </c:spPr>
    </c:plotArea>
    <c:plotVisOnly val="1"/>
  </c:chart>
  <c:spPr>
    <a:solidFill xmlns:a="http://schemas.openxmlformats.org/drawingml/2006/main">
      <a:srgbClr val="F7F9F8"/>
    </a:solidFill>
    <a:ln xmlns:a="http://schemas.openxmlformats.org/drawingml/2006/main" w="0">
      <a:solidFill>
        <a:srgbClr val="F7F9F8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667587"/>
            </a:solidFill>
          </c:spPr>
          <c:dPt>
            <c:idx val="1"/>
            <c:spPr>
              <a:solidFill xmlns:a="http://schemas.openxmlformats.org/drawingml/2006/main">
                <a:srgbClr val="0F7B62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4213D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Kategorien</c:v>
              </c:pt>
              <c:pt idx="1">
                <c:v>+ Lage</c:v>
              </c:pt>
              <c:pt idx="2">
                <c:v>+ Umfeld</c:v>
              </c:pt>
              <c:pt idx="3">
                <c:v>+ Qualität</c:v>
              </c:pt>
            </c:strLit>
          </c:cat>
          <c:val>
            <c:numLit>
              <c:formatCode>0.000</c:formatCode>
              <c:ptCount val="4"/>
              <c:pt idx="0">
                <c:v>1.645</c:v>
              </c:pt>
              <c:pt idx="1">
                <c:v>1.351</c:v>
              </c:pt>
              <c:pt idx="2">
                <c:v>1.315</c:v>
              </c:pt>
              <c:pt idx="3">
                <c:v>1.294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1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3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67587"/>
                    </a:solidFill>
                  </a:rPr>
                  <a:t>MAE in €/m²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67587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587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7F9F8"/>
          </a:solidFill>
          <a:prstDash val="solid"/>
        </a:ln>
      </c:spPr>
    </c:plotArea>
    <c:plotVisOnly val="1"/>
  </c:chart>
  <c:spPr>
    <a:solidFill xmlns:a="http://schemas.openxmlformats.org/drawingml/2006/main">
      <a:srgbClr val="F7F9F8"/>
    </a:solidFill>
    <a:ln xmlns:a="http://schemas.openxmlformats.org/drawingml/2006/main" w="0">
      <a:solidFill>
        <a:srgbClr val="F7F9F8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667587"/>
            </a:solidFill>
          </c:spPr>
          <c:dPt>
            <c:idx val="1"/>
            <c:spPr>
              <a:solidFill xmlns:a="http://schemas.openxmlformats.org/drawingml/2006/main">
                <a:srgbClr val="0F7B62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10213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Kategorie-Baseline</c:v>
              </c:pt>
              <c:pt idx="1">
                <c:v>MietCheck HGB</c:v>
              </c:pt>
            </c:strLit>
          </c:cat>
          <c:val>
            <c:numLit>
              <c:formatCode>General</c:formatCode>
              <c:ptCount val="2"/>
              <c:pt idx="0">
                <c:v>2.292</c:v>
              </c:pt>
              <c:pt idx="1">
                <c:v>1.413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E1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3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667587"/>
                    </a:solidFill>
                  </a:rPr>
                  <a:t>MAE in €/m²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667587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587"/>
                </a:solidFill>
              </a:defRPr>
            </a:pPr>
          </a:p>
        </c:txPr>
        <c:crossAx val="48650112"/>
        <c:crosses val="autoZero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7F9F8"/>
          </a:solidFill>
          <a:prstDash val="solid"/>
        </a:ln>
      </c:spPr>
    </c:plotArea>
    <c:plotVisOnly val="1"/>
  </c:chart>
  <c:spPr>
    <a:solidFill xmlns:a="http://schemas.openxmlformats.org/drawingml/2006/main">
      <a:srgbClr val="F7F9F8"/>
    </a:solidFill>
    <a:ln xmlns:a="http://schemas.openxmlformats.org/drawingml/2006/main" w="0">
      <a:solidFill>
        <a:srgbClr val="F7F9F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dark-panel">
            <a:extLst xmlns:a="http://schemas.openxmlformats.org/drawingml/2006/main">
              <a:ext uri="{FF2B5EF4-FFF2-40B4-BE49-F238E27FC236}">
                <a16:creationId xmlns:a16="http://schemas.microsoft.com/office/drawing/2014/main" id="{F0331D25-56BB-47BA-BAD7-64B03E71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57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ver-teal-panel">
            <a:extLst xmlns:a="http://schemas.openxmlformats.org/drawingml/2006/main">
              <a:ext uri="{FF2B5EF4-FFF2-40B4-BE49-F238E27FC236}">
                <a16:creationId xmlns:a16="http://schemas.microsoft.com/office/drawing/2014/main" id="{4A4EBC25-239D-4843-841C-EA12904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1295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2D0E047-3D79-4F46-8585-5C2E544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874AF73B-78C5-4659-A16F-F40E8AF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333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9C99A"/>
                </a:solidFill>
                <a:latin typeface="Arial"/>
                <a:ea typeface="Arial"/>
                <a:cs typeface="Arial"/>
              </a:defRPr>
            </a:pPr>
            <a:r>
              <a:t>MietCheck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A2825C0-0427-4D65-96F4-DCA33846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C8D3"/>
                </a:solidFill>
                <a:latin typeface="Arial"/>
                <a:ea typeface="Arial"/>
                <a:cs typeface="Arial"/>
              </a:defRPr>
            </a:pPr>
            <a:r>
              <a:t>Q → U → A¹/A²/A³ → C → K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B848AE-5642-4170-A7A6-DCFFBBD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MietCheck.
Von Big Data
zur Entscheidung.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0D8A79-F642-4A3D-90D2-A6CAAD4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DCE5EA"/>
                </a:solidFill>
                <a:latin typeface="Arial"/>
                <a:ea typeface="Arial"/>
                <a:cs typeface="Arial"/>
              </a:defRPr>
            </a:pPr>
            <a:r>
              <a:t>2,06 Mio. Zensuszeilen, räumlich validiertes Machine Learning und aktuelle GREIX-Angebotsmieten.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E18D4F40-3608-4072-A4F4-D16EF7FB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33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FC0CB"/>
                </a:solidFill>
                <a:latin typeface="Arial"/>
                <a:ea typeface="Arial"/>
                <a:cs typeface="Arial"/>
              </a:defRPr>
            </a:pPr>
            <a:r>
              <a:t>Nele Knaak · Matrikel-Nr.: [EINTRAGEN]
Prüfer/in: [EINTRAGEN] · Abgabe: [TT.MM.JJJJ]</a:t>
            </a:r>
          </a:p>
        </p:txBody>
      </p:sp>
      <p:sp>
        <p:nvSpPr>
          <p:cNvPr id="9" name="cover-image-back">
            <a:extLst xmlns:a="http://schemas.openxmlformats.org/drawingml/2006/main">
              <a:ext uri="{FF2B5EF4-FFF2-40B4-BE49-F238E27FC236}">
                <a16:creationId xmlns:a16="http://schemas.microsoft.com/office/drawing/2014/main" id="{FDDDF729-7B0B-4E5F-8864-12CD015E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"/>
            <a:ext cx="5543550" cy="58293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Grafik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f8e377e34005"/>
          <a:srcRect xmlns:a="http://schemas.openxmlformats.org/drawingml/2006/main" l="13781" t="0" r="13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495300"/>
            <a:ext cx="5238750" cy="5524500"/>
          </a:xfrm>
          <a:prstGeom xmlns:a="http://schemas.openxmlformats.org/drawingml/2006/main" prst="roundRect">
            <a:avLst>
              <a:gd name="adj" fmla="val 2909"/>
            </a:avLst>
          </a:prstGeom>
        </p:spPr>
      </p:pic>
      <p:pic>
        <p:nvPicPr>
          <p:cNvPr id="24" name="Grafik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f2ac74c044a3a"/>
          <a:srcRect xmlns:a="http://schemas.openxmlformats.org/drawingml/2006/main" l="13781" t="0" r="13781" b="0"/>
          <a:stretch xmlns:a="http://schemas.openxmlformats.org/drawingml/2006/main"/>
        </p:blipFill>
        <p:spPr>
          <a:xfrm xmlns:a="http://schemas.openxmlformats.org/drawingml/2006/main">
            <a:off x="6343650" y="495300"/>
            <a:ext cx="5238750" cy="5524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3390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2">
            <a:extLst xmlns:a="http://schemas.openxmlformats.org/drawingml/2006/main">
              <a:ext uri="{FF2B5EF4-FFF2-40B4-BE49-F238E27FC236}">
                <a16:creationId xmlns:a16="http://schemas.microsoft.com/office/drawing/2014/main" id="{6EC10815-DE82-41D8-9CEA-D482296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2">
            <a:extLst xmlns:a="http://schemas.openxmlformats.org/drawingml/2006/main">
              <a:ext uri="{FF2B5EF4-FFF2-40B4-BE49-F238E27FC236}">
                <a16:creationId xmlns:a16="http://schemas.microsoft.com/office/drawing/2014/main" id="{14AC3231-11AD-401F-A961-D4A2CCA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2">
            <a:extLst xmlns:a="http://schemas.openxmlformats.org/drawingml/2006/main">
              <a:ext uri="{FF2B5EF4-FFF2-40B4-BE49-F238E27FC236}">
                <a16:creationId xmlns:a16="http://schemas.microsoft.com/office/drawing/2014/main" id="{1AD3A4EE-75FF-4FD0-B581-34DAD77B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8CD777A9-E967-4772-BF44-1D119A27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 · Forschungsfrage: Was kostet ein Umzug wirklich?</a:t>
            </a:r>
          </a:p>
        </p:txBody>
      </p:sp>
      <p:sp>
        <p:nvSpPr>
          <p:cNvPr id="5" name="source-2">
            <a:extLst xmlns:a="http://schemas.openxmlformats.org/drawingml/2006/main">
              <a:ext uri="{FF2B5EF4-FFF2-40B4-BE49-F238E27FC236}">
                <a16:creationId xmlns:a16="http://schemas.microsoft.com/office/drawing/2014/main" id="{D53FF2FC-8014-4193-951D-3D269FA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66CF1F9F-CA7B-4C5F-BA46-0048457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7" name="three-lead">
            <a:extLst xmlns:a="http://schemas.openxmlformats.org/drawingml/2006/main">
              <a:ext uri="{FF2B5EF4-FFF2-40B4-BE49-F238E27FC236}">
                <a16:creationId xmlns:a16="http://schemas.microsoft.com/office/drawing/2014/main" id="{8636E47A-935C-4E78-A280-6615FCE6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Wie groß ist die Lücke zwischen lokalem Bestand, aktuellem Angebot und persönlicher Mietbelastung?</a:t>
            </a:r>
          </a:p>
        </p:txBody>
      </p:sp>
      <p:cxnSp>
        <p:nvCxnSpPr>
          <p:cNvPr id="67" name="sep-one"/>
          <p:cNvCxnSpPr/>
          <p:nvPr/>
        </p:nvCxnSpPr>
        <p:spPr>
          <a:xfrm xmlns:a="http://schemas.openxmlformats.org/drawingml/2006/main">
            <a:off x="4029075" y="2381250"/>
            <a:ext cx="286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cxnSp>
        <p:nvCxnSpPr>
          <p:cNvPr id="68" name="sep-two"/>
          <p:cNvCxnSpPr/>
          <p:nvPr/>
        </p:nvCxnSpPr>
        <p:spPr>
          <a:xfrm xmlns:a="http://schemas.openxmlformats.org/drawingml/2006/main">
            <a:off x="7829550" y="2381250"/>
            <a:ext cx="286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sp>
        <p:nvSpPr>
          <p:cNvPr id="10" name="accent-0">
            <a:extLst xmlns:a="http://schemas.openxmlformats.org/drawingml/2006/main">
              <a:ext uri="{FF2B5EF4-FFF2-40B4-BE49-F238E27FC236}">
                <a16:creationId xmlns:a16="http://schemas.microsoft.com/office/drawing/2014/main" id="{BFE1C8DB-F5D8-44DE-BFDD-3E67F71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ality-label-0">
            <a:extLst xmlns:a="http://schemas.openxmlformats.org/drawingml/2006/main">
              <a:ext uri="{FF2B5EF4-FFF2-40B4-BE49-F238E27FC236}">
                <a16:creationId xmlns:a16="http://schemas.microsoft.com/office/drawing/2014/main" id="{42FE8853-3980-4BBC-9B60-9CA9D92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BESTANDSANKER</a:t>
            </a:r>
          </a:p>
        </p:txBody>
      </p:sp>
      <p:sp>
        <p:nvSpPr>
          <p:cNvPr id="12" name="reality-stat-0">
            <a:extLst xmlns:a="http://schemas.openxmlformats.org/drawingml/2006/main">
              <a:ext uri="{FF2B5EF4-FFF2-40B4-BE49-F238E27FC236}">
                <a16:creationId xmlns:a16="http://schemas.microsoft.com/office/drawing/2014/main" id="{CC65C230-C40D-41C0-93C6-675ECD73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15.05.2022</a:t>
            </a:r>
          </a:p>
        </p:txBody>
      </p:sp>
      <p:sp>
        <p:nvSpPr>
          <p:cNvPr id="13" name="reality-body-0">
            <a:extLst xmlns:a="http://schemas.openxmlformats.org/drawingml/2006/main">
              <a:ext uri="{FF2B5EF4-FFF2-40B4-BE49-F238E27FC236}">
                <a16:creationId xmlns:a16="http://schemas.microsoft.com/office/drawing/2014/main" id="{691211E7-F0A6-4D5E-893B-8FEBCFA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3095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ML-Schätzung im lokalen Zensus-Wohnungsbestand</a:t>
            </a:r>
          </a:p>
        </p:txBody>
      </p:sp>
      <p:sp>
        <p:nvSpPr>
          <p:cNvPr id="14" name="accent-1">
            <a:extLst xmlns:a="http://schemas.openxmlformats.org/drawingml/2006/main">
              <a:ext uri="{FF2B5EF4-FFF2-40B4-BE49-F238E27FC236}">
                <a16:creationId xmlns:a16="http://schemas.microsoft.com/office/drawing/2014/main" id="{1242E35F-4239-4B8F-92D0-BFAF72C4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81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F"/>
          </a:solidFill>
          <a:ln xmlns:a="http://schemas.openxmlformats.org/drawingml/2006/main" w="0">
            <a:solidFill>
              <a:srgbClr val="315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ality-label-1">
            <a:extLst xmlns:a="http://schemas.openxmlformats.org/drawingml/2006/main">
              <a:ext uri="{FF2B5EF4-FFF2-40B4-BE49-F238E27FC236}">
                <a16:creationId xmlns:a16="http://schemas.microsoft.com/office/drawing/2014/main" id="{1760BCF2-67ED-4182-BD7A-BB9C6D83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146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ANGEBOTSMARKT</a:t>
            </a:r>
          </a:p>
        </p:txBody>
      </p:sp>
      <p:sp>
        <p:nvSpPr>
          <p:cNvPr id="16" name="reality-stat-1">
            <a:extLst xmlns:a="http://schemas.openxmlformats.org/drawingml/2006/main">
              <a:ext uri="{FF2B5EF4-FFF2-40B4-BE49-F238E27FC236}">
                <a16:creationId xmlns:a16="http://schemas.microsoft.com/office/drawing/2014/main" id="{28ACE1E8-FC3F-452A-9096-9EA211AE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289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2026-Q1</a:t>
            </a:r>
          </a:p>
        </p:txBody>
      </p:sp>
      <p:sp>
        <p:nvSpPr>
          <p:cNvPr id="17" name="reality-body-1">
            <a:extLst xmlns:a="http://schemas.openxmlformats.org/drawingml/2006/main">
              <a:ext uri="{FF2B5EF4-FFF2-40B4-BE49-F238E27FC236}">
                <a16:creationId xmlns:a16="http://schemas.microsoft.com/office/drawing/2014/main" id="{E4F69F57-42E1-434E-9743-45EDE7E2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3095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GREIX-Median plus Marktstreuung heutiger Inserate</a:t>
            </a:r>
          </a:p>
        </p:txBody>
      </p:sp>
      <p:sp>
        <p:nvSpPr>
          <p:cNvPr id="18" name="accent-2">
            <a:extLst xmlns:a="http://schemas.openxmlformats.org/drawingml/2006/main">
              <a:ext uri="{FF2B5EF4-FFF2-40B4-BE49-F238E27FC236}">
                <a16:creationId xmlns:a16="http://schemas.microsoft.com/office/drawing/2014/main" id="{609D948D-D3A1-4A59-AD8C-20504F75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ality-label-2">
            <a:extLst xmlns:a="http://schemas.openxmlformats.org/drawingml/2006/main">
              <a:ext uri="{FF2B5EF4-FFF2-40B4-BE49-F238E27FC236}">
                <a16:creationId xmlns:a16="http://schemas.microsoft.com/office/drawing/2014/main" id="{87AE13FF-99B5-465B-ADF0-1372DDD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85D3F"/>
                </a:solidFill>
                <a:latin typeface="Arial"/>
                <a:ea typeface="Arial"/>
                <a:cs typeface="Arial"/>
              </a:defRPr>
            </a:pPr>
            <a:r>
              <a:t>PERSÖNLICH</a:t>
            </a:r>
          </a:p>
        </p:txBody>
      </p:sp>
      <p:sp>
        <p:nvSpPr>
          <p:cNvPr id="20" name="reality-stat-2">
            <a:extLst xmlns:a="http://schemas.openxmlformats.org/drawingml/2006/main">
              <a:ext uri="{FF2B5EF4-FFF2-40B4-BE49-F238E27FC236}">
                <a16:creationId xmlns:a16="http://schemas.microsoft.com/office/drawing/2014/main" id="{E49F3B35-4F8F-4587-819B-681D03E7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Deine Miete</a:t>
            </a:r>
          </a:p>
        </p:txBody>
      </p:sp>
      <p:sp>
        <p:nvSpPr>
          <p:cNvPr id="21" name="reality-body-2">
            <a:extLst xmlns:a="http://schemas.openxmlformats.org/drawingml/2006/main">
              <a:ext uri="{FF2B5EF4-FFF2-40B4-BE49-F238E27FC236}">
                <a16:creationId xmlns:a16="http://schemas.microsoft.com/office/drawing/2014/main" id="{1D749FD9-2126-4183-8B50-8943098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3095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Vertragsmiete, Fläche und Haushaltsnettoeinkommen</a:t>
            </a:r>
          </a:p>
        </p:txBody>
      </p:sp>
      <p:sp>
        <p:nvSpPr>
          <p:cNvPr id="22" name="hook-band">
            <a:extLst xmlns:a="http://schemas.openxmlformats.org/drawingml/2006/main">
              <a:ext uri="{FF2B5EF4-FFF2-40B4-BE49-F238E27FC236}">
                <a16:creationId xmlns:a16="http://schemas.microsoft.com/office/drawing/2014/main" id="{68495040-5D02-4BA2-923C-006DC67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0">
            <a:solidFill>
              <a:srgbClr val="DDF5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hook-copy">
            <a:extLst xmlns:a="http://schemas.openxmlformats.org/drawingml/2006/main">
              <a:ext uri="{FF2B5EF4-FFF2-40B4-BE49-F238E27FC236}">
                <a16:creationId xmlns:a16="http://schemas.microsoft.com/office/drawing/2014/main" id="{71BAF13C-DBC0-4963-973E-66F0EC0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57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USP: Der Umzugsaufschlag verbindet die drei Realitäten – mit Datenstand, Markt-IQR und Modellband.</a:t>
            </a:r>
          </a:p>
        </p:txBody>
      </p:sp>
    </p:spTree>
    <p:extLst>
      <p:ext uri="{BB962C8B-B14F-4D97-AF65-F5344CB8AC3E}">
        <p14:creationId xmlns:p14="http://schemas.microsoft.com/office/powerpoint/2010/main" val="851270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3">
            <a:extLst xmlns:a="http://schemas.openxmlformats.org/drawingml/2006/main">
              <a:ext uri="{FF2B5EF4-FFF2-40B4-BE49-F238E27FC236}">
                <a16:creationId xmlns:a16="http://schemas.microsoft.com/office/drawing/2014/main" id="{3349ACC1-86AB-4260-802A-9D804214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3">
            <a:extLst xmlns:a="http://schemas.openxmlformats.org/drawingml/2006/main">
              <a:ext uri="{FF2B5EF4-FFF2-40B4-BE49-F238E27FC236}">
                <a16:creationId xmlns:a16="http://schemas.microsoft.com/office/drawing/2014/main" id="{43F911F0-300C-42A2-A31B-A9DB55A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3">
            <a:extLst xmlns:a="http://schemas.openxmlformats.org/drawingml/2006/main">
              <a:ext uri="{FF2B5EF4-FFF2-40B4-BE49-F238E27FC236}">
                <a16:creationId xmlns:a16="http://schemas.microsoft.com/office/drawing/2014/main" id="{F2C4DF9A-DA9A-4B44-ACC7-8E11DD0D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D926BDD7-3534-460D-AA46-41C45CE8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 · Der USP ist die Kombination – mit klaren Gates</a:t>
            </a:r>
          </a:p>
        </p:txBody>
      </p:sp>
      <p:sp>
        <p:nvSpPr>
          <p:cNvPr id="5" name="source-3">
            <a:extLst xmlns:a="http://schemas.openxmlformats.org/drawingml/2006/main">
              <a:ext uri="{FF2B5EF4-FFF2-40B4-BE49-F238E27FC236}">
                <a16:creationId xmlns:a16="http://schemas.microsoft.com/office/drawing/2014/main" id="{6D1E651A-8D24-4BDA-BAAE-7F7A733A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Q-Gates vor dem finalen Test: ≥2 Mio. Zeilen · ≥7 Kandidaten inkl. Baseline · Spatial Holdout · ≥15 % MAE-Gewinn.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48F37945-AAEE-4074-A7DA-6720A7AE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7" name="competitor-lead">
            <a:extLst xmlns:a="http://schemas.openxmlformats.org/drawingml/2006/main">
              <a:ext uri="{FF2B5EF4-FFF2-40B4-BE49-F238E27FC236}">
                <a16:creationId xmlns:a16="http://schemas.microsoft.com/office/drawing/2014/main" id="{93A2B095-BBFF-4A39-A18E-4C4F2A54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Kein geprüftes Angebot verbindet Bestand, aktuellen Markt, persönliche Belastung, Unsicherheit und offene ML-Methode.</a:t>
            </a:r>
          </a:p>
        </p:txBody>
      </p:sp>
      <p:graphicFrame>
        <p:nvGraphicFramePr>
          <p:cNvPr id="18" name="Tabelle 17"/>
          <p:cNvGraphicFramePr/>
          <p:nvPr/>
        </p:nvGraphicFramePr>
        <p:xfrm>
          <a:off xmlns:a="http://schemas.openxmlformats.org/drawingml/2006/main" x="457200" y="2133600"/>
          <a:ext xmlns:a="http://schemas.openxmlformats.org/drawingml/2006/main" cx="110490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24150"/>
                <a:gridCol w="1333500"/>
                <a:gridCol w="1333500"/>
                <a:gridCol w="1485900"/>
                <a:gridCol w="1809750"/>
                <a:gridCol w="2362200"/>
              </a:tblGrid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Angebot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Bestand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aktuell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persönlich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Unsicherheit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offene ML-Methode</a:t>
                      </a:r>
                    </a:p>
                  </a:txBody>
                  <a:tcPr marL="95250" marR="95250" marT="95250" marB="95250">
                    <a:solidFill>
                      <a:srgbClr val="10213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Destatis-Vergleich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Ja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Teilweise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Immowelt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Ja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Teilweise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Immolyze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unklar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Ja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Teilweise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nicht offen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Kommunale Mietspiegel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Ja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Nein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Ja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138"/>
                          </a:solidFill>
                        </a:rPr>
                        <a:t>unterschiedlich</a:t>
                      </a:r>
                    </a:p>
                  </a:txBody>
                  <a:tcPr marL="95250" marR="9525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MietCheck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Ja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Ja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Ja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Ja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B62"/>
                          </a:solidFill>
                        </a:rPr>
                        <a:t>Ja</a:t>
                      </a:r>
                    </a:p>
                  </a:txBody>
                  <a:tcPr marL="95250" marR="95250" marT="95250" marB="95250">
                    <a:solidFill>
                      <a:srgbClr val="DDF5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747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header-11">
            <a:extLst xmlns:a="http://schemas.openxmlformats.org/drawingml/2006/main">
              <a:ext uri="{FF2B5EF4-FFF2-40B4-BE49-F238E27FC236}">
                <a16:creationId xmlns:a16="http://schemas.microsoft.com/office/drawing/2014/main" id="{69C0D3BE-8666-42D8-A511-6D32A78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1">
            <a:extLst xmlns:a="http://schemas.openxmlformats.org/drawingml/2006/main">
              <a:ext uri="{FF2B5EF4-FFF2-40B4-BE49-F238E27FC236}">
                <a16:creationId xmlns:a16="http://schemas.microsoft.com/office/drawing/2014/main" id="{2241EBF9-3B9C-45FA-BF42-71FDB3E5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1">
            <a:extLst xmlns:a="http://schemas.openxmlformats.org/drawingml/2006/main">
              <a:ext uri="{FF2B5EF4-FFF2-40B4-BE49-F238E27FC236}">
                <a16:creationId xmlns:a16="http://schemas.microsoft.com/office/drawing/2014/main" id="{4545EEF1-C021-4BA2-9408-E9F43FE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6F7FA0BD-7285-4198-90B3-A6B9DEB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 · Zielgruppen: Wer profitiert von MietCheck?</a:t>
            </a:r>
          </a:p>
        </p:txBody>
      </p:sp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960D00F3-3CAE-4A61-B148-62C5D45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E79274EB-7947-41C3-8A02-3F03F43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7" name="limits-lead">
            <a:extLst xmlns:a="http://schemas.openxmlformats.org/drawingml/2006/main">
              <a:ext uri="{FF2B5EF4-FFF2-40B4-BE49-F238E27FC236}">
                <a16:creationId xmlns:a16="http://schemas.microsoft.com/office/drawing/2014/main" id="{A2974C9F-7C28-4462-8412-716EF76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Vier Zielgruppen, vier Entscheidungen – dieselben drei Mietrealitäten werden jeweils anders relevant.</a:t>
            </a:r>
          </a:p>
        </p:txBody>
      </p:sp>
      <p:cxnSp>
        <p:nvCxnSpPr>
          <p:cNvPr id="68" name="limits-sep"/>
          <p:cNvCxnSpPr/>
          <p:nvPr/>
        </p:nvCxnSpPr>
        <p:spPr>
          <a:xfrm xmlns:a="http://schemas.openxmlformats.org/drawingml/2006/main">
            <a:off x="6096000" y="2133600"/>
            <a:ext cx="286" cy="3486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sp>
        <p:nvSpPr>
          <p:cNvPr id="9" name="limits-left-title">
            <a:extLst xmlns:a="http://schemas.openxmlformats.org/drawingml/2006/main">
              <a:ext uri="{FF2B5EF4-FFF2-40B4-BE49-F238E27FC236}">
                <a16:creationId xmlns:a16="http://schemas.microsoft.com/office/drawing/2014/main" id="{032A934B-C847-40C6-A537-458E8AE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Zielgruppe &amp; Entscheidung</a:t>
            </a:r>
          </a:p>
        </p:txBody>
      </p:sp>
      <p:sp>
        <p:nvSpPr>
          <p:cNvPr id="10" name="limits-right-title">
            <a:extLst xmlns:a="http://schemas.openxmlformats.org/drawingml/2006/main">
              <a:ext uri="{FF2B5EF4-FFF2-40B4-BE49-F238E27FC236}">
                <a16:creationId xmlns:a16="http://schemas.microsoft.com/office/drawing/2014/main" id="{8BF5A322-F572-4231-8032-AE559B8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38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Konkreter Mehrwert</a:t>
            </a:r>
          </a:p>
        </p:txBody>
      </p:sp>
      <p:sp>
        <p:nvSpPr>
          <p:cNvPr id="11" name="limit-dot-0">
            <a:extLst xmlns:a="http://schemas.openxmlformats.org/drawingml/2006/main">
              <a:ext uri="{FF2B5EF4-FFF2-40B4-BE49-F238E27FC236}">
                <a16:creationId xmlns:a16="http://schemas.microsoft.com/office/drawing/2014/main" id="{DDD37B09-8035-4B89-B47E-734E7790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limit-copy-0">
            <a:extLst xmlns:a="http://schemas.openxmlformats.org/drawingml/2006/main">
              <a:ext uri="{FF2B5EF4-FFF2-40B4-BE49-F238E27FC236}">
                <a16:creationId xmlns:a16="http://schemas.microsoft.com/office/drawing/2014/main" id="{4AC89F28-5CCE-4F3A-AA44-5D84CBE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Bestandsmietende · Bleiben oder umziehen?</a:t>
            </a:r>
          </a:p>
        </p:txBody>
      </p:sp>
      <p:sp>
        <p:nvSpPr>
          <p:cNvPr id="13" name="mit-dot-0">
            <a:extLst xmlns:a="http://schemas.openxmlformats.org/drawingml/2006/main">
              <a:ext uri="{FF2B5EF4-FFF2-40B4-BE49-F238E27FC236}">
                <a16:creationId xmlns:a16="http://schemas.microsoft.com/office/drawing/2014/main" id="{E4713A01-42DB-4F73-AA07-658794D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mit-copy-0">
            <a:extLst xmlns:a="http://schemas.openxmlformats.org/drawingml/2006/main">
              <a:ext uri="{FF2B5EF4-FFF2-40B4-BE49-F238E27FC236}">
                <a16:creationId xmlns:a16="http://schemas.microsoft.com/office/drawing/2014/main" id="{CBE6039B-582C-46A1-A37C-8BA5B2B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eigene Miete vs. Bestand vs. aktuelles Angebot</a:t>
            </a:r>
          </a:p>
        </p:txBody>
      </p:sp>
      <p:sp>
        <p:nvSpPr>
          <p:cNvPr id="15" name="limit-dot-1">
            <a:extLst xmlns:a="http://schemas.openxmlformats.org/drawingml/2006/main">
              <a:ext uri="{FF2B5EF4-FFF2-40B4-BE49-F238E27FC236}">
                <a16:creationId xmlns:a16="http://schemas.microsoft.com/office/drawing/2014/main" id="{735C978F-BD3A-4A2F-9F0A-5173673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mit-copy-1">
            <a:extLst xmlns:a="http://schemas.openxmlformats.org/drawingml/2006/main">
              <a:ext uri="{FF2B5EF4-FFF2-40B4-BE49-F238E27FC236}">
                <a16:creationId xmlns:a16="http://schemas.microsoft.com/office/drawing/2014/main" id="{D421D142-943C-4107-972A-97DC39A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Wohnungssuchende · Welche Mehrkosten sind plausibel?</a:t>
            </a:r>
          </a:p>
        </p:txBody>
      </p:sp>
      <p:sp>
        <p:nvSpPr>
          <p:cNvPr id="17" name="mit-dot-1">
            <a:extLst xmlns:a="http://schemas.openxmlformats.org/drawingml/2006/main">
              <a:ext uri="{FF2B5EF4-FFF2-40B4-BE49-F238E27FC236}">
                <a16:creationId xmlns:a16="http://schemas.microsoft.com/office/drawing/2014/main" id="{67B7C1AB-9E09-4067-89BC-3ED8B76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mit-copy-1">
            <a:extLst xmlns:a="http://schemas.openxmlformats.org/drawingml/2006/main">
              <a:ext uri="{FF2B5EF4-FFF2-40B4-BE49-F238E27FC236}">
                <a16:creationId xmlns:a16="http://schemas.microsoft.com/office/drawing/2014/main" id="{F8644C7B-BF1E-48BC-B788-FD05FE1D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Umzugsaufschlag in €/m², Euro und Prozent</a:t>
            </a:r>
          </a:p>
        </p:txBody>
      </p:sp>
      <p:sp>
        <p:nvSpPr>
          <p:cNvPr id="19" name="limit-dot-2">
            <a:extLst xmlns:a="http://schemas.openxmlformats.org/drawingml/2006/main">
              <a:ext uri="{FF2B5EF4-FFF2-40B4-BE49-F238E27FC236}">
                <a16:creationId xmlns:a16="http://schemas.microsoft.com/office/drawing/2014/main" id="{B72C6549-DA74-4AA6-9F21-90E3D430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mit-copy-2">
            <a:extLst xmlns:a="http://schemas.openxmlformats.org/drawingml/2006/main">
              <a:ext uri="{FF2B5EF4-FFF2-40B4-BE49-F238E27FC236}">
                <a16:creationId xmlns:a16="http://schemas.microsoft.com/office/drawing/2014/main" id="{FD9A2864-D2E7-4D66-A7E6-A1733FD4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Studierende &amp; Berufseinsteigende · Wie belastet die Miete?</a:t>
            </a:r>
          </a:p>
        </p:txBody>
      </p:sp>
      <p:sp>
        <p:nvSpPr>
          <p:cNvPr id="21" name="mit-dot-2">
            <a:extLst xmlns:a="http://schemas.openxmlformats.org/drawingml/2006/main">
              <a:ext uri="{FF2B5EF4-FFF2-40B4-BE49-F238E27FC236}">
                <a16:creationId xmlns:a16="http://schemas.microsoft.com/office/drawing/2014/main" id="{DBB39BF6-D06F-4604-9961-5696EB5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mit-copy-2">
            <a:extLst xmlns:a="http://schemas.openxmlformats.org/drawingml/2006/main">
              <a:ext uri="{FF2B5EF4-FFF2-40B4-BE49-F238E27FC236}">
                <a16:creationId xmlns:a16="http://schemas.microsoft.com/office/drawing/2014/main" id="{DEA41A41-08DC-484A-B0EF-4580F66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Kaltmietanteil am Haushaltsnettoeinkommen</a:t>
            </a:r>
          </a:p>
        </p:txBody>
      </p:sp>
      <p:sp>
        <p:nvSpPr>
          <p:cNvPr id="23" name="limit-dot-3">
            <a:extLst xmlns:a="http://schemas.openxmlformats.org/drawingml/2006/main">
              <a:ext uri="{FF2B5EF4-FFF2-40B4-BE49-F238E27FC236}">
                <a16:creationId xmlns:a16="http://schemas.microsoft.com/office/drawing/2014/main" id="{E1065956-2E0E-4DBC-BD7C-899E8FC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mit-copy-3">
            <a:extLst xmlns:a="http://schemas.openxmlformats.org/drawingml/2006/main">
              <a:ext uri="{FF2B5EF4-FFF2-40B4-BE49-F238E27FC236}">
                <a16:creationId xmlns:a16="http://schemas.microsoft.com/office/drawing/2014/main" id="{4AF22B09-425D-4468-B63E-058F57B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Dateninteressierte · Wie unterscheiden sich Märkte?</a:t>
            </a:r>
          </a:p>
        </p:txBody>
      </p:sp>
      <p:sp>
        <p:nvSpPr>
          <p:cNvPr id="25" name="mit-dot-3">
            <a:extLst xmlns:a="http://schemas.openxmlformats.org/drawingml/2006/main">
              <a:ext uri="{FF2B5EF4-FFF2-40B4-BE49-F238E27FC236}">
                <a16:creationId xmlns:a16="http://schemas.microsoft.com/office/drawing/2014/main" id="{D1BA2AFD-3626-4EBE-AA4E-4B1BEF4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it-copy-3">
            <a:extLst xmlns:a="http://schemas.openxmlformats.org/drawingml/2006/main">
              <a:ext uri="{FF2B5EF4-FFF2-40B4-BE49-F238E27FC236}">
                <a16:creationId xmlns:a16="http://schemas.microsoft.com/office/drawing/2014/main" id="{D17182A3-0D2D-4DF2-A106-4F15042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Zeitreihe, Markt-IQR, Methodik und Grenzen</a:t>
            </a:r>
          </a:p>
        </p:txBody>
      </p:sp>
      <p:sp>
        <p:nvSpPr>
          <p:cNvPr id="27" name="not-advice">
            <a:extLst xmlns:a="http://schemas.openxmlformats.org/drawingml/2006/main">
              <a:ext uri="{FF2B5EF4-FFF2-40B4-BE49-F238E27FC236}">
                <a16:creationId xmlns:a16="http://schemas.microsoft.com/office/drawing/2014/main" id="{D8247965-B413-4039-8BA9-83240F1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not-advice-text">
            <a:extLst xmlns:a="http://schemas.openxmlformats.org/drawingml/2006/main">
              <a:ext uri="{FF2B5EF4-FFF2-40B4-BE49-F238E27FC236}">
                <a16:creationId xmlns:a16="http://schemas.microsoft.com/office/drawing/2014/main" id="{DD9BC2A2-4C9F-4C0A-B305-B70F79A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Entscheidungsunterstützung statt Scheingenauigkeit · persönliche Eingaben werden nicht gespeichert</a:t>
            </a:r>
          </a:p>
        </p:txBody>
      </p:sp>
    </p:spTree>
    <p:extLst>
      <p:ext uri="{BB962C8B-B14F-4D97-AF65-F5344CB8AC3E}">
        <p14:creationId xmlns:p14="http://schemas.microsoft.com/office/powerpoint/2010/main" val="54189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header-4">
            <a:extLst xmlns:a="http://schemas.openxmlformats.org/drawingml/2006/main">
              <a:ext uri="{FF2B5EF4-FFF2-40B4-BE49-F238E27FC236}">
                <a16:creationId xmlns:a16="http://schemas.microsoft.com/office/drawing/2014/main" id="{FE2DFF40-1733-4D8F-BFFA-7CDFFE7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4">
            <a:extLst xmlns:a="http://schemas.openxmlformats.org/drawingml/2006/main">
              <a:ext uri="{FF2B5EF4-FFF2-40B4-BE49-F238E27FC236}">
                <a16:creationId xmlns:a16="http://schemas.microsoft.com/office/drawing/2014/main" id="{45B1232D-4AF4-4EB8-80EE-FE18AE03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4">
            <a:extLst xmlns:a="http://schemas.openxmlformats.org/drawingml/2006/main">
              <a:ext uri="{FF2B5EF4-FFF2-40B4-BE49-F238E27FC236}">
                <a16:creationId xmlns:a16="http://schemas.microsoft.com/office/drawing/2014/main" id="{6E886B2A-B946-49AB-BF05-FEF7E29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6A54FC6A-69C5-44E3-86AF-F350F72A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 · 2,06 Mio. Rasterwerte – mit prüfbarer Herkunft</a:t>
            </a:r>
          </a:p>
        </p:txBody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02A83C39-71E7-4AF8-820C-A1CEF461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Quellen: Statistische Ämter des Bundes und der Länder, Zensus 2022; Kiel Institut / VALUE; eigene Verarbeitung.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F869F740-D3B4-4B97-9CB7-34817E9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7" name="data-lead">
            <a:extLst xmlns:a="http://schemas.openxmlformats.org/drawingml/2006/main">
              <a:ext uri="{FF2B5EF4-FFF2-40B4-BE49-F238E27FC236}">
                <a16:creationId xmlns:a16="http://schemas.microsoft.com/office/drawing/2014/main" id="{B4271CAE-9283-43AA-90A6-AB4A3297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04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Sieben Zensusprodukte bilden die ML-Basis; GREIX bleibt zeitlich und methodisch getrennt.</a:t>
            </a:r>
          </a:p>
        </p:txBody>
      </p:sp>
      <p:sp>
        <p:nvSpPr>
          <p:cNvPr id="8" name="data-panel-0">
            <a:extLst xmlns:a="http://schemas.openxmlformats.org/drawingml/2006/main">
              <a:ext uri="{FF2B5EF4-FFF2-40B4-BE49-F238E27FC236}">
                <a16:creationId xmlns:a16="http://schemas.microsoft.com/office/drawing/2014/main" id="{1A7A264D-3017-4E57-A9D9-ED7AA064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448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data-stat-0">
            <a:extLst xmlns:a="http://schemas.openxmlformats.org/drawingml/2006/main">
              <a:ext uri="{FF2B5EF4-FFF2-40B4-BE49-F238E27FC236}">
                <a16:creationId xmlns:a16="http://schemas.microsoft.com/office/drawing/2014/main" id="{32587D6D-F09F-409E-9CA3-4E90B2E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2,06 Mio.</a:t>
            </a:r>
          </a:p>
        </p:txBody>
      </p:sp>
      <p:sp>
        <p:nvSpPr>
          <p:cNvPr id="10" name="data-label-0">
            <a:extLst xmlns:a="http://schemas.openxmlformats.org/drawingml/2006/main">
              <a:ext uri="{FF2B5EF4-FFF2-40B4-BE49-F238E27FC236}">
                <a16:creationId xmlns:a16="http://schemas.microsoft.com/office/drawing/2014/main" id="{4A5682B2-8B7B-4D08-96C8-DD51B669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Modellzeilen</a:t>
            </a:r>
          </a:p>
        </p:txBody>
      </p:sp>
      <p:sp>
        <p:nvSpPr>
          <p:cNvPr id="11" name="data-detail-0">
            <a:extLst xmlns:a="http://schemas.openxmlformats.org/drawingml/2006/main">
              <a:ext uri="{FF2B5EF4-FFF2-40B4-BE49-F238E27FC236}">
                <a16:creationId xmlns:a16="http://schemas.microsoft.com/office/drawing/2014/main" id="{14D1CEDA-E73D-4630-9195-FA0745FD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Ziel × Baualter × Wohnungsgröße</a:t>
            </a:r>
          </a:p>
        </p:txBody>
      </p:sp>
      <p:sp>
        <p:nvSpPr>
          <p:cNvPr id="12" name="data-panel-1">
            <a:extLst xmlns:a="http://schemas.openxmlformats.org/drawingml/2006/main">
              <a:ext uri="{FF2B5EF4-FFF2-40B4-BE49-F238E27FC236}">
                <a16:creationId xmlns:a16="http://schemas.microsoft.com/office/drawing/2014/main" id="{F10AEE68-84F0-4365-9278-90327CB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24100"/>
            <a:ext cx="3448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data-stat-1">
            <a:extLst xmlns:a="http://schemas.openxmlformats.org/drawingml/2006/main">
              <a:ext uri="{FF2B5EF4-FFF2-40B4-BE49-F238E27FC236}">
                <a16:creationId xmlns:a16="http://schemas.microsoft.com/office/drawing/2014/main" id="{A4A6871E-A7CB-4F82-81A4-A88742D1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7175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1,18 Mio.</a:t>
            </a:r>
          </a:p>
        </p:txBody>
      </p:sp>
      <p:sp>
        <p:nvSpPr>
          <p:cNvPr id="14" name="data-label-1">
            <a:extLst xmlns:a="http://schemas.openxmlformats.org/drawingml/2006/main">
              <a:ext uri="{FF2B5EF4-FFF2-40B4-BE49-F238E27FC236}">
                <a16:creationId xmlns:a16="http://schemas.microsoft.com/office/drawing/2014/main" id="{3CF622A1-9CA1-4097-B131-8FBFA09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480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eindeutige Zellen</a:t>
            </a:r>
          </a:p>
        </p:txBody>
      </p:sp>
      <p:sp>
        <p:nvSpPr>
          <p:cNvPr id="15" name="data-detail-1">
            <a:extLst xmlns:a="http://schemas.openxmlformats.org/drawingml/2006/main">
              <a:ext uri="{FF2B5EF4-FFF2-40B4-BE49-F238E27FC236}">
                <a16:creationId xmlns:a16="http://schemas.microsoft.com/office/drawing/2014/main" id="{0FE048F3-49E8-4E3A-B46C-4BEC1355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100-m-Gitter mit räumlicher Struktur</a:t>
            </a:r>
          </a:p>
        </p:txBody>
      </p:sp>
      <p:sp>
        <p:nvSpPr>
          <p:cNvPr id="16" name="data-panel-2">
            <a:extLst xmlns:a="http://schemas.openxmlformats.org/drawingml/2006/main">
              <a:ext uri="{FF2B5EF4-FFF2-40B4-BE49-F238E27FC236}">
                <a16:creationId xmlns:a16="http://schemas.microsoft.com/office/drawing/2014/main" id="{BC04BDC7-A819-4F3B-93E9-3CF6222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3448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data-stat-2">
            <a:extLst xmlns:a="http://schemas.openxmlformats.org/drawingml/2006/main">
              <a:ext uri="{FF2B5EF4-FFF2-40B4-BE49-F238E27FC236}">
                <a16:creationId xmlns:a16="http://schemas.microsoft.com/office/drawing/2014/main" id="{9CF2B0B9-261F-4B0E-B36B-F5B96D4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2026-Q1</a:t>
            </a:r>
          </a:p>
        </p:txBody>
      </p:sp>
      <p:sp>
        <p:nvSpPr>
          <p:cNvPr id="18" name="data-label-2">
            <a:extLst xmlns:a="http://schemas.openxmlformats.org/drawingml/2006/main">
              <a:ext uri="{FF2B5EF4-FFF2-40B4-BE49-F238E27FC236}">
                <a16:creationId xmlns:a16="http://schemas.microsoft.com/office/drawing/2014/main" id="{595E184D-7D4E-4DEC-B4F9-4D4FE44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aktuelle Referenz</a:t>
            </a:r>
          </a:p>
        </p:txBody>
      </p:sp>
      <p:sp>
        <p:nvSpPr>
          <p:cNvPr id="19" name="data-detail-2">
            <a:extLst xmlns:a="http://schemas.openxmlformats.org/drawingml/2006/main">
              <a:ext uri="{FF2B5EF4-FFF2-40B4-BE49-F238E27FC236}">
                <a16:creationId xmlns:a16="http://schemas.microsoft.com/office/drawing/2014/main" id="{3260DD6A-99B4-49F8-8ABF-D7A9024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37 lokale Märkte + Deutschland</a:t>
            </a:r>
          </a:p>
        </p:txBody>
      </p:sp>
      <p:cxnSp>
        <p:nvCxnSpPr>
          <p:cNvPr id="124" name="provenance-line"/>
          <p:cNvCxnSpPr/>
          <p:nvPr/>
        </p:nvCxnSpPr>
        <p:spPr>
          <a:xfrm xmlns:a="http://schemas.openxmlformats.org/drawingml/2006/main">
            <a:off x="704850" y="53911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sp>
        <p:nvSpPr>
          <p:cNvPr id="21" name="prov-1">
            <a:extLst xmlns:a="http://schemas.openxmlformats.org/drawingml/2006/main">
              <a:ext uri="{FF2B5EF4-FFF2-40B4-BE49-F238E27FC236}">
                <a16:creationId xmlns:a16="http://schemas.microsoft.com/office/drawing/2014/main" id="{566414B1-3C05-424B-99DC-3135B03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offizielle URLs</a:t>
            </a:r>
          </a:p>
        </p:txBody>
      </p:sp>
      <p:sp>
        <p:nvSpPr>
          <p:cNvPr id="22" name="prov-2">
            <a:extLst xmlns:a="http://schemas.openxmlformats.org/drawingml/2006/main">
              <a:ext uri="{FF2B5EF4-FFF2-40B4-BE49-F238E27FC236}">
                <a16:creationId xmlns:a16="http://schemas.microsoft.com/office/drawing/2014/main" id="{A95C49A8-946A-4AA7-908C-82A7832F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626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SHA-256-Hashes</a:t>
            </a:r>
          </a:p>
        </p:txBody>
      </p:sp>
      <p:sp>
        <p:nvSpPr>
          <p:cNvPr id="23" name="prov-3">
            <a:extLst xmlns:a="http://schemas.openxmlformats.org/drawingml/2006/main">
              <a:ext uri="{FF2B5EF4-FFF2-40B4-BE49-F238E27FC236}">
                <a16:creationId xmlns:a16="http://schemas.microsoft.com/office/drawing/2014/main" id="{18C1085D-0815-4AAD-BE1A-2488216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626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Missingness &lt; 1 %</a:t>
            </a:r>
          </a:p>
        </p:txBody>
      </p:sp>
      <p:sp>
        <p:nvSpPr>
          <p:cNvPr id="24" name="prov-4">
            <a:extLst xmlns:a="http://schemas.openxmlformats.org/drawingml/2006/main">
              <a:ext uri="{FF2B5EF4-FFF2-40B4-BE49-F238E27FC236}">
                <a16:creationId xmlns:a16="http://schemas.microsoft.com/office/drawing/2014/main" id="{C40CFC0B-EF10-4FF2-B860-6686B18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6260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reproduzierbarer Join</a:t>
            </a:r>
          </a:p>
        </p:txBody>
      </p:sp>
    </p:spTree>
    <p:extLst>
      <p:ext uri="{BB962C8B-B14F-4D97-AF65-F5344CB8AC3E}">
        <p14:creationId xmlns:p14="http://schemas.microsoft.com/office/powerpoint/2010/main" val="1010952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header-5">
            <a:extLst xmlns:a="http://schemas.openxmlformats.org/drawingml/2006/main">
              <a:ext uri="{FF2B5EF4-FFF2-40B4-BE49-F238E27FC236}">
                <a16:creationId xmlns:a16="http://schemas.microsoft.com/office/drawing/2014/main" id="{0982890D-C06F-4D1D-9BDF-2CB4C880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5">
            <a:extLst xmlns:a="http://schemas.openxmlformats.org/drawingml/2006/main">
              <a:ext uri="{FF2B5EF4-FFF2-40B4-BE49-F238E27FC236}">
                <a16:creationId xmlns:a16="http://schemas.microsoft.com/office/drawing/2014/main" id="{292AF08D-5ABF-4932-B5A6-AAC7FBE1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5">
            <a:extLst xmlns:a="http://schemas.openxmlformats.org/drawingml/2006/main">
              <a:ext uri="{FF2B5EF4-FFF2-40B4-BE49-F238E27FC236}">
                <a16:creationId xmlns:a16="http://schemas.microsoft.com/office/drawing/2014/main" id="{CBDE695F-2DBD-4E72-8DD3-75E98CD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F9602C05-8B21-4CCA-B177-DFDD982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 · StandardScaler: fit nur im Trainingsfold</a:t>
            </a:r>
          </a:p>
        </p:txBody>
      </p:sp>
      <p:sp>
        <p:nvSpPr>
          <p:cNvPr id="5" name="source-5">
            <a:extLst xmlns:a="http://schemas.openxmlformats.org/drawingml/2006/main">
              <a:ext uri="{FF2B5EF4-FFF2-40B4-BE49-F238E27FC236}">
                <a16:creationId xmlns:a16="http://schemas.microsoft.com/office/drawing/2014/main" id="{23A5CF72-0F63-43FA-8320-B3E7787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257CDD34-AE7C-4E6E-8511-91959DE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7" name="qua-lead">
            <a:extLst xmlns:a="http://schemas.openxmlformats.org/drawingml/2006/main">
              <a:ext uri="{FF2B5EF4-FFF2-40B4-BE49-F238E27FC236}">
                <a16:creationId xmlns:a16="http://schemas.microsoft.com/office/drawing/2014/main" id="{119894A2-0B4E-45A3-B1FD-E4BAD4C2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Große Einheiten dürfen Ridge, SVM und MLP nicht dominieren – und der Scaler darf keine Testinformation sehen.</a:t>
            </a:r>
          </a:p>
        </p:txBody>
      </p:sp>
      <p:cxnSp>
        <p:nvCxnSpPr>
          <p:cNvPr id="78" name="qua-line"/>
          <p:cNvCxnSpPr/>
          <p:nvPr/>
        </p:nvCxnSpPr>
        <p:spPr>
          <a:xfrm xmlns:a="http://schemas.openxmlformats.org/drawingml/2006/main">
            <a:off x="819150" y="310515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DF"/>
            </a:solidFill>
            <a:prstDash val="solid"/>
          </a:ln>
        </p:spPr>
      </p:cxnSp>
      <p:sp>
        <p:nvSpPr>
          <p:cNvPr id="9" name="qua-node-0">
            <a:extLst xmlns:a="http://schemas.openxmlformats.org/drawingml/2006/main">
              <a:ext uri="{FF2B5EF4-FFF2-40B4-BE49-F238E27FC236}">
                <a16:creationId xmlns:a16="http://schemas.microsoft.com/office/drawing/2014/main" id="{CCA637B2-C571-47AE-9FA1-5F46DE7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qua-code-0">
            <a:extLst xmlns:a="http://schemas.openxmlformats.org/drawingml/2006/main">
              <a:ext uri="{FF2B5EF4-FFF2-40B4-BE49-F238E27FC236}">
                <a16:creationId xmlns:a16="http://schemas.microsoft.com/office/drawing/2014/main" id="{386E887F-1A73-401C-8945-0A777034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RAW</a:t>
            </a:r>
          </a:p>
        </p:txBody>
      </p:sp>
      <p:sp>
        <p:nvSpPr>
          <p:cNvPr id="11" name="qua-title-0">
            <a:extLst xmlns:a="http://schemas.openxmlformats.org/drawingml/2006/main">
              <a:ext uri="{FF2B5EF4-FFF2-40B4-BE49-F238E27FC236}">
                <a16:creationId xmlns:a16="http://schemas.microsoft.com/office/drawing/2014/main" id="{E7DC3A47-9FF9-4A56-937E-4123E406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Rohdaten</a:t>
            </a:r>
          </a:p>
        </p:txBody>
      </p:sp>
      <p:sp>
        <p:nvSpPr>
          <p:cNvPr id="12" name="qua-body-0">
            <a:extLst xmlns:a="http://schemas.openxmlformats.org/drawingml/2006/main">
              <a:ext uri="{FF2B5EF4-FFF2-40B4-BE49-F238E27FC236}">
                <a16:creationId xmlns:a16="http://schemas.microsoft.com/office/drawing/2014/main" id="{24A5C344-F5B0-4C0D-8C6A-5F95E43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Meter, Anzahl,
Prozent</a:t>
            </a:r>
          </a:p>
        </p:txBody>
      </p:sp>
      <p:sp>
        <p:nvSpPr>
          <p:cNvPr id="13" name="qua-node-1">
            <a:extLst xmlns:a="http://schemas.openxmlformats.org/drawingml/2006/main">
              <a:ext uri="{FF2B5EF4-FFF2-40B4-BE49-F238E27FC236}">
                <a16:creationId xmlns:a16="http://schemas.microsoft.com/office/drawing/2014/main" id="{83265EE9-2C6C-4EF5-AF65-9D05F0CC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qua-code-1">
            <a:extLst xmlns:a="http://schemas.openxmlformats.org/drawingml/2006/main">
              <a:ext uri="{FF2B5EF4-FFF2-40B4-BE49-F238E27FC236}">
                <a16:creationId xmlns:a16="http://schemas.microsoft.com/office/drawing/2014/main" id="{42C9F2BC-6922-499E-A9D2-A54B0308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</a:t>
            </a:r>
          </a:p>
        </p:txBody>
      </p:sp>
      <p:sp>
        <p:nvSpPr>
          <p:cNvPr id="15" name="qua-title-1">
            <a:extLst xmlns:a="http://schemas.openxmlformats.org/drawingml/2006/main">
              <a:ext uri="{FF2B5EF4-FFF2-40B4-BE49-F238E27FC236}">
                <a16:creationId xmlns:a16="http://schemas.microsoft.com/office/drawing/2014/main" id="{B032892B-D912-45FF-A3E5-170EADC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Imputation</a:t>
            </a:r>
          </a:p>
        </p:txBody>
      </p:sp>
      <p:sp>
        <p:nvSpPr>
          <p:cNvPr id="16" name="qua-body-1">
            <a:extLst xmlns:a="http://schemas.openxmlformats.org/drawingml/2006/main">
              <a:ext uri="{FF2B5EF4-FFF2-40B4-BE49-F238E27FC236}">
                <a16:creationId xmlns:a16="http://schemas.microsoft.com/office/drawing/2014/main" id="{626CD865-394D-4751-AD8D-EBE13C6B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Median nur im
Trainingsfold</a:t>
            </a:r>
          </a:p>
        </p:txBody>
      </p:sp>
      <p:sp>
        <p:nvSpPr>
          <p:cNvPr id="17" name="qua-node-2">
            <a:extLst xmlns:a="http://schemas.openxmlformats.org/drawingml/2006/main">
              <a:ext uri="{FF2B5EF4-FFF2-40B4-BE49-F238E27FC236}">
                <a16:creationId xmlns:a16="http://schemas.microsoft.com/office/drawing/2014/main" id="{9D292083-C59F-4B94-ACF0-4BD043D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qua-code-2">
            <a:extLst xmlns:a="http://schemas.openxmlformats.org/drawingml/2006/main">
              <a:ext uri="{FF2B5EF4-FFF2-40B4-BE49-F238E27FC236}">
                <a16:creationId xmlns:a16="http://schemas.microsoft.com/office/drawing/2014/main" id="{E8F386BA-267D-4CC6-804C-013F030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FIT</a:t>
            </a:r>
          </a:p>
        </p:txBody>
      </p:sp>
      <p:sp>
        <p:nvSpPr>
          <p:cNvPr id="19" name="qua-title-2">
            <a:extLst xmlns:a="http://schemas.openxmlformats.org/drawingml/2006/main">
              <a:ext uri="{FF2B5EF4-FFF2-40B4-BE49-F238E27FC236}">
                <a16:creationId xmlns:a16="http://schemas.microsoft.com/office/drawing/2014/main" id="{69AD4DC1-3330-4778-8F2B-21D382E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Scaler fit</a:t>
            </a:r>
          </a:p>
        </p:txBody>
      </p:sp>
      <p:sp>
        <p:nvSpPr>
          <p:cNvPr id="20" name="qua-body-2">
            <a:extLst xmlns:a="http://schemas.openxmlformats.org/drawingml/2006/main">
              <a:ext uri="{FF2B5EF4-FFF2-40B4-BE49-F238E27FC236}">
                <a16:creationId xmlns:a16="http://schemas.microsoft.com/office/drawing/2014/main" id="{A6AEB6BC-6A4D-411B-9225-ADD3467D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μtrain und
σtrain</a:t>
            </a:r>
          </a:p>
        </p:txBody>
      </p:sp>
      <p:sp>
        <p:nvSpPr>
          <p:cNvPr id="21" name="qua-node-3">
            <a:extLst xmlns:a="http://schemas.openxmlformats.org/drawingml/2006/main">
              <a:ext uri="{FF2B5EF4-FFF2-40B4-BE49-F238E27FC236}">
                <a16:creationId xmlns:a16="http://schemas.microsoft.com/office/drawing/2014/main" id="{B6F042AD-C67E-4ED8-BE66-58CF905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qua-code-3">
            <a:extLst xmlns:a="http://schemas.openxmlformats.org/drawingml/2006/main">
              <a:ext uri="{FF2B5EF4-FFF2-40B4-BE49-F238E27FC236}">
                <a16:creationId xmlns:a16="http://schemas.microsoft.com/office/drawing/2014/main" id="{F8113B7F-41C8-4441-A486-1F1E139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z</a:t>
            </a:r>
          </a:p>
        </p:txBody>
      </p:sp>
      <p:sp>
        <p:nvSpPr>
          <p:cNvPr id="23" name="qua-title-3">
            <a:extLst xmlns:a="http://schemas.openxmlformats.org/drawingml/2006/main">
              <a:ext uri="{FF2B5EF4-FFF2-40B4-BE49-F238E27FC236}">
                <a16:creationId xmlns:a16="http://schemas.microsoft.com/office/drawing/2014/main" id="{7ADA6DC2-FCAC-46D4-AA40-F64FF01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Skalierung</a:t>
            </a:r>
          </a:p>
        </p:txBody>
      </p:sp>
      <p:sp>
        <p:nvSpPr>
          <p:cNvPr id="24" name="qua-body-3">
            <a:extLst xmlns:a="http://schemas.openxmlformats.org/drawingml/2006/main">
              <a:ext uri="{FF2B5EF4-FFF2-40B4-BE49-F238E27FC236}">
                <a16:creationId xmlns:a16="http://schemas.microsoft.com/office/drawing/2014/main" id="{C1D2488C-2701-4595-BE73-43CDC6C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z = (x−μ) / σ</a:t>
            </a:r>
          </a:p>
        </p:txBody>
      </p:sp>
      <p:sp>
        <p:nvSpPr>
          <p:cNvPr id="25" name="qua-node-4">
            <a:extLst xmlns:a="http://schemas.openxmlformats.org/drawingml/2006/main">
              <a:ext uri="{FF2B5EF4-FFF2-40B4-BE49-F238E27FC236}">
                <a16:creationId xmlns:a16="http://schemas.microsoft.com/office/drawing/2014/main" id="{4D0CE753-FC3D-4F0C-8600-F18BC02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qua-code-4">
            <a:extLst xmlns:a="http://schemas.openxmlformats.org/drawingml/2006/main">
              <a:ext uri="{FF2B5EF4-FFF2-40B4-BE49-F238E27FC236}">
                <a16:creationId xmlns:a16="http://schemas.microsoft.com/office/drawing/2014/main" id="{E683A53B-007D-462E-AC3E-DEE2EE0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≈0</a:t>
            </a:r>
          </a:p>
        </p:txBody>
      </p:sp>
      <p:sp>
        <p:nvSpPr>
          <p:cNvPr id="27" name="qua-title-4">
            <a:extLst xmlns:a="http://schemas.openxmlformats.org/drawingml/2006/main">
              <a:ext uri="{FF2B5EF4-FFF2-40B4-BE49-F238E27FC236}">
                <a16:creationId xmlns:a16="http://schemas.microsoft.com/office/drawing/2014/main" id="{38F3DB8E-4363-4379-B1CB-4E4E4341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Mittelwert</a:t>
            </a:r>
          </a:p>
        </p:txBody>
      </p:sp>
      <p:sp>
        <p:nvSpPr>
          <p:cNvPr id="28" name="qua-body-4">
            <a:extLst xmlns:a="http://schemas.openxmlformats.org/drawingml/2006/main">
              <a:ext uri="{FF2B5EF4-FFF2-40B4-BE49-F238E27FC236}">
                <a16:creationId xmlns:a16="http://schemas.microsoft.com/office/drawing/2014/main" id="{224AE07F-B093-490E-A948-39DB0E1B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skalierte Features
um 0</a:t>
            </a:r>
          </a:p>
        </p:txBody>
      </p:sp>
      <p:sp>
        <p:nvSpPr>
          <p:cNvPr id="29" name="qua-node-5">
            <a:extLst xmlns:a="http://schemas.openxmlformats.org/drawingml/2006/main">
              <a:ext uri="{FF2B5EF4-FFF2-40B4-BE49-F238E27FC236}">
                <a16:creationId xmlns:a16="http://schemas.microsoft.com/office/drawing/2014/main" id="{270C27A3-C902-4AFD-AAC2-5BDFEC1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F"/>
          </a:solidFill>
          <a:ln xmlns:a="http://schemas.openxmlformats.org/drawingml/2006/main" w="0">
            <a:solidFill>
              <a:srgbClr val="315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qua-code-5">
            <a:extLst xmlns:a="http://schemas.openxmlformats.org/drawingml/2006/main">
              <a:ext uri="{FF2B5EF4-FFF2-40B4-BE49-F238E27FC236}">
                <a16:creationId xmlns:a16="http://schemas.microsoft.com/office/drawing/2014/main" id="{FCC4EF4A-8512-48A3-8831-9E061E8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≈1</a:t>
            </a:r>
          </a:p>
        </p:txBody>
      </p:sp>
      <p:sp>
        <p:nvSpPr>
          <p:cNvPr id="31" name="qua-title-5">
            <a:extLst xmlns:a="http://schemas.openxmlformats.org/drawingml/2006/main">
              <a:ext uri="{FF2B5EF4-FFF2-40B4-BE49-F238E27FC236}">
                <a16:creationId xmlns:a16="http://schemas.microsoft.com/office/drawing/2014/main" id="{36C77C3F-FA64-4A9B-9F9B-FFDC7A4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Streuung</a:t>
            </a:r>
          </a:p>
        </p:txBody>
      </p:sp>
      <p:sp>
        <p:nvSpPr>
          <p:cNvPr id="32" name="qua-body-5">
            <a:extLst xmlns:a="http://schemas.openxmlformats.org/drawingml/2006/main">
              <a:ext uri="{FF2B5EF4-FFF2-40B4-BE49-F238E27FC236}">
                <a16:creationId xmlns:a16="http://schemas.microsoft.com/office/drawing/2014/main" id="{4B36DA70-1D7C-4624-AE0C-2892880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Standardabw.
um 1</a:t>
            </a:r>
          </a:p>
        </p:txBody>
      </p:sp>
      <p:sp>
        <p:nvSpPr>
          <p:cNvPr id="33" name="qua-node-6">
            <a:extLst xmlns:a="http://schemas.openxmlformats.org/drawingml/2006/main">
              <a:ext uri="{FF2B5EF4-FFF2-40B4-BE49-F238E27FC236}">
                <a16:creationId xmlns:a16="http://schemas.microsoft.com/office/drawing/2014/main" id="{B9AD47CB-300D-4477-B3AF-1F1C6054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F"/>
          </a:solidFill>
          <a:ln xmlns:a="http://schemas.openxmlformats.org/drawingml/2006/main" w="0">
            <a:solidFill>
              <a:srgbClr val="315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qua-code-6">
            <a:extLst xmlns:a="http://schemas.openxmlformats.org/drawingml/2006/main">
              <a:ext uri="{FF2B5EF4-FFF2-40B4-BE49-F238E27FC236}">
                <a16:creationId xmlns:a16="http://schemas.microsoft.com/office/drawing/2014/main" id="{38370EE2-D8F6-4F77-B860-D5C69DA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38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HGB</a:t>
            </a:r>
          </a:p>
        </p:txBody>
      </p:sp>
      <p:sp>
        <p:nvSpPr>
          <p:cNvPr id="35" name="qua-title-6">
            <a:extLst xmlns:a="http://schemas.openxmlformats.org/drawingml/2006/main">
              <a:ext uri="{FF2B5EF4-FFF2-40B4-BE49-F238E27FC236}">
                <a16:creationId xmlns:a16="http://schemas.microsoft.com/office/drawing/2014/main" id="{431DEE9C-2598-4628-9CF7-2B9455C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623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Ausnahme</a:t>
            </a:r>
          </a:p>
        </p:txBody>
      </p:sp>
      <p:sp>
        <p:nvSpPr>
          <p:cNvPr id="36" name="qua-body-6">
            <a:extLst xmlns:a="http://schemas.openxmlformats.org/drawingml/2006/main">
              <a:ext uri="{FF2B5EF4-FFF2-40B4-BE49-F238E27FC236}">
                <a16:creationId xmlns:a16="http://schemas.microsoft.com/office/drawing/2014/main" id="{F46B16DE-5F66-4D44-8247-94C25B9D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38600"/>
            <a:ext cx="1485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Bäume brauchen
keinen Scaler</a:t>
            </a:r>
          </a:p>
        </p:txBody>
      </p:sp>
      <p:sp>
        <p:nvSpPr>
          <p:cNvPr id="37" name="qua-proof">
            <a:extLst xmlns:a="http://schemas.openxmlformats.org/drawingml/2006/main">
              <a:ext uri="{FF2B5EF4-FFF2-40B4-BE49-F238E27FC236}">
                <a16:creationId xmlns:a16="http://schemas.microsoft.com/office/drawing/2014/main" id="{79C01114-5798-4A12-A02C-0B4D3007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qua-proof-text">
            <a:extLst xmlns:a="http://schemas.openxmlformats.org/drawingml/2006/main">
              <a:ext uri="{FF2B5EF4-FFF2-40B4-BE49-F238E27FC236}">
                <a16:creationId xmlns:a16="http://schemas.microsoft.com/office/drawing/2014/main" id="{BCC6D296-7FE5-4A6A-B02E-6CF0F2B1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9725"/>
            <a:ext cx="8801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Pipeline: Imputer → StandardScaler → Ridge / LinearSVR / RBF-SVR / MLP · kein Leakage</a:t>
            </a:r>
          </a:p>
        </p:txBody>
      </p:sp>
    </p:spTree>
    <p:extLst>
      <p:ext uri="{BB962C8B-B14F-4D97-AF65-F5344CB8AC3E}">
        <p14:creationId xmlns:p14="http://schemas.microsoft.com/office/powerpoint/2010/main" val="1123705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header-6">
            <a:extLst xmlns:a="http://schemas.openxmlformats.org/drawingml/2006/main">
              <a:ext uri="{FF2B5EF4-FFF2-40B4-BE49-F238E27FC236}">
                <a16:creationId xmlns:a16="http://schemas.microsoft.com/office/drawing/2014/main" id="{0201AF3F-D560-434C-B5E1-22BF718D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6">
            <a:extLst xmlns:a="http://schemas.openxmlformats.org/drawingml/2006/main">
              <a:ext uri="{FF2B5EF4-FFF2-40B4-BE49-F238E27FC236}">
                <a16:creationId xmlns:a16="http://schemas.microsoft.com/office/drawing/2014/main" id="{CBDCB447-4CC3-4C6C-8CAB-DF21C980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6">
            <a:extLst xmlns:a="http://schemas.openxmlformats.org/drawingml/2006/main">
              <a:ext uri="{FF2B5EF4-FFF2-40B4-BE49-F238E27FC236}">
                <a16:creationId xmlns:a16="http://schemas.microsoft.com/office/drawing/2014/main" id="{8F3C3909-1F9E-49BE-A431-2F4553A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3DDA1986-F268-47C3-8586-BB7BE1A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· Räumliche Blöcke verhindern Daten-Leakage</a:t>
            </a:r>
          </a:p>
        </p:txBody>
      </p:sp>
      <p:sp>
        <p:nvSpPr>
          <p:cNvPr id="5" name="source-6">
            <a:extLst xmlns:a="http://schemas.openxmlformats.org/drawingml/2006/main">
              <a:ext uri="{FF2B5EF4-FFF2-40B4-BE49-F238E27FC236}">
                <a16:creationId xmlns:a16="http://schemas.microsoft.com/office/drawing/2014/main" id="{1E6449F9-59C4-4B5A-AC95-A6CB5FDF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777CDC41-6C7C-4BA3-AD0E-F362538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7" name="spatial-lead">
            <a:extLst xmlns:a="http://schemas.openxmlformats.org/drawingml/2006/main">
              <a:ext uri="{FF2B5EF4-FFF2-40B4-BE49-F238E27FC236}">
                <a16:creationId xmlns:a16="http://schemas.microsoft.com/office/drawing/2014/main" id="{213AF970-1361-40B0-A0B4-8138761E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Benachbarte 100-m-Zellen sind ähnlich: MietCheck trennt deshalb ganze 25-km-Räume.</a:t>
            </a:r>
          </a:p>
        </p:txBody>
      </p:sp>
      <p:cxnSp>
        <p:nvCxnSpPr>
          <p:cNvPr id="68" name="spatial-connector"/>
          <p:cNvCxnSpPr/>
          <p:nvPr/>
        </p:nvCxnSpPr>
        <p:spPr>
          <a:xfrm xmlns:a="http://schemas.openxmlformats.org/drawingml/2006/main">
            <a:off x="2266950" y="3867150"/>
            <a:ext cx="765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DF"/>
            </a:solidFill>
            <a:prstDash val="solid"/>
          </a:ln>
        </p:spPr>
      </p:cxnSp>
      <p:sp>
        <p:nvSpPr>
          <p:cNvPr id="9" name="spatial-panel-0">
            <a:extLst xmlns:a="http://schemas.openxmlformats.org/drawingml/2006/main">
              <a:ext uri="{FF2B5EF4-FFF2-40B4-BE49-F238E27FC236}">
                <a16:creationId xmlns:a16="http://schemas.microsoft.com/office/drawing/2014/main" id="{DCB50187-0190-4652-BA6D-76E3B6FD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48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patial-bar-0">
            <a:extLst xmlns:a="http://schemas.openxmlformats.org/drawingml/2006/main">
              <a:ext uri="{FF2B5EF4-FFF2-40B4-BE49-F238E27FC236}">
                <a16:creationId xmlns:a16="http://schemas.microsoft.com/office/drawing/2014/main" id="{1081FAAC-6AAA-41F9-996F-093250EE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48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patial-title-0">
            <a:extLst xmlns:a="http://schemas.openxmlformats.org/drawingml/2006/main">
              <a:ext uri="{FF2B5EF4-FFF2-40B4-BE49-F238E27FC236}">
                <a16:creationId xmlns:a16="http://schemas.microsoft.com/office/drawing/2014/main" id="{67BF5BF0-395A-44A8-8587-A5F6C2FF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Entwicklung</a:t>
            </a:r>
          </a:p>
        </p:txBody>
      </p:sp>
      <p:sp>
        <p:nvSpPr>
          <p:cNvPr id="12" name="spatial-rows-0">
            <a:extLst xmlns:a="http://schemas.openxmlformats.org/drawingml/2006/main">
              <a:ext uri="{FF2B5EF4-FFF2-40B4-BE49-F238E27FC236}">
                <a16:creationId xmlns:a16="http://schemas.microsoft.com/office/drawing/2014/main" id="{2C2287B0-50FA-4531-9371-1B0FB9B1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1.518.322</a:t>
            </a:r>
          </a:p>
        </p:txBody>
      </p:sp>
      <p:sp>
        <p:nvSpPr>
          <p:cNvPr id="13" name="spatial-blocks-0">
            <a:extLst xmlns:a="http://schemas.openxmlformats.org/drawingml/2006/main">
              <a:ext uri="{FF2B5EF4-FFF2-40B4-BE49-F238E27FC236}">
                <a16:creationId xmlns:a16="http://schemas.microsoft.com/office/drawing/2014/main" id="{FE5339B7-BD13-4B02-B461-B393DAC1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465 Raumblöcke</a:t>
            </a:r>
          </a:p>
        </p:txBody>
      </p:sp>
      <p:sp>
        <p:nvSpPr>
          <p:cNvPr id="14" name="spatial-body-0">
            <a:extLst xmlns:a="http://schemas.openxmlformats.org/drawingml/2006/main">
              <a:ext uri="{FF2B5EF4-FFF2-40B4-BE49-F238E27FC236}">
                <a16:creationId xmlns:a16="http://schemas.microsoft.com/office/drawing/2014/main" id="{2C76E826-F38F-4390-86A8-2916B97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A¹ Auswahl, A² Features und A³ Tuning</a:t>
            </a:r>
          </a:p>
        </p:txBody>
      </p:sp>
      <p:sp>
        <p:nvSpPr>
          <p:cNvPr id="15" name="spatial-panel-1">
            <a:extLst xmlns:a="http://schemas.openxmlformats.org/drawingml/2006/main">
              <a:ext uri="{FF2B5EF4-FFF2-40B4-BE49-F238E27FC236}">
                <a16:creationId xmlns:a16="http://schemas.microsoft.com/office/drawing/2014/main" id="{9C02D8D4-A6E5-4866-AD69-2663679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52650"/>
            <a:ext cx="3448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patial-bar-1">
            <a:extLst xmlns:a="http://schemas.openxmlformats.org/drawingml/2006/main">
              <a:ext uri="{FF2B5EF4-FFF2-40B4-BE49-F238E27FC236}">
                <a16:creationId xmlns:a16="http://schemas.microsoft.com/office/drawing/2014/main" id="{FCD9105A-E7EE-44AF-93E9-2D7CAE93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52650"/>
            <a:ext cx="3448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F"/>
          </a:solidFill>
          <a:ln xmlns:a="http://schemas.openxmlformats.org/drawingml/2006/main" w="0">
            <a:solidFill>
              <a:srgbClr val="315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patial-title-1">
            <a:extLst xmlns:a="http://schemas.openxmlformats.org/drawingml/2006/main">
              <a:ext uri="{FF2B5EF4-FFF2-40B4-BE49-F238E27FC236}">
                <a16:creationId xmlns:a16="http://schemas.microsoft.com/office/drawing/2014/main" id="{6AC30D47-9034-49E0-940D-C67EB125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3840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Kalibrierung</a:t>
            </a:r>
          </a:p>
        </p:txBody>
      </p:sp>
      <p:sp>
        <p:nvSpPr>
          <p:cNvPr id="18" name="spatial-rows-1">
            <a:extLst xmlns:a="http://schemas.openxmlformats.org/drawingml/2006/main">
              <a:ext uri="{FF2B5EF4-FFF2-40B4-BE49-F238E27FC236}">
                <a16:creationId xmlns:a16="http://schemas.microsoft.com/office/drawing/2014/main" id="{48F0DAA8-F354-41E6-8A71-B1F4516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263.789</a:t>
            </a:r>
          </a:p>
        </p:txBody>
      </p:sp>
      <p:sp>
        <p:nvSpPr>
          <p:cNvPr id="19" name="spatial-blocks-1">
            <a:extLst xmlns:a="http://schemas.openxmlformats.org/drawingml/2006/main">
              <a:ext uri="{FF2B5EF4-FFF2-40B4-BE49-F238E27FC236}">
                <a16:creationId xmlns:a16="http://schemas.microsoft.com/office/drawing/2014/main" id="{13713357-3205-4BD2-B48F-8C944BC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766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99 Raumblöcke</a:t>
            </a:r>
          </a:p>
        </p:txBody>
      </p:sp>
      <p:sp>
        <p:nvSpPr>
          <p:cNvPr id="20" name="spatial-body-1">
            <a:extLst xmlns:a="http://schemas.openxmlformats.org/drawingml/2006/main">
              <a:ext uri="{FF2B5EF4-FFF2-40B4-BE49-F238E27FC236}">
                <a16:creationId xmlns:a16="http://schemas.microsoft.com/office/drawing/2014/main" id="{1569CEF8-E865-4749-A9C7-E5CE015E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672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nur für conformale Modellbänder</a:t>
            </a:r>
          </a:p>
        </p:txBody>
      </p:sp>
      <p:sp>
        <p:nvSpPr>
          <p:cNvPr id="21" name="spatial-panel-2">
            <a:extLst xmlns:a="http://schemas.openxmlformats.org/drawingml/2006/main">
              <a:ext uri="{FF2B5EF4-FFF2-40B4-BE49-F238E27FC236}">
                <a16:creationId xmlns:a16="http://schemas.microsoft.com/office/drawing/2014/main" id="{FF77BA2D-8132-4C64-8BE8-6B53A66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448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patial-bar-2">
            <a:extLst xmlns:a="http://schemas.openxmlformats.org/drawingml/2006/main">
              <a:ext uri="{FF2B5EF4-FFF2-40B4-BE49-F238E27FC236}">
                <a16:creationId xmlns:a16="http://schemas.microsoft.com/office/drawing/2014/main" id="{2C676B79-32DD-458F-B6EC-514D4B3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448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patial-title-2">
            <a:extLst xmlns:a="http://schemas.openxmlformats.org/drawingml/2006/main">
              <a:ext uri="{FF2B5EF4-FFF2-40B4-BE49-F238E27FC236}">
                <a16:creationId xmlns:a16="http://schemas.microsoft.com/office/drawing/2014/main" id="{729C706C-3A98-45E9-A9A1-46605B04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3840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E85D3F"/>
                </a:solidFill>
                <a:latin typeface="Arial"/>
                <a:ea typeface="Arial"/>
                <a:cs typeface="Arial"/>
              </a:defRPr>
            </a:pPr>
            <a:r>
              <a:t>Finaler Test</a:t>
            </a:r>
          </a:p>
        </p:txBody>
      </p:sp>
      <p:sp>
        <p:nvSpPr>
          <p:cNvPr id="24" name="spatial-rows-2">
            <a:extLst xmlns:a="http://schemas.openxmlformats.org/drawingml/2006/main">
              <a:ext uri="{FF2B5EF4-FFF2-40B4-BE49-F238E27FC236}">
                <a16:creationId xmlns:a16="http://schemas.microsoft.com/office/drawing/2014/main" id="{67152874-8548-4E21-8C7B-DE48C86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276.458</a:t>
            </a:r>
          </a:p>
        </p:txBody>
      </p:sp>
      <p:sp>
        <p:nvSpPr>
          <p:cNvPr id="25" name="spatial-blocks-2">
            <a:extLst xmlns:a="http://schemas.openxmlformats.org/drawingml/2006/main">
              <a:ext uri="{FF2B5EF4-FFF2-40B4-BE49-F238E27FC236}">
                <a16:creationId xmlns:a16="http://schemas.microsoft.com/office/drawing/2014/main" id="{04422683-002C-4877-9D27-0FF3D0C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99 Raumblöcke</a:t>
            </a:r>
          </a:p>
        </p:txBody>
      </p:sp>
      <p:sp>
        <p:nvSpPr>
          <p:cNvPr id="26" name="spatial-body-2">
            <a:extLst xmlns:a="http://schemas.openxmlformats.org/drawingml/2006/main">
              <a:ext uri="{FF2B5EF4-FFF2-40B4-BE49-F238E27FC236}">
                <a16:creationId xmlns:a16="http://schemas.microsoft.com/office/drawing/2014/main" id="{F5D1CF9B-6E5E-4137-86D1-BF94BE77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genau einmal für C ausgewertet</a:t>
            </a:r>
          </a:p>
        </p:txBody>
      </p:sp>
      <p:sp>
        <p:nvSpPr>
          <p:cNvPr id="27" name="zero-overlap">
            <a:extLst xmlns:a="http://schemas.openxmlformats.org/drawingml/2006/main">
              <a:ext uri="{FF2B5EF4-FFF2-40B4-BE49-F238E27FC236}">
                <a16:creationId xmlns:a16="http://schemas.microsoft.com/office/drawing/2014/main" id="{CD6B495C-95A3-4DAA-8BDB-AB29D35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1975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0">
            <a:solidFill>
              <a:srgbClr val="DDF5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zero-overlap-text">
            <a:extLst xmlns:a="http://schemas.openxmlformats.org/drawingml/2006/main">
              <a:ext uri="{FF2B5EF4-FFF2-40B4-BE49-F238E27FC236}">
                <a16:creationId xmlns:a16="http://schemas.microsoft.com/office/drawing/2014/main" id="{B224B00C-1173-4B29-B66B-EB2B77A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0 gemeinsame 25-km-Blöcke zwischen den drei Teilmengen</a:t>
            </a:r>
          </a:p>
        </p:txBody>
      </p:sp>
    </p:spTree>
    <p:extLst>
      <p:ext uri="{BB962C8B-B14F-4D97-AF65-F5344CB8AC3E}">
        <p14:creationId xmlns:p14="http://schemas.microsoft.com/office/powerpoint/2010/main" val="1947086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7">
            <a:extLst xmlns:a="http://schemas.openxmlformats.org/drawingml/2006/main">
              <a:ext uri="{FF2B5EF4-FFF2-40B4-BE49-F238E27FC236}">
                <a16:creationId xmlns:a16="http://schemas.microsoft.com/office/drawing/2014/main" id="{A2EF4C0C-351A-415D-BBF0-F68FE62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7">
            <a:extLst xmlns:a="http://schemas.openxmlformats.org/drawingml/2006/main">
              <a:ext uri="{FF2B5EF4-FFF2-40B4-BE49-F238E27FC236}">
                <a16:creationId xmlns:a16="http://schemas.microsoft.com/office/drawing/2014/main" id="{D9811E14-6FCB-4A5A-8D85-95995D74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7">
            <a:extLst xmlns:a="http://schemas.openxmlformats.org/drawingml/2006/main">
              <a:ext uri="{FF2B5EF4-FFF2-40B4-BE49-F238E27FC236}">
                <a16:creationId xmlns:a16="http://schemas.microsoft.com/office/drawing/2014/main" id="{5132B435-1949-48CF-BEFC-28A89C71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331EC3CF-0C9C-41F6-927B-B760D09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A¹ · Sieben Kandidaten auf identischen Spatial Folds</a:t>
            </a:r>
          </a:p>
        </p:txBody>
      </p:sp>
      <p:sp>
        <p:nvSpPr>
          <p:cNvPr id="5" name="source-7">
            <a:extLst xmlns:a="http://schemas.openxmlformats.org/drawingml/2006/main">
              <a:ext uri="{FF2B5EF4-FFF2-40B4-BE49-F238E27FC236}">
                <a16:creationId xmlns:a16="http://schemas.microsoft.com/office/drawing/2014/main" id="{C844D5A3-8CD2-4757-9DD4-A52A6A1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600.000 Zeilen · 3-Fold GroupKFold · gleicher Sample/gleiche Raumblöcke · reports/algorithm_benchmark.json.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E16D482B-C207-4EA4-991D-82C3EAA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7" name="benchmark-callout-one">
            <a:extLst xmlns:a="http://schemas.openxmlformats.org/drawingml/2006/main">
              <a:ext uri="{FF2B5EF4-FFF2-40B4-BE49-F238E27FC236}">
                <a16:creationId xmlns:a16="http://schemas.microsoft.com/office/drawing/2014/main" id="{30138196-B0BC-49E9-AB97-6D06F0BE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71650"/>
            <a:ext cx="4019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0">
            <a:solidFill>
              <a:srgbClr val="DDF5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benchmark-callout-one-title">
            <a:extLst xmlns:a="http://schemas.openxmlformats.org/drawingml/2006/main">
              <a:ext uri="{FF2B5EF4-FFF2-40B4-BE49-F238E27FC236}">
                <a16:creationId xmlns:a16="http://schemas.microsoft.com/office/drawing/2014/main" id="{19CF8CF1-DDC9-4F98-A796-ED58F48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1,305 €/m²</a:t>
            </a:r>
          </a:p>
        </p:txBody>
      </p:sp>
      <p:sp>
        <p:nvSpPr>
          <p:cNvPr id="9" name="benchmark-callout-one-body">
            <a:extLst xmlns:a="http://schemas.openxmlformats.org/drawingml/2006/main">
              <a:ext uri="{FF2B5EF4-FFF2-40B4-BE49-F238E27FC236}">
                <a16:creationId xmlns:a16="http://schemas.microsoft.com/office/drawing/2014/main" id="{79441BFC-EBEF-4CCE-A893-4A57CA97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HGB: niedrigster mittlerer CV-MAE</a:t>
            </a:r>
          </a:p>
        </p:txBody>
      </p:sp>
      <p:sp>
        <p:nvSpPr>
          <p:cNvPr id="10" name="benchmark-callout-two">
            <a:extLst xmlns:a="http://schemas.openxmlformats.org/drawingml/2006/main">
              <a:ext uri="{FF2B5EF4-FFF2-40B4-BE49-F238E27FC236}">
                <a16:creationId xmlns:a16="http://schemas.microsoft.com/office/drawing/2014/main" id="{65D5071D-164F-4B9D-BE7F-8B16D333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4019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benchmark-callout-two-title">
            <a:extLst xmlns:a="http://schemas.openxmlformats.org/drawingml/2006/main">
              <a:ext uri="{FF2B5EF4-FFF2-40B4-BE49-F238E27FC236}">
                <a16:creationId xmlns:a16="http://schemas.microsoft.com/office/drawing/2014/main" id="{65B8FDAB-DC22-4EF5-B32C-E7155AFF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SVM + Baum</a:t>
            </a:r>
          </a:p>
        </p:txBody>
      </p:sp>
      <p:sp>
        <p:nvSpPr>
          <p:cNvPr id="12" name="benchmark-callout-two-body">
            <a:extLst xmlns:a="http://schemas.openxmlformats.org/drawingml/2006/main">
              <a:ext uri="{FF2B5EF4-FFF2-40B4-BE49-F238E27FC236}">
                <a16:creationId xmlns:a16="http://schemas.microsoft.com/office/drawing/2014/main" id="{0BDBB343-017D-4A5A-8CB7-17A11D75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klassische Verfahren explizit geprüft</a:t>
            </a:r>
          </a:p>
        </p:txBody>
      </p:sp>
      <p:sp>
        <p:nvSpPr>
          <p:cNvPr id="13" name="benchmark-interpretation">
            <a:extLst xmlns:a="http://schemas.openxmlformats.org/drawingml/2006/main">
              <a:ext uri="{FF2B5EF4-FFF2-40B4-BE49-F238E27FC236}">
                <a16:creationId xmlns:a16="http://schemas.microsoft.com/office/drawing/2014/main" id="{BAFFB62E-1B94-491C-9465-2928E7F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33950"/>
            <a:ext cx="4019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HGB gewinnt. Random Forest bleibt Challenger; exakter RBF-SVR ist bei 600k nicht skalierbar.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39213" y="1457325"/>
          <a:ext xmlns:a="http://schemas.openxmlformats.org/drawingml/2006/main" cx="6572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77b21b82bd4957"/>
          </a:graphicData>
        </a:graphic>
      </p:graphicFrame>
    </p:spTree>
    <p:extLst>
      <p:ext uri="{BB962C8B-B14F-4D97-AF65-F5344CB8AC3E}">
        <p14:creationId xmlns:p14="http://schemas.microsoft.com/office/powerpoint/2010/main" val="2073133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0043B925-52F2-46FF-B342-5E250D7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8">
            <a:extLst xmlns:a="http://schemas.openxmlformats.org/drawingml/2006/main">
              <a:ext uri="{FF2B5EF4-FFF2-40B4-BE49-F238E27FC236}">
                <a16:creationId xmlns:a16="http://schemas.microsoft.com/office/drawing/2014/main" id="{F8D1534A-FC57-47E8-90E5-EBAD922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8">
            <a:extLst xmlns:a="http://schemas.openxmlformats.org/drawingml/2006/main">
              <a:ext uri="{FF2B5EF4-FFF2-40B4-BE49-F238E27FC236}">
                <a16:creationId xmlns:a16="http://schemas.microsoft.com/office/drawing/2014/main" id="{FE687181-EAE2-4DA5-8600-ABBFE0F8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C995891B-A9CE-414E-AFD6-416072A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A²/A³ · Features anpassen, acht HGB-Varianten tunen</a:t>
            </a:r>
          </a:p>
        </p:txBody>
      </p:sp>
      <p:sp>
        <p:nvSpPr>
          <p:cNvPr id="5" name="source-8">
            <a:extLst xmlns:a="http://schemas.openxmlformats.org/drawingml/2006/main">
              <a:ext uri="{FF2B5EF4-FFF2-40B4-BE49-F238E27FC236}">
                <a16:creationId xmlns:a16="http://schemas.microsoft.com/office/drawing/2014/main" id="{75360F69-A311-4496-8FF7-65B06D20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Eigene Berechnung: reports/feature_ablation.json und reports/hgb_tuning.json.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A79F5593-D33E-4449-A496-515624B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7" name="final-lead">
            <a:extLst xmlns:a="http://schemas.openxmlformats.org/drawingml/2006/main">
              <a:ext uri="{FF2B5EF4-FFF2-40B4-BE49-F238E27FC236}">
                <a16:creationId xmlns:a16="http://schemas.microsoft.com/office/drawing/2014/main" id="{DFA9B1AA-C9AB-4E86-B9A1-422FA25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Lage liefert den größten Zusatznutzen; Kalibrierung und Test bleiben während des Tunings gesperrt.</a:t>
            </a:r>
          </a:p>
        </p:txBody>
      </p:sp>
      <p:sp>
        <p:nvSpPr>
          <p:cNvPr id="8" name="final-chart-title">
            <a:extLst xmlns:a="http://schemas.openxmlformats.org/drawingml/2006/main">
              <a:ext uri="{FF2B5EF4-FFF2-40B4-BE49-F238E27FC236}">
                <a16:creationId xmlns:a16="http://schemas.microsoft.com/office/drawing/2014/main" id="{0C5F1998-5D54-4725-A9C4-7B962D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MAE der vier Feature-Stufen</a:t>
            </a:r>
          </a:p>
        </p:txBody>
      </p:sp>
      <p:sp>
        <p:nvSpPr>
          <p:cNvPr id="9" name="final-metric-one">
            <a:extLst xmlns:a="http://schemas.openxmlformats.org/drawingml/2006/main">
              <a:ext uri="{FF2B5EF4-FFF2-40B4-BE49-F238E27FC236}">
                <a16:creationId xmlns:a16="http://schemas.microsoft.com/office/drawing/2014/main" id="{DF0A22F3-CDF1-4530-8EA8-75B5204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4362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0">
            <a:solidFill>
              <a:srgbClr val="DDF5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inal-metric-one-stat">
            <a:extLst xmlns:a="http://schemas.openxmlformats.org/drawingml/2006/main">
              <a:ext uri="{FF2B5EF4-FFF2-40B4-BE49-F238E27FC236}">
                <a16:creationId xmlns:a16="http://schemas.microsoft.com/office/drawing/2014/main" id="{0AEC8CE9-09CB-4CB8-AD3B-54199BB3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4 Stufen</a:t>
            </a:r>
          </a:p>
        </p:txBody>
      </p:sp>
      <p:sp>
        <p:nvSpPr>
          <p:cNvPr id="11" name="final-metric-one-body">
            <a:extLst xmlns:a="http://schemas.openxmlformats.org/drawingml/2006/main">
              <a:ext uri="{FF2B5EF4-FFF2-40B4-BE49-F238E27FC236}">
                <a16:creationId xmlns:a16="http://schemas.microsoft.com/office/drawing/2014/main" id="{87112F32-9566-4332-8B1C-A662657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Kategorien → Lage → Umfeld → Qualität</a:t>
            </a:r>
          </a:p>
        </p:txBody>
      </p:sp>
      <p:sp>
        <p:nvSpPr>
          <p:cNvPr id="12" name="final-metric-two">
            <a:extLst xmlns:a="http://schemas.openxmlformats.org/drawingml/2006/main">
              <a:ext uri="{FF2B5EF4-FFF2-40B4-BE49-F238E27FC236}">
                <a16:creationId xmlns:a16="http://schemas.microsoft.com/office/drawing/2014/main" id="{ACDCE033-3ABF-4FA0-AB47-28B9CA8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4362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inal-metric-two-stat">
            <a:extLst xmlns:a="http://schemas.openxmlformats.org/drawingml/2006/main">
              <a:ext uri="{FF2B5EF4-FFF2-40B4-BE49-F238E27FC236}">
                <a16:creationId xmlns:a16="http://schemas.microsoft.com/office/drawing/2014/main" id="{4E3B9EA6-7721-4C36-A597-158EE10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8 Tunings</a:t>
            </a:r>
          </a:p>
        </p:txBody>
      </p:sp>
      <p:sp>
        <p:nvSpPr>
          <p:cNvPr id="14" name="final-metric-two-body">
            <a:extLst xmlns:a="http://schemas.openxmlformats.org/drawingml/2006/main">
              <a:ext uri="{FF2B5EF4-FFF2-40B4-BE49-F238E27FC236}">
                <a16:creationId xmlns:a16="http://schemas.microsoft.com/office/drawing/2014/main" id="{31A8896C-2820-412E-931B-55193BA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automatisierte, reproduzierbare HGB-Suche</a:t>
            </a:r>
          </a:p>
        </p:txBody>
      </p:sp>
      <p:sp>
        <p:nvSpPr>
          <p:cNvPr id="15" name="final-warning">
            <a:extLst xmlns:a="http://schemas.openxmlformats.org/drawingml/2006/main">
              <a:ext uri="{FF2B5EF4-FFF2-40B4-BE49-F238E27FC236}">
                <a16:creationId xmlns:a16="http://schemas.microsoft.com/office/drawing/2014/main" id="{C506B9EE-CB35-4185-90D8-D1FB083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36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t>Gewählt: Kandidat 6 · 127 Blätter · learning_rate 0,06 · L2 = 5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217170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22121e8a0448c0"/>
          </a:graphicData>
        </a:graphic>
      </p:graphicFrame>
    </p:spTree>
    <p:extLst>
      <p:ext uri="{BB962C8B-B14F-4D97-AF65-F5344CB8AC3E}">
        <p14:creationId xmlns:p14="http://schemas.microsoft.com/office/powerpoint/2010/main" val="292995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0043B925-52F2-46FF-B342-5E250D7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8">
            <a:extLst xmlns:a="http://schemas.openxmlformats.org/drawingml/2006/main">
              <a:ext uri="{FF2B5EF4-FFF2-40B4-BE49-F238E27FC236}">
                <a16:creationId xmlns:a16="http://schemas.microsoft.com/office/drawing/2014/main" id="{F8D1534A-FC57-47E8-90E5-EBAD922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8">
            <a:extLst xmlns:a="http://schemas.openxmlformats.org/drawingml/2006/main">
              <a:ext uri="{FF2B5EF4-FFF2-40B4-BE49-F238E27FC236}">
                <a16:creationId xmlns:a16="http://schemas.microsoft.com/office/drawing/2014/main" id="{FE687181-EAE2-4DA5-8600-ABBFE0F8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C995891B-A9CE-414E-AFD6-416072A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 · Finaler Test: 38,3 % weniger Fehler</a:t>
            </a:r>
          </a:p>
        </p:txBody>
      </p:sp>
      <p:sp>
        <p:nvSpPr>
          <p:cNvPr id="5" name="source-8">
            <a:extLst xmlns:a="http://schemas.openxmlformats.org/drawingml/2006/main">
              <a:ext uri="{FF2B5EF4-FFF2-40B4-BE49-F238E27FC236}">
                <a16:creationId xmlns:a16="http://schemas.microsoft.com/office/drawing/2014/main" id="{75360F69-A311-4496-8FF7-65B06D20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Eigene Berechnung auf 276.458 Zeilen aus 99 gesperrten Raumblöcken; reports/final_model_evaluation.json.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A79F5593-D33E-4449-A496-515624B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7" name="final-lead">
            <a:extLst xmlns:a="http://schemas.openxmlformats.org/drawingml/2006/main">
              <a:ext uri="{FF2B5EF4-FFF2-40B4-BE49-F238E27FC236}">
                <a16:creationId xmlns:a16="http://schemas.microsoft.com/office/drawing/2014/main" id="{DFA9B1AA-C9AB-4E86-B9A1-422FA25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Das nominale 90-%-Intervall erreicht räumlich 86,8 % – und genau das zeigt die App.</a:t>
            </a:r>
          </a:p>
        </p:txBody>
      </p:sp>
      <p:sp>
        <p:nvSpPr>
          <p:cNvPr id="8" name="final-chart-title">
            <a:extLst xmlns:a="http://schemas.openxmlformats.org/drawingml/2006/main">
              <a:ext uri="{FF2B5EF4-FFF2-40B4-BE49-F238E27FC236}">
                <a16:creationId xmlns:a16="http://schemas.microsoft.com/office/drawing/2014/main" id="{0C5F1998-5D54-4725-A9C4-7B962D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MAE auf dem finalen Test</a:t>
            </a:r>
          </a:p>
        </p:txBody>
      </p:sp>
      <p:sp>
        <p:nvSpPr>
          <p:cNvPr id="9" name="final-metric-one">
            <a:extLst xmlns:a="http://schemas.openxmlformats.org/drawingml/2006/main">
              <a:ext uri="{FF2B5EF4-FFF2-40B4-BE49-F238E27FC236}">
                <a16:creationId xmlns:a16="http://schemas.microsoft.com/office/drawing/2014/main" id="{DF0A22F3-CDF1-4530-8EA8-75B5204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4362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0">
            <a:solidFill>
              <a:srgbClr val="DDF5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inal-metric-one-stat">
            <a:extLst xmlns:a="http://schemas.openxmlformats.org/drawingml/2006/main">
              <a:ext uri="{FF2B5EF4-FFF2-40B4-BE49-F238E27FC236}">
                <a16:creationId xmlns:a16="http://schemas.microsoft.com/office/drawing/2014/main" id="{0AEC8CE9-09CB-4CB8-AD3B-54199BB3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38,3 %</a:t>
            </a:r>
          </a:p>
        </p:txBody>
      </p:sp>
      <p:sp>
        <p:nvSpPr>
          <p:cNvPr id="11" name="final-metric-one-body">
            <a:extLst xmlns:a="http://schemas.openxmlformats.org/drawingml/2006/main">
              <a:ext uri="{FF2B5EF4-FFF2-40B4-BE49-F238E27FC236}">
                <a16:creationId xmlns:a16="http://schemas.microsoft.com/office/drawing/2014/main" id="{87112F32-9566-4332-8B1C-A662657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weniger MAE als die Kategorie-Baseline</a:t>
            </a:r>
          </a:p>
        </p:txBody>
      </p:sp>
      <p:sp>
        <p:nvSpPr>
          <p:cNvPr id="12" name="final-metric-two">
            <a:extLst xmlns:a="http://schemas.openxmlformats.org/drawingml/2006/main">
              <a:ext uri="{FF2B5EF4-FFF2-40B4-BE49-F238E27FC236}">
                <a16:creationId xmlns:a16="http://schemas.microsoft.com/office/drawing/2014/main" id="{ACDCE033-3ABF-4FA0-AB47-28B9CA8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4362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inal-metric-two-stat">
            <a:extLst xmlns:a="http://schemas.openxmlformats.org/drawingml/2006/main">
              <a:ext uri="{FF2B5EF4-FFF2-40B4-BE49-F238E27FC236}">
                <a16:creationId xmlns:a16="http://schemas.microsoft.com/office/drawing/2014/main" id="{4E3B9EA6-7721-4C36-A597-158EE10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86,8 %</a:t>
            </a:r>
          </a:p>
        </p:txBody>
      </p:sp>
      <p:sp>
        <p:nvSpPr>
          <p:cNvPr id="14" name="final-metric-two-body">
            <a:extLst xmlns:a="http://schemas.openxmlformats.org/drawingml/2006/main">
              <a:ext uri="{FF2B5EF4-FFF2-40B4-BE49-F238E27FC236}">
                <a16:creationId xmlns:a16="http://schemas.microsoft.com/office/drawing/2014/main" id="{31A8896C-2820-412E-931B-55193BA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empirische Coverage des nominalen 90-%-Bands</a:t>
            </a:r>
          </a:p>
        </p:txBody>
      </p:sp>
      <p:sp>
        <p:nvSpPr>
          <p:cNvPr id="15" name="final-warning">
            <a:extLst xmlns:a="http://schemas.openxmlformats.org/drawingml/2006/main">
              <a:ext uri="{FF2B5EF4-FFF2-40B4-BE49-F238E27FC236}">
                <a16:creationId xmlns:a16="http://schemas.microsoft.com/office/drawing/2014/main" id="{C506B9EE-CB35-4185-90D8-D1FB083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36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t>Keine 90-%-Garantie: räumlicher Verteilungswechsel verletzt perfekte Austauschbarkeit.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217170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e7cc27b4ce4946"/>
          </a:graphicData>
        </a:graphic>
      </p:graphicFrame>
    </p:spTree>
    <p:extLst>
      <p:ext uri="{BB962C8B-B14F-4D97-AF65-F5344CB8AC3E}">
        <p14:creationId xmlns:p14="http://schemas.microsoft.com/office/powerpoint/2010/main" val="292995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10">
            <a:extLst xmlns:a="http://schemas.openxmlformats.org/drawingml/2006/main">
              <a:ext uri="{FF2B5EF4-FFF2-40B4-BE49-F238E27FC236}">
                <a16:creationId xmlns:a16="http://schemas.microsoft.com/office/drawing/2014/main" id="{82D220AE-A37C-40D3-B430-DD3AC338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0">
            <a:extLst xmlns:a="http://schemas.openxmlformats.org/drawingml/2006/main">
              <a:ext uri="{FF2B5EF4-FFF2-40B4-BE49-F238E27FC236}">
                <a16:creationId xmlns:a16="http://schemas.microsoft.com/office/drawing/2014/main" id="{DAC24D5E-7B44-43F7-8880-EC321B1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0">
            <a:extLst xmlns:a="http://schemas.openxmlformats.org/drawingml/2006/main">
              <a:ext uri="{FF2B5EF4-FFF2-40B4-BE49-F238E27FC236}">
                <a16:creationId xmlns:a16="http://schemas.microsoft.com/office/drawing/2014/main" id="{208A45C7-8610-4AC5-AD07-61D4284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0B954E67-B918-4E55-A44B-D12546C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 · Dein Mietbild: drei Werte bleiben getrennt</a:t>
            </a:r>
          </a:p>
        </p:txBody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BBBFC246-79F3-405A-A68B-D1C942FE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4B68A03E-D847-40FB-9609-DF5775C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7" name="screenshot-back">
            <a:extLst xmlns:a="http://schemas.openxmlformats.org/drawingml/2006/main">
              <a:ext uri="{FF2B5EF4-FFF2-40B4-BE49-F238E27FC236}">
                <a16:creationId xmlns:a16="http://schemas.microsoft.com/office/drawing/2014/main" id="{4BDF2DE0-9C75-4F74-A351-FC51D85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roduct-one">
            <a:extLst xmlns:a="http://schemas.openxmlformats.org/drawingml/2006/main">
              <a:ext uri="{FF2B5EF4-FFF2-40B4-BE49-F238E27FC236}">
                <a16:creationId xmlns:a16="http://schemas.microsoft.com/office/drawing/2014/main" id="{09F5E031-EF10-4D41-8CE7-40317B2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1 · Szenario eingeben</a:t>
            </a:r>
          </a:p>
        </p:txBody>
      </p:sp>
      <p:sp>
        <p:nvSpPr>
          <p:cNvPr id="9" name="product-two">
            <a:extLst xmlns:a="http://schemas.openxmlformats.org/drawingml/2006/main">
              <a:ext uri="{FF2B5EF4-FFF2-40B4-BE49-F238E27FC236}">
                <a16:creationId xmlns:a16="http://schemas.microsoft.com/office/drawing/2014/main" id="{70FFCED3-3BF4-498D-86F4-E2F7EBD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2 · drei Mietrealitäten</a:t>
            </a:r>
          </a:p>
        </p:txBody>
      </p:sp>
      <p:sp>
        <p:nvSpPr>
          <p:cNvPr id="10" name="product-three">
            <a:extLst xmlns:a="http://schemas.openxmlformats.org/drawingml/2006/main">
              <a:ext uri="{FF2B5EF4-FFF2-40B4-BE49-F238E27FC236}">
                <a16:creationId xmlns:a16="http://schemas.microsoft.com/office/drawing/2014/main" id="{A29F6F45-2617-4455-A0D0-91E3DBE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85D3F"/>
                </a:solidFill>
                <a:latin typeface="Arial"/>
                <a:ea typeface="Arial"/>
                <a:cs typeface="Arial"/>
              </a:defRPr>
            </a:pPr>
            <a:r>
              <a:t>3 · Umzugsaufschlag</a:t>
            </a:r>
          </a:p>
        </p:txBody>
      </p:sp>
      <p:pic>
        <p:nvPicPr>
          <p:cNvPr id="28" name="Grafik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eeef4d1ba4189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  <p:sp>
        <p:nvSpPr>
          <p:cNvPr id="12" name="product-mask">
            <a:extLst xmlns:a="http://schemas.openxmlformats.org/drawingml/2006/main">
              <a:ext uri="{FF2B5EF4-FFF2-40B4-BE49-F238E27FC236}">
                <a16:creationId xmlns:a16="http://schemas.microsoft.com/office/drawing/2014/main" id="{62E760CC-F31B-42B2-ABD3-B8E6D68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85900"/>
            <a:ext cx="79914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8"/>
          </a:solidFill>
          <a:ln xmlns:a="http://schemas.openxmlformats.org/drawingml/2006/main" w="0">
            <a:solidFill>
              <a:srgbClr val="1021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product-mask-copy">
            <a:extLst xmlns:a="http://schemas.openxmlformats.org/drawingml/2006/main">
              <a:ext uri="{FF2B5EF4-FFF2-40B4-BE49-F238E27FC236}">
                <a16:creationId xmlns:a16="http://schemas.microsoft.com/office/drawing/2014/main" id="{0A346937-0234-4B35-9F4B-D02F8DE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Ergebnis statt Scheingenauigkeit</a:t>
            </a:r>
          </a:p>
        </p:txBody>
      </p:sp>
      <p:sp>
        <p:nvSpPr>
          <p:cNvPr id="14" name="product-mask-subcopy">
            <a:extLst xmlns:a="http://schemas.openxmlformats.org/drawingml/2006/main">
              <a:ext uri="{FF2B5EF4-FFF2-40B4-BE49-F238E27FC236}">
                <a16:creationId xmlns:a16="http://schemas.microsoft.com/office/drawing/2014/main" id="{8843F53C-923D-460A-B35A-EB8DD0FB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33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FE8DF"/>
                </a:solidFill>
                <a:latin typeface="Arial"/>
                <a:ea typeface="Arial"/>
                <a:cs typeface="Arial"/>
              </a:defRPr>
            </a:pPr>
            <a:r>
              <a:t>Bestandsanker, Angebot und persönliche Belastung mit klarer Zeitreferenz.</a:t>
            </a:r>
          </a:p>
        </p:txBody>
      </p:sp>
      <p:pic>
        <p:nvPicPr>
          <p:cNvPr id="32" name="Grafik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a06380cd345d0"/>
          <a:srcRect xmlns:a="http://schemas.openxmlformats.org/drawingml/2006/main" l="0" t="24967" r="0" b="24967"/>
          <a:stretch xmlns:a="http://schemas.openxmlformats.org/drawingml/2006/main"/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10">
            <a:extLst xmlns:a="http://schemas.openxmlformats.org/drawingml/2006/main">
              <a:ext uri="{FF2B5EF4-FFF2-40B4-BE49-F238E27FC236}">
                <a16:creationId xmlns:a16="http://schemas.microsoft.com/office/drawing/2014/main" id="{82D220AE-A37C-40D3-B430-DD3AC338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0">
            <a:extLst xmlns:a="http://schemas.openxmlformats.org/drawingml/2006/main">
              <a:ext uri="{FF2B5EF4-FFF2-40B4-BE49-F238E27FC236}">
                <a16:creationId xmlns:a16="http://schemas.microsoft.com/office/drawing/2014/main" id="{DAC24D5E-7B44-43F7-8880-EC321B1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0">
            <a:extLst xmlns:a="http://schemas.openxmlformats.org/drawingml/2006/main">
              <a:ext uri="{FF2B5EF4-FFF2-40B4-BE49-F238E27FC236}">
                <a16:creationId xmlns:a16="http://schemas.microsoft.com/office/drawing/2014/main" id="{208A45C7-8610-4AC5-AD07-61D4284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0B954E67-B918-4E55-A44B-D12546C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 · Marktverlauf: Aktualität und Streuung sichtbar</a:t>
            </a:r>
          </a:p>
        </p:txBody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BBBFC246-79F3-405A-A68B-D1C942FE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4B68A03E-D847-40FB-9609-DF5775C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7" name="screenshot-back">
            <a:extLst xmlns:a="http://schemas.openxmlformats.org/drawingml/2006/main">
              <a:ext uri="{FF2B5EF4-FFF2-40B4-BE49-F238E27FC236}">
                <a16:creationId xmlns:a16="http://schemas.microsoft.com/office/drawing/2014/main" id="{4BDF2DE0-9C75-4F74-A351-FC51D85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roduct-one">
            <a:extLst xmlns:a="http://schemas.openxmlformats.org/drawingml/2006/main">
              <a:ext uri="{FF2B5EF4-FFF2-40B4-BE49-F238E27FC236}">
                <a16:creationId xmlns:a16="http://schemas.microsoft.com/office/drawing/2014/main" id="{09F5E031-EF10-4D41-8CE7-40317B2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1 · Region wählen</a:t>
            </a:r>
          </a:p>
        </p:txBody>
      </p:sp>
      <p:sp>
        <p:nvSpPr>
          <p:cNvPr id="9" name="product-two">
            <a:extLst xmlns:a="http://schemas.openxmlformats.org/drawingml/2006/main">
              <a:ext uri="{FF2B5EF4-FFF2-40B4-BE49-F238E27FC236}">
                <a16:creationId xmlns:a16="http://schemas.microsoft.com/office/drawing/2014/main" id="{70FFCED3-3BF4-498D-86F4-E2F7EBD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2 · Quartalsverlauf</a:t>
            </a:r>
          </a:p>
        </p:txBody>
      </p:sp>
      <p:sp>
        <p:nvSpPr>
          <p:cNvPr id="10" name="product-three">
            <a:extLst xmlns:a="http://schemas.openxmlformats.org/drawingml/2006/main">
              <a:ext uri="{FF2B5EF4-FFF2-40B4-BE49-F238E27FC236}">
                <a16:creationId xmlns:a16="http://schemas.microsoft.com/office/drawing/2014/main" id="{A29F6F45-2617-4455-A0D0-91E3DBE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85D3F"/>
                </a:solidFill>
                <a:latin typeface="Arial"/>
                <a:ea typeface="Arial"/>
                <a:cs typeface="Arial"/>
              </a:defRPr>
            </a:pPr>
            <a:r>
              <a:t>3 · Markt-IQR lesen</a:t>
            </a:r>
          </a:p>
        </p:txBody>
      </p:sp>
      <p:pic>
        <p:nvPicPr>
          <p:cNvPr id="28" name="Grafik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4d0c6c056461f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  <p:sp>
        <p:nvSpPr>
          <p:cNvPr id="12" name="product-mask">
            <a:extLst xmlns:a="http://schemas.openxmlformats.org/drawingml/2006/main">
              <a:ext uri="{FF2B5EF4-FFF2-40B4-BE49-F238E27FC236}">
                <a16:creationId xmlns:a16="http://schemas.microsoft.com/office/drawing/2014/main" id="{62E760CC-F31B-42B2-ABD3-B8E6D68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85900"/>
            <a:ext cx="79914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8"/>
          </a:solidFill>
          <a:ln xmlns:a="http://schemas.openxmlformats.org/drawingml/2006/main" w="0">
            <a:solidFill>
              <a:srgbClr val="1021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product-mask-copy">
            <a:extLst xmlns:a="http://schemas.openxmlformats.org/drawingml/2006/main">
              <a:ext uri="{FF2B5EF4-FFF2-40B4-BE49-F238E27FC236}">
                <a16:creationId xmlns:a16="http://schemas.microsoft.com/office/drawing/2014/main" id="{0A346937-0234-4B35-9F4B-D02F8DE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GREIX 2026-Q1 · unabhängig vom ML-Ziel</a:t>
            </a:r>
          </a:p>
        </p:txBody>
      </p:sp>
      <p:sp>
        <p:nvSpPr>
          <p:cNvPr id="14" name="product-mask-subcopy">
            <a:extLst xmlns:a="http://schemas.openxmlformats.org/drawingml/2006/main">
              <a:ext uri="{FF2B5EF4-FFF2-40B4-BE49-F238E27FC236}">
                <a16:creationId xmlns:a16="http://schemas.microsoft.com/office/drawing/2014/main" id="{8843F53C-923D-460A-B35A-EB8DD0FB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33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FE8DF"/>
                </a:solidFill>
                <a:latin typeface="Arial"/>
                <a:ea typeface="Arial"/>
                <a:cs typeface="Arial"/>
              </a:defRPr>
            </a:pPr>
            <a:r>
              <a:t>Der Angebotsmarkt aktualisiert die App, ohne den Zensus 2022 umzudeuten.</a:t>
            </a:r>
          </a:p>
        </p:txBody>
      </p:sp>
      <p:pic>
        <p:nvPicPr>
          <p:cNvPr id="32" name="Grafik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d135d67bd45b0"/>
          <a:srcRect xmlns:a="http://schemas.openxmlformats.org/drawingml/2006/main" l="0" t="24967" r="0" b="24967"/>
          <a:stretch xmlns:a="http://schemas.openxmlformats.org/drawingml/2006/main"/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10">
            <a:extLst xmlns:a="http://schemas.openxmlformats.org/drawingml/2006/main">
              <a:ext uri="{FF2B5EF4-FFF2-40B4-BE49-F238E27FC236}">
                <a16:creationId xmlns:a16="http://schemas.microsoft.com/office/drawing/2014/main" id="{82D220AE-A37C-40D3-B430-DD3AC338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0">
            <a:extLst xmlns:a="http://schemas.openxmlformats.org/drawingml/2006/main">
              <a:ext uri="{FF2B5EF4-FFF2-40B4-BE49-F238E27FC236}">
                <a16:creationId xmlns:a16="http://schemas.microsoft.com/office/drawing/2014/main" id="{DAC24D5E-7B44-43F7-8880-EC321B1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0">
            <a:extLst xmlns:a="http://schemas.openxmlformats.org/drawingml/2006/main">
              <a:ext uri="{FF2B5EF4-FFF2-40B4-BE49-F238E27FC236}">
                <a16:creationId xmlns:a16="http://schemas.microsoft.com/office/drawing/2014/main" id="{208A45C7-8610-4AC5-AD07-61D4284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0B954E67-B918-4E55-A44B-D12546C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 · Methodik: Modellgüte, Quellen und Grenzen</a:t>
            </a:r>
          </a:p>
        </p:txBody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BBBFC246-79F3-405A-A68B-D1C942FE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4B68A03E-D847-40FB-9609-DF5775C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7" name="screenshot-back">
            <a:extLst xmlns:a="http://schemas.openxmlformats.org/drawingml/2006/main">
              <a:ext uri="{FF2B5EF4-FFF2-40B4-BE49-F238E27FC236}">
                <a16:creationId xmlns:a16="http://schemas.microsoft.com/office/drawing/2014/main" id="{4BDF2DE0-9C75-4F74-A351-FC51D85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roduct-one">
            <a:extLst xmlns:a="http://schemas.openxmlformats.org/drawingml/2006/main">
              <a:ext uri="{FF2B5EF4-FFF2-40B4-BE49-F238E27FC236}">
                <a16:creationId xmlns:a16="http://schemas.microsoft.com/office/drawing/2014/main" id="{09F5E031-EF10-4D41-8CE7-40317B2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1 · Datenstand</a:t>
            </a:r>
          </a:p>
        </p:txBody>
      </p:sp>
      <p:sp>
        <p:nvSpPr>
          <p:cNvPr id="9" name="product-two">
            <a:extLst xmlns:a="http://schemas.openxmlformats.org/drawingml/2006/main">
              <a:ext uri="{FF2B5EF4-FFF2-40B4-BE49-F238E27FC236}">
                <a16:creationId xmlns:a16="http://schemas.microsoft.com/office/drawing/2014/main" id="{70FFCED3-3BF4-498D-86F4-E2F7EBD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2 · Spatial Holdout</a:t>
            </a:r>
          </a:p>
        </p:txBody>
      </p:sp>
      <p:sp>
        <p:nvSpPr>
          <p:cNvPr id="10" name="product-three">
            <a:extLst xmlns:a="http://schemas.openxmlformats.org/drawingml/2006/main">
              <a:ext uri="{FF2B5EF4-FFF2-40B4-BE49-F238E27FC236}">
                <a16:creationId xmlns:a16="http://schemas.microsoft.com/office/drawing/2014/main" id="{A29F6F45-2617-4455-A0D0-91E3DBE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436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85D3F"/>
                </a:solidFill>
                <a:latin typeface="Arial"/>
                <a:ea typeface="Arial"/>
                <a:cs typeface="Arial"/>
              </a:defRPr>
            </a:pPr>
            <a:r>
              <a:t>3 · Coverage &amp; Disclaimer</a:t>
            </a:r>
          </a:p>
        </p:txBody>
      </p:sp>
      <p:pic>
        <p:nvPicPr>
          <p:cNvPr id="28" name="Grafik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c3bac76334e46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  <p:sp>
        <p:nvSpPr>
          <p:cNvPr id="12" name="product-mask">
            <a:extLst xmlns:a="http://schemas.openxmlformats.org/drawingml/2006/main">
              <a:ext uri="{FF2B5EF4-FFF2-40B4-BE49-F238E27FC236}">
                <a16:creationId xmlns:a16="http://schemas.microsoft.com/office/drawing/2014/main" id="{62E760CC-F31B-42B2-ABD3-B8E6D68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85900"/>
            <a:ext cx="79914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8"/>
          </a:solidFill>
          <a:ln xmlns:a="http://schemas.openxmlformats.org/drawingml/2006/main" w="0">
            <a:solidFill>
              <a:srgbClr val="1021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product-mask-copy">
            <a:extLst xmlns:a="http://schemas.openxmlformats.org/drawingml/2006/main">
              <a:ext uri="{FF2B5EF4-FFF2-40B4-BE49-F238E27FC236}">
                <a16:creationId xmlns:a16="http://schemas.microsoft.com/office/drawing/2014/main" id="{0A346937-0234-4B35-9F4B-D02F8DE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733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Transparenz ist Teil des Produkts</a:t>
            </a:r>
          </a:p>
        </p:txBody>
      </p:sp>
      <p:sp>
        <p:nvSpPr>
          <p:cNvPr id="14" name="product-mask-subcopy">
            <a:extLst xmlns:a="http://schemas.openxmlformats.org/drawingml/2006/main">
              <a:ext uri="{FF2B5EF4-FFF2-40B4-BE49-F238E27FC236}">
                <a16:creationId xmlns:a16="http://schemas.microsoft.com/office/drawing/2014/main" id="{8843F53C-923D-460A-B35A-EB8DD0FB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33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FE8DF"/>
                </a:solidFill>
                <a:latin typeface="Arial"/>
                <a:ea typeface="Arial"/>
                <a:cs typeface="Arial"/>
              </a:defRPr>
            </a:pPr>
            <a:r>
              <a:t>Nutzer sehen Datenquellen, 7-Kandidaten-Vergleich, Testgüte und 86,8 % Coverage.</a:t>
            </a:r>
          </a:p>
        </p:txBody>
      </p:sp>
      <p:pic>
        <p:nvPicPr>
          <p:cNvPr id="32" name="Grafik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632417a7346aa"/>
          <a:srcRect xmlns:a="http://schemas.openxmlformats.org/drawingml/2006/main" l="0" t="24967" r="0" b="24967"/>
          <a:stretch xmlns:a="http://schemas.openxmlformats.org/drawingml/2006/main"/>
        </p:blipFill>
        <p:spPr>
          <a:xfrm xmlns:a="http://schemas.openxmlformats.org/drawingml/2006/main">
            <a:off x="552450" y="1485900"/>
            <a:ext cx="10858500" cy="415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header-11">
            <a:extLst xmlns:a="http://schemas.openxmlformats.org/drawingml/2006/main">
              <a:ext uri="{FF2B5EF4-FFF2-40B4-BE49-F238E27FC236}">
                <a16:creationId xmlns:a16="http://schemas.microsoft.com/office/drawing/2014/main" id="{69C0D3BE-8666-42D8-A511-6D32A78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1">
            <a:extLst xmlns:a="http://schemas.openxmlformats.org/drawingml/2006/main">
              <a:ext uri="{FF2B5EF4-FFF2-40B4-BE49-F238E27FC236}">
                <a16:creationId xmlns:a16="http://schemas.microsoft.com/office/drawing/2014/main" id="{2241EBF9-3B9C-45FA-BF42-71FDB3E5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1">
            <a:extLst xmlns:a="http://schemas.openxmlformats.org/drawingml/2006/main">
              <a:ext uri="{FF2B5EF4-FFF2-40B4-BE49-F238E27FC236}">
                <a16:creationId xmlns:a16="http://schemas.microsoft.com/office/drawing/2014/main" id="{4545EEF1-C021-4BA2-9408-E9F43FE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6F7FA0BD-7285-4198-90B3-A6B9DEB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C/K · Ein gutes Modell kennt seine Einsatzgrenze</a:t>
            </a:r>
          </a:p>
        </p:txBody>
      </p:sp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960D00F3-3CAE-4A61-B148-62C5D45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E79274EB-7947-41C3-8A02-3F03F43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7" name="limits-lead">
            <a:extLst xmlns:a="http://schemas.openxmlformats.org/drawingml/2006/main">
              <a:ext uri="{FF2B5EF4-FFF2-40B4-BE49-F238E27FC236}">
                <a16:creationId xmlns:a16="http://schemas.microsoft.com/office/drawing/2014/main" id="{A2974C9F-7C28-4462-8412-716EF76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MietCheck unterstützt Exploration und Umzugsentscheidungen – keine rechtliche Preisfeststellung.</a:t>
            </a:r>
          </a:p>
        </p:txBody>
      </p:sp>
      <p:cxnSp>
        <p:nvCxnSpPr>
          <p:cNvPr id="68" name="limits-sep"/>
          <p:cNvCxnSpPr/>
          <p:nvPr/>
        </p:nvCxnSpPr>
        <p:spPr>
          <a:xfrm xmlns:a="http://schemas.openxmlformats.org/drawingml/2006/main">
            <a:off x="6096000" y="2133600"/>
            <a:ext cx="286" cy="3486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sp>
        <p:nvSpPr>
          <p:cNvPr id="9" name="limits-left-title">
            <a:extLst xmlns:a="http://schemas.openxmlformats.org/drawingml/2006/main">
              <a:ext uri="{FF2B5EF4-FFF2-40B4-BE49-F238E27FC236}">
                <a16:creationId xmlns:a16="http://schemas.microsoft.com/office/drawing/2014/main" id="{032A934B-C847-40C6-A537-458E8AE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Was fehlt?</a:t>
            </a:r>
          </a:p>
        </p:txBody>
      </p:sp>
      <p:sp>
        <p:nvSpPr>
          <p:cNvPr id="10" name="limits-right-title">
            <a:extLst xmlns:a="http://schemas.openxmlformats.org/drawingml/2006/main">
              <a:ext uri="{FF2B5EF4-FFF2-40B4-BE49-F238E27FC236}">
                <a16:creationId xmlns:a16="http://schemas.microsoft.com/office/drawing/2014/main" id="{8BF5A322-F572-4231-8032-AE559B8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38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Wie wird das abgefedert?</a:t>
            </a:r>
          </a:p>
        </p:txBody>
      </p:sp>
      <p:sp>
        <p:nvSpPr>
          <p:cNvPr id="11" name="limit-dot-0">
            <a:extLst xmlns:a="http://schemas.openxmlformats.org/drawingml/2006/main">
              <a:ext uri="{FF2B5EF4-FFF2-40B4-BE49-F238E27FC236}">
                <a16:creationId xmlns:a16="http://schemas.microsoft.com/office/drawing/2014/main" id="{DDD37B09-8035-4B89-B47E-734E7790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limit-copy-0">
            <a:extLst xmlns:a="http://schemas.openxmlformats.org/drawingml/2006/main">
              <a:ext uri="{FF2B5EF4-FFF2-40B4-BE49-F238E27FC236}">
                <a16:creationId xmlns:a16="http://schemas.microsoft.com/office/drawing/2014/main" id="{4AC89F28-5CCE-4F3A-AA44-5D84CBE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Ausstattung, Energiezustand, Etage und Mikrolage</a:t>
            </a:r>
          </a:p>
        </p:txBody>
      </p:sp>
      <p:sp>
        <p:nvSpPr>
          <p:cNvPr id="13" name="mit-dot-0">
            <a:extLst xmlns:a="http://schemas.openxmlformats.org/drawingml/2006/main">
              <a:ext uri="{FF2B5EF4-FFF2-40B4-BE49-F238E27FC236}">
                <a16:creationId xmlns:a16="http://schemas.microsoft.com/office/drawing/2014/main" id="{E4713A01-42DB-4F73-AA07-658794D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mit-copy-0">
            <a:extLst xmlns:a="http://schemas.openxmlformats.org/drawingml/2006/main">
              <a:ext uri="{FF2B5EF4-FFF2-40B4-BE49-F238E27FC236}">
                <a16:creationId xmlns:a16="http://schemas.microsoft.com/office/drawing/2014/main" id="{CBE6039B-582C-46A1-A37C-8BA5B2B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keine adressgenaue oder rechtliche Behauptung</a:t>
            </a:r>
          </a:p>
        </p:txBody>
      </p:sp>
      <p:sp>
        <p:nvSpPr>
          <p:cNvPr id="15" name="limit-dot-1">
            <a:extLst xmlns:a="http://schemas.openxmlformats.org/drawingml/2006/main">
              <a:ext uri="{FF2B5EF4-FFF2-40B4-BE49-F238E27FC236}">
                <a16:creationId xmlns:a16="http://schemas.microsoft.com/office/drawing/2014/main" id="{735C978F-BD3A-4A2F-9F0A-5173673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mit-copy-1">
            <a:extLst xmlns:a="http://schemas.openxmlformats.org/drawingml/2006/main">
              <a:ext uri="{FF2B5EF4-FFF2-40B4-BE49-F238E27FC236}">
                <a16:creationId xmlns:a16="http://schemas.microsoft.com/office/drawing/2014/main" id="{D421D142-943C-4107-972A-97DC39A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Zensus-Stichtag 2022 und räumlicher Shift</a:t>
            </a:r>
          </a:p>
        </p:txBody>
      </p:sp>
      <p:sp>
        <p:nvSpPr>
          <p:cNvPr id="17" name="mit-dot-1">
            <a:extLst xmlns:a="http://schemas.openxmlformats.org/drawingml/2006/main">
              <a:ext uri="{FF2B5EF4-FFF2-40B4-BE49-F238E27FC236}">
                <a16:creationId xmlns:a16="http://schemas.microsoft.com/office/drawing/2014/main" id="{67B7C1AB-9E09-4067-89BC-3ED8B76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mit-copy-1">
            <a:extLst xmlns:a="http://schemas.openxmlformats.org/drawingml/2006/main">
              <a:ext uri="{FF2B5EF4-FFF2-40B4-BE49-F238E27FC236}">
                <a16:creationId xmlns:a16="http://schemas.microsoft.com/office/drawing/2014/main" id="{F8644C7B-BF1E-48BC-B788-FD05FE1D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aktuellen GREIX-Markt separat ausweisen</a:t>
            </a:r>
          </a:p>
        </p:txBody>
      </p:sp>
      <p:sp>
        <p:nvSpPr>
          <p:cNvPr id="19" name="limit-dot-2">
            <a:extLst xmlns:a="http://schemas.openxmlformats.org/drawingml/2006/main">
              <a:ext uri="{FF2B5EF4-FFF2-40B4-BE49-F238E27FC236}">
                <a16:creationId xmlns:a16="http://schemas.microsoft.com/office/drawing/2014/main" id="{B72C6549-DA74-4AA6-9F21-90E3D430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mit-copy-2">
            <a:extLst xmlns:a="http://schemas.openxmlformats.org/drawingml/2006/main">
              <a:ext uri="{FF2B5EF4-FFF2-40B4-BE49-F238E27FC236}">
                <a16:creationId xmlns:a16="http://schemas.microsoft.com/office/drawing/2014/main" id="{FD9A2864-D2E7-4D66-A7E6-A1733FD4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Angebotsdaten außerhalb der GREIX-Märkte</a:t>
            </a:r>
          </a:p>
        </p:txBody>
      </p:sp>
      <p:sp>
        <p:nvSpPr>
          <p:cNvPr id="21" name="mit-dot-2">
            <a:extLst xmlns:a="http://schemas.openxmlformats.org/drawingml/2006/main">
              <a:ext uri="{FF2B5EF4-FFF2-40B4-BE49-F238E27FC236}">
                <a16:creationId xmlns:a16="http://schemas.microsoft.com/office/drawing/2014/main" id="{DBB39BF6-D06F-4604-9961-5696EB5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mit-copy-2">
            <a:extLst xmlns:a="http://schemas.openxmlformats.org/drawingml/2006/main">
              <a:ext uri="{FF2B5EF4-FFF2-40B4-BE49-F238E27FC236}">
                <a16:creationId xmlns:a16="http://schemas.microsoft.com/office/drawing/2014/main" id="{DEA41A41-08DC-484A-B0EF-4580F66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keine fehlenden Regionen erfinden</a:t>
            </a:r>
          </a:p>
        </p:txBody>
      </p:sp>
      <p:sp>
        <p:nvSpPr>
          <p:cNvPr id="23" name="limit-dot-3">
            <a:extLst xmlns:a="http://schemas.openxmlformats.org/drawingml/2006/main">
              <a:ext uri="{FF2B5EF4-FFF2-40B4-BE49-F238E27FC236}">
                <a16:creationId xmlns:a16="http://schemas.microsoft.com/office/drawing/2014/main" id="{E1065956-2E0E-4DBC-BD7C-899E8FC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E85D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mit-copy-3">
            <a:extLst xmlns:a="http://schemas.openxmlformats.org/drawingml/2006/main">
              <a:ext uri="{FF2B5EF4-FFF2-40B4-BE49-F238E27FC236}">
                <a16:creationId xmlns:a16="http://schemas.microsoft.com/office/drawing/2014/main" id="{4AF22B09-425D-4468-B63E-058F57B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nominale 90-%-Coverage nicht erreicht</a:t>
            </a:r>
          </a:p>
        </p:txBody>
      </p:sp>
      <p:sp>
        <p:nvSpPr>
          <p:cNvPr id="25" name="mit-dot-3">
            <a:extLst xmlns:a="http://schemas.openxmlformats.org/drawingml/2006/main">
              <a:ext uri="{FF2B5EF4-FFF2-40B4-BE49-F238E27FC236}">
                <a16:creationId xmlns:a16="http://schemas.microsoft.com/office/drawing/2014/main" id="{D1BA2AFD-3626-4EBE-AA4E-4B1BEF4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it-copy-3">
            <a:extLst xmlns:a="http://schemas.openxmlformats.org/drawingml/2006/main">
              <a:ext uri="{FF2B5EF4-FFF2-40B4-BE49-F238E27FC236}">
                <a16:creationId xmlns:a16="http://schemas.microsoft.com/office/drawing/2014/main" id="{D17182A3-0D2D-4DF2-A106-4F15042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empirische 86,8 % offen kommunizieren</a:t>
            </a:r>
          </a:p>
        </p:txBody>
      </p:sp>
      <p:sp>
        <p:nvSpPr>
          <p:cNvPr id="27" name="not-advice">
            <a:extLst xmlns:a="http://schemas.openxmlformats.org/drawingml/2006/main">
              <a:ext uri="{FF2B5EF4-FFF2-40B4-BE49-F238E27FC236}">
                <a16:creationId xmlns:a16="http://schemas.microsoft.com/office/drawing/2014/main" id="{D8247965-B413-4039-8BA9-83240F1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not-advice-text">
            <a:extLst xmlns:a="http://schemas.openxmlformats.org/drawingml/2006/main">
              <a:ext uri="{FF2B5EF4-FFF2-40B4-BE49-F238E27FC236}">
                <a16:creationId xmlns:a16="http://schemas.microsoft.com/office/drawing/2014/main" id="{DD9BC2A2-4C9F-4C0A-B305-B70F79A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Kein amtlicher Mietspiegel · keine Rechtsberatung · keine Bonitäts- oder Vermieterentscheidung</a:t>
            </a:r>
          </a:p>
        </p:txBody>
      </p:sp>
    </p:spTree>
    <p:extLst>
      <p:ext uri="{BB962C8B-B14F-4D97-AF65-F5344CB8AC3E}">
        <p14:creationId xmlns:p14="http://schemas.microsoft.com/office/powerpoint/2010/main" val="5418921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A9783E21-7A02-4E63-BEE7-7D97DBA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71E2B7"/>
                </a:solidFill>
                <a:latin typeface="Arial"/>
                <a:ea typeface="Arial"/>
                <a:cs typeface="Arial"/>
              </a:defRPr>
            </a:pPr>
            <a:r>
              <a:t>FAZIT · QUA³CK GESCHLOSSEN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12A9F7B3-107F-4DA8-BA91-CF1A9429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Nicht eine „faire“ Miete.
Eine nachvollziehbare Umzugsentscheidung.</a:t>
            </a:r>
          </a:p>
        </p:txBody>
      </p:sp>
      <p:sp>
        <p:nvSpPr>
          <p:cNvPr id="3" name="conclusion-proof">
            <a:extLst xmlns:a="http://schemas.openxmlformats.org/drawingml/2006/main">
              <a:ext uri="{FF2B5EF4-FFF2-40B4-BE49-F238E27FC236}">
                <a16:creationId xmlns:a16="http://schemas.microsoft.com/office/drawing/2014/main" id="{426EFC8B-986D-4707-814A-5F17FA45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D7DEE8"/>
                </a:solidFill>
                <a:latin typeface="Arial"/>
                <a:ea typeface="Arial"/>
                <a:cs typeface="Arial"/>
              </a:defRPr>
            </a:pPr>
            <a:r>
              <a:t>2,06 Mio. Zeilen · StandardScaler verstanden · 7 Kandidaten · Spatial Holdout · 38,3 % Gewinn · 86,8 % Coverage</a:t>
            </a:r>
          </a:p>
        </p:txBody>
      </p:sp>
      <p:cxnSp>
        <p:nvCxnSpPr>
          <p:cNvPr id="26" name="conclusion-rule"/>
          <p:cNvCxnSpPr/>
          <p:nvPr/>
        </p:nvCxnSpPr>
        <p:spPr>
          <a:xfrm xmlns:a="http://schemas.openxmlformats.org/drawingml/2006/main">
            <a:off x="533400" y="5295900"/>
            <a:ext cx="10668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B4B60"/>
            </a:solidFill>
            <a:prstDash val="solid"/>
          </a:ln>
        </p:spPr>
      </p:cxnSp>
      <p:sp>
        <p:nvSpPr>
          <p:cNvPr id="5" name="conclusion-close">
            <a:extLst xmlns:a="http://schemas.openxmlformats.org/drawingml/2006/main">
              <a:ext uri="{FF2B5EF4-FFF2-40B4-BE49-F238E27FC236}">
                <a16:creationId xmlns:a16="http://schemas.microsoft.com/office/drawing/2014/main" id="{8B624221-185C-4722-8C76-79EA142D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71E2B7"/>
                </a:solidFill>
                <a:latin typeface="Arial"/>
                <a:ea typeface="Arial"/>
                <a:cs typeface="Arial"/>
              </a:defRPr>
            </a:pPr>
            <a:r>
              <a:t>MietCheck übersetzt Big Data und ehrliches Machine Learning in einen echten persönlichen Mehrwert.</a:t>
            </a:r>
          </a:p>
        </p:txBody>
      </p:sp>
      <p:sp>
        <p:nvSpPr>
          <p:cNvPr id="6" name="conclusion-page">
            <a:extLst xmlns:a="http://schemas.openxmlformats.org/drawingml/2006/main">
              <a:ext uri="{FF2B5EF4-FFF2-40B4-BE49-F238E27FC236}">
                <a16:creationId xmlns:a16="http://schemas.microsoft.com/office/drawing/2014/main" id="{FD6BCA4C-6701-4E94-94B4-47B9225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17038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header-13">
            <a:extLst xmlns:a="http://schemas.openxmlformats.org/drawingml/2006/main">
              <a:ext uri="{FF2B5EF4-FFF2-40B4-BE49-F238E27FC236}">
                <a16:creationId xmlns:a16="http://schemas.microsoft.com/office/drawing/2014/main" id="{2CD076FD-D4E2-433F-B474-C7867F3D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4"/>
          </a:solidFill>
          <a:ln xmlns:a="http://schemas.openxmlformats.org/drawingml/2006/main" w="0">
            <a:solidFill>
              <a:srgbClr val="0F21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header-teal-13">
            <a:extLst xmlns:a="http://schemas.openxmlformats.org/drawingml/2006/main">
              <a:ext uri="{FF2B5EF4-FFF2-40B4-BE49-F238E27FC236}">
                <a16:creationId xmlns:a16="http://schemas.microsoft.com/office/drawing/2014/main" id="{6E18CD19-21E4-4971-B783-F35A938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0"/>
          </a:solidFill>
          <a:ln xmlns:a="http://schemas.openxmlformats.org/drawingml/2006/main" w="0">
            <a:solidFill>
              <a:srgbClr val="174F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header-accent-13">
            <a:extLst xmlns:a="http://schemas.openxmlformats.org/drawingml/2006/main">
              <a:ext uri="{FF2B5EF4-FFF2-40B4-BE49-F238E27FC236}">
                <a16:creationId xmlns:a16="http://schemas.microsoft.com/office/drawing/2014/main" id="{CCF94777-7A5C-4147-B3E4-A13E01D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99A"/>
          </a:solidFill>
          <a:ln xmlns:a="http://schemas.openxmlformats.org/drawingml/2006/main" w="0">
            <a:solidFill>
              <a:srgbClr val="19C9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E920D481-0D5D-4D08-BDF4-AF2BE30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763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Backup · Quellen und Reproduzierbarkeit</a:t>
            </a:r>
          </a:p>
        </p:txBody>
      </p:sp>
      <p:sp>
        <p:nvSpPr>
          <p:cNvPr id="5" name="source-13">
            <a:extLst xmlns:a="http://schemas.openxmlformats.org/drawingml/2006/main">
              <a:ext uri="{FF2B5EF4-FFF2-40B4-BE49-F238E27FC236}">
                <a16:creationId xmlns:a16="http://schemas.microsoft.com/office/drawing/2014/main" id="{22EF8BF9-60F6-4D2D-BF33-19F4031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page-13">
            <a:extLst xmlns:a="http://schemas.openxmlformats.org/drawingml/2006/main">
              <a:ext uri="{FF2B5EF4-FFF2-40B4-BE49-F238E27FC236}">
                <a16:creationId xmlns:a16="http://schemas.microsoft.com/office/drawing/2014/main" id="{6530395F-337D-4405-9E2C-F25840B6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7" name="sources-one-title">
            <a:extLst xmlns:a="http://schemas.openxmlformats.org/drawingml/2006/main">
              <a:ext uri="{FF2B5EF4-FFF2-40B4-BE49-F238E27FC236}">
                <a16:creationId xmlns:a16="http://schemas.microsoft.com/office/drawing/2014/main" id="{B47C0066-7B17-4687-B334-E76AEA45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7B62"/>
                </a:solidFill>
                <a:latin typeface="Arial"/>
                <a:ea typeface="Arial"/>
                <a:cs typeface="Arial"/>
              </a:defRPr>
            </a:pPr>
            <a:r>
              <a:t>Zensus 2022</a:t>
            </a:r>
          </a:p>
        </p:txBody>
      </p:sp>
      <p:sp>
        <p:nvSpPr>
          <p:cNvPr id="8" name="sources-one-body">
            <a:extLst xmlns:a="http://schemas.openxmlformats.org/drawingml/2006/main">
              <a:ext uri="{FF2B5EF4-FFF2-40B4-BE49-F238E27FC236}">
                <a16:creationId xmlns:a16="http://schemas.microsoft.com/office/drawing/2014/main" id="{52420C3A-CEA9-4C96-B15D-52FA05D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95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Statistische Ämter des Bundes und der Länder
100-m-Gitterdaten · Datenlizenz Deutschland – Namensnennung 2.0
Stichtag: 15.05.2022 · Veröffentlichung 2025</a:t>
            </a:r>
          </a:p>
        </p:txBody>
      </p:sp>
      <p:sp>
        <p:nvSpPr>
          <p:cNvPr id="9" name="sources-two-title">
            <a:extLst xmlns:a="http://schemas.openxmlformats.org/drawingml/2006/main">
              <a:ext uri="{FF2B5EF4-FFF2-40B4-BE49-F238E27FC236}">
                <a16:creationId xmlns:a16="http://schemas.microsoft.com/office/drawing/2014/main" id="{73B91E00-1407-4856-8C68-6E11CE8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315CFF"/>
                </a:solidFill>
                <a:latin typeface="Arial"/>
                <a:ea typeface="Arial"/>
                <a:cs typeface="Arial"/>
              </a:defRPr>
            </a:pPr>
            <a:r>
              <a:t>GREIX Mietpreisindex</a:t>
            </a:r>
          </a:p>
        </p:txBody>
      </p:sp>
      <p:sp>
        <p:nvSpPr>
          <p:cNvPr id="10" name="sources-two-body">
            <a:extLst xmlns:a="http://schemas.openxmlformats.org/drawingml/2006/main">
              <a:ext uri="{FF2B5EF4-FFF2-40B4-BE49-F238E27FC236}">
                <a16:creationId xmlns:a16="http://schemas.microsoft.com/office/drawing/2014/main" id="{07CB8445-206B-4569-8FB3-E385D5A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Kiel Institut für Weltwirtschaft auf Basis der VALUE Marktdatenbank
Nominale Quartalswerte 2012-Q1 bis 2026-Q1
37 lokale Märkte plus Deutschlandreferenz</a:t>
            </a:r>
          </a:p>
        </p:txBody>
      </p:sp>
      <p:cxnSp>
        <p:nvCxnSpPr>
          <p:cNvPr id="70" name="sources-divider"/>
          <p:cNvCxnSpPr/>
          <p:nvPr/>
        </p:nvCxnSpPr>
        <p:spPr>
          <a:xfrm xmlns:a="http://schemas.openxmlformats.org/drawingml/2006/main">
            <a:off x="457200" y="3543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DF"/>
            </a:solidFill>
            <a:prstDash val="solid"/>
          </a:ln>
        </p:spPr>
      </p:cxnSp>
      <p:sp>
        <p:nvSpPr>
          <p:cNvPr id="12" name="sources-repro-title">
            <a:extLst xmlns:a="http://schemas.openxmlformats.org/drawingml/2006/main">
              <a:ext uri="{FF2B5EF4-FFF2-40B4-BE49-F238E27FC236}">
                <a16:creationId xmlns:a16="http://schemas.microsoft.com/office/drawing/2014/main" id="{F8D67AEF-8165-4356-B8ED-2A174E8A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Reproduzierbar im Repository</a:t>
            </a:r>
          </a:p>
        </p:txBody>
      </p:sp>
      <p:sp>
        <p:nvSpPr>
          <p:cNvPr id="13" name="sources-repro-body">
            <a:extLst xmlns:a="http://schemas.openxmlformats.org/drawingml/2006/main">
              <a:ext uri="{FF2B5EF4-FFF2-40B4-BE49-F238E27FC236}">
                <a16:creationId xmlns:a16="http://schemas.microsoft.com/office/drawing/2014/main" id="{74CED86B-6349-4E4D-996A-92AAF05E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04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t>Q ohne Analysecode · U/A/C vollständig ausgeführt
11/11 Codezellen ohne Fehler · JSON-Reports · GitHub Actions
Model/Data/Risk Cards · MLflow Registry · Docker</a:t>
            </a:r>
          </a:p>
        </p:txBody>
      </p:sp>
      <p:sp>
        <p:nvSpPr>
          <p:cNvPr id="14" name="sources-code">
            <a:extLst xmlns:a="http://schemas.openxmlformats.org/drawingml/2006/main">
              <a:ext uri="{FF2B5EF4-FFF2-40B4-BE49-F238E27FC236}">
                <a16:creationId xmlns:a16="http://schemas.microsoft.com/office/drawing/2014/main" id="{A6283417-4B44-4B98-BB27-C7DA65A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ources-code-text">
            <a:extLst xmlns:a="http://schemas.openxmlformats.org/drawingml/2006/main">
              <a:ext uri="{FF2B5EF4-FFF2-40B4-BE49-F238E27FC236}">
                <a16:creationId xmlns:a16="http://schemas.microsoft.com/office/drawing/2014/main" id="{F34B8F02-9BD0-4C66-B679-6A54855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59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2138"/>
                </a:solidFill>
                <a:latin typeface="Arial"/>
                <a:ea typeface="Arial"/>
                <a:cs typeface="Arial"/>
              </a:defRPr>
            </a:pPr>
            <a:r>
              <a:t>scripts/ · notebooks/ · reports/ · models/ · tests/ · docs/DATA_CARD.md · docs/MODEL_CARD.md</a:t>
            </a:r>
          </a:p>
        </p:txBody>
      </p:sp>
    </p:spTree>
    <p:extLst>
      <p:ext uri="{BB962C8B-B14F-4D97-AF65-F5344CB8AC3E}">
        <p14:creationId xmlns:p14="http://schemas.microsoft.com/office/powerpoint/2010/main" val="815019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2026-07-23T08:49:43.5720000Z</dcterms:created>
  <dcterms:modified xsi:type="dcterms:W3CDTF">2026-07-23T08:49:43.5730000Z</dcterms:modified>
</coreProperties>
</file>