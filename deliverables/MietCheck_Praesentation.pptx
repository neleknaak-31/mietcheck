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2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3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d94e0daa4e6400e" /><Relationship Type="http://schemas.openxmlformats.org/officeDocument/2006/relationships/extended-properties" Target="/docProps/app.xml" Id="R4d542652150a4ddc" /><Relationship Type="http://schemas.openxmlformats.org/officeDocument/2006/relationships/officeDocument" Target="/ppt/presentation.xml" Id="Rcf99826140b94d0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ed3c811527a48a4"/>
  </p:sldMasterIdLst>
  <p:notesMasterIdLst>
    <p:notesMasterId xmlns:r="http://schemas.openxmlformats.org/officeDocument/2006/relationships" r:id="R6e5b81aac8b64d54"/>
  </p:notesMasterIdLst>
  <p:sldIdLst>
    <p:sldId xmlns:r="http://schemas.openxmlformats.org/officeDocument/2006/relationships" id="256" r:id="R7eef9dd699f24630"/>
    <p:sldId xmlns:r="http://schemas.openxmlformats.org/officeDocument/2006/relationships" id="257" r:id="Rac611ec249a64d37"/>
    <p:sldId xmlns:r="http://schemas.openxmlformats.org/officeDocument/2006/relationships" id="258" r:id="R08b4ba35de2e4d51"/>
    <p:sldId xmlns:r="http://schemas.openxmlformats.org/officeDocument/2006/relationships" id="259" r:id="Rc4fbcc0abfed4b58"/>
    <p:sldId xmlns:r="http://schemas.openxmlformats.org/officeDocument/2006/relationships" id="260" r:id="Re2a3bbff5997465e"/>
    <p:sldId xmlns:r="http://schemas.openxmlformats.org/officeDocument/2006/relationships" id="261" r:id="Rf1b16a4d14f548a2"/>
    <p:sldId xmlns:r="http://schemas.openxmlformats.org/officeDocument/2006/relationships" id="262" r:id="Rde7e3db2fd1e4aa7"/>
    <p:sldId xmlns:r="http://schemas.openxmlformats.org/officeDocument/2006/relationships" id="263" r:id="R6d325a275fc044c9"/>
    <p:sldId xmlns:r="http://schemas.openxmlformats.org/officeDocument/2006/relationships" id="264" r:id="R6fc18b977f134eff"/>
    <p:sldId xmlns:r="http://schemas.openxmlformats.org/officeDocument/2006/relationships" id="265" r:id="Rc3bcdf1881244a76"/>
    <p:sldId xmlns:r="http://schemas.openxmlformats.org/officeDocument/2006/relationships" id="266" r:id="Rd900c21d899847ec"/>
    <p:sldId xmlns:r="http://schemas.openxmlformats.org/officeDocument/2006/relationships" id="267" r:id="R12d77845039e4c42"/>
    <p:sldId xmlns:r="http://schemas.openxmlformats.org/officeDocument/2006/relationships" id="268" r:id="Rfec8690f2e104059"/>
    <p:sldId xmlns:r="http://schemas.openxmlformats.org/officeDocument/2006/relationships" id="269" r:id="R4ef482a19282493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1e9fd34535b4aca" /><Relationship Type="http://schemas.openxmlformats.org/officeDocument/2006/relationships/slideMaster" Target="/ppt/slideMasters/slideMaster1.xml" Id="R2ed3c811527a48a4" /><Relationship Type="http://schemas.openxmlformats.org/officeDocument/2006/relationships/notesMaster" Target="/ppt/notesMasters/notesMaster1.xml" Id="R6e5b81aac8b64d54" /><Relationship Type="http://schemas.openxmlformats.org/officeDocument/2006/relationships/presProps" Target="/ppt/presProps.xml" Id="Rb5e8d711c98f4a64" /><Relationship Type="http://schemas.openxmlformats.org/officeDocument/2006/relationships/tableStyles" Target="/ppt/tableStyles.xml" Id="R1fd2c9f30cec4772" /><Relationship Type="http://schemas.openxmlformats.org/officeDocument/2006/relationships/slide" Target="/ppt/slides/slide1.xml" Id="R7eef9dd699f24630" /><Relationship Type="http://schemas.openxmlformats.org/officeDocument/2006/relationships/slide" Target="/ppt/slides/slide2.xml" Id="Rac611ec249a64d37" /><Relationship Type="http://schemas.openxmlformats.org/officeDocument/2006/relationships/slide" Target="/ppt/slides/slide3.xml" Id="R08b4ba35de2e4d51" /><Relationship Type="http://schemas.openxmlformats.org/officeDocument/2006/relationships/slide" Target="/ppt/slides/slide4.xml" Id="Rc4fbcc0abfed4b58" /><Relationship Type="http://schemas.openxmlformats.org/officeDocument/2006/relationships/slide" Target="/ppt/slides/slide5.xml" Id="Re2a3bbff5997465e" /><Relationship Type="http://schemas.openxmlformats.org/officeDocument/2006/relationships/slide" Target="/ppt/slides/slide6.xml" Id="Rf1b16a4d14f548a2" /><Relationship Type="http://schemas.openxmlformats.org/officeDocument/2006/relationships/slide" Target="/ppt/slides/slide7.xml" Id="Rde7e3db2fd1e4aa7" /><Relationship Type="http://schemas.openxmlformats.org/officeDocument/2006/relationships/slide" Target="/ppt/slides/slide8.xml" Id="R6d325a275fc044c9" /><Relationship Type="http://schemas.openxmlformats.org/officeDocument/2006/relationships/slide" Target="/ppt/slides/slide9.xml" Id="R6fc18b977f134eff" /><Relationship Type="http://schemas.openxmlformats.org/officeDocument/2006/relationships/slide" Target="/ppt/slides/slide10.xml" Id="Rc3bcdf1881244a76" /><Relationship Type="http://schemas.openxmlformats.org/officeDocument/2006/relationships/slide" Target="/ppt/slides/slide11.xml" Id="Rd900c21d899847ec" /><Relationship Type="http://schemas.openxmlformats.org/officeDocument/2006/relationships/slide" Target="/ppt/slides/slide12.xml" Id="R12d77845039e4c42" /><Relationship Type="http://schemas.openxmlformats.org/officeDocument/2006/relationships/slide" Target="/ppt/slides/slide13.xml" Id="Rfec8690f2e104059" /><Relationship Type="http://schemas.openxmlformats.org/officeDocument/2006/relationships/slide" Target="/ppt/slides/slide14.xml" Id="R4ef482a19282493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7c91be2cf2d4a5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bca79cca2224018" /><Relationship Type="http://schemas.openxmlformats.org/officeDocument/2006/relationships/notesMaster" Target="/ppt/notesMasters/notesMaster1.xml" Id="R7404a68a1776459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6654107032d4644" /><Relationship Type="http://schemas.openxmlformats.org/officeDocument/2006/relationships/notesMaster" Target="/ppt/notesMasters/notesMaster1.xml" Id="Rf0f690496bff469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1066e08933241bf" /><Relationship Type="http://schemas.openxmlformats.org/officeDocument/2006/relationships/notesMaster" Target="/ppt/notesMasters/notesMaster1.xml" Id="R167cd83c04a0457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0bed5fa87f64181" /><Relationship Type="http://schemas.openxmlformats.org/officeDocument/2006/relationships/notesMaster" Target="/ppt/notesMasters/notesMaster1.xml" Id="R91fd6b5e248e427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eb55fb190344819" /><Relationship Type="http://schemas.openxmlformats.org/officeDocument/2006/relationships/notesMaster" Target="/ppt/notesMasters/notesMaster1.xml" Id="R0ed9dd688436460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ee05a2f7a8f447e" /><Relationship Type="http://schemas.openxmlformats.org/officeDocument/2006/relationships/notesMaster" Target="/ppt/notesMasters/notesMaster1.xml" Id="R065fdc1c454940a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e2026668a554370" /><Relationship Type="http://schemas.openxmlformats.org/officeDocument/2006/relationships/notesMaster" Target="/ppt/notesMasters/notesMaster1.xml" Id="Ra2f402dbe9bb40b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d1a41426d6140bd" /><Relationship Type="http://schemas.openxmlformats.org/officeDocument/2006/relationships/notesMaster" Target="/ppt/notesMasters/notesMaster1.xml" Id="Ra2d19d654fc748f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a37849221584ef7" /><Relationship Type="http://schemas.openxmlformats.org/officeDocument/2006/relationships/notesMaster" Target="/ppt/notesMasters/notesMaster1.xml" Id="R27ba8ab0873e416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f17afb448fb4d39" /><Relationship Type="http://schemas.openxmlformats.org/officeDocument/2006/relationships/notesMaster" Target="/ppt/notesMasters/notesMaster1.xml" Id="Ra0a54e8047fe42d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2d0d9f1c4ef42d3" /><Relationship Type="http://schemas.openxmlformats.org/officeDocument/2006/relationships/notesMaster" Target="/ppt/notesMasters/notesMaster1.xml" Id="R2f0742accd6c4f7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7acaeddc26445c3" /><Relationship Type="http://schemas.openxmlformats.org/officeDocument/2006/relationships/notesMaster" Target="/ppt/notesMasters/notesMaster1.xml" Id="R75e2f4c8a1814a9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88b4cf966dc4f4a" /><Relationship Type="http://schemas.openxmlformats.org/officeDocument/2006/relationships/notesMaster" Target="/ppt/notesMasters/notesMaster1.xml" Id="Re102a1511c144e6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2a478d57f424ced" /><Relationship Type="http://schemas.openxmlformats.org/officeDocument/2006/relationships/notesMaster" Target="/ppt/notesMasters/notesMaster1.xml" Id="Rd582aff012374b1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40 Sekunden.</a:t>
            </a:r>
          </a:p>
          <a:p xmlns:a="http://schemas.openxmlformats.org/drawingml/2006/main">
            <a:r>
              <a:t>Einstieg: Ein Mietrechner suggeriert oft, es gebe genau eine faire Miete. Das ist fachlich problematisch.</a:t>
            </a:r>
          </a:p>
          <a:p xmlns:a="http://schemas.openxmlformats.org/drawingml/2006/main">
            <a:r>
              <a:t>MietCheck trennt deshalb drei Messkonzepte und macht ihren Unterschied zur eigentlichen Entscheidungshilfe.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65 Sekunden.</a:t>
            </a:r>
          </a:p>
          <a:p xmlns:a="http://schemas.openxmlformats.org/drawingml/2006/main">
            <a:r>
              <a:t>Bestandsmiete ist ein historischer Vertragsbestand, Angebotsmiete ein aktueller Suchmarkt. Beides darf nicht als rechtlich zulässige Miete gelesen werden.</a:t>
            </a:r>
          </a:p>
          <a:p xmlns:a="http://schemas.openxmlformats.org/drawingml/2006/main">
            <a:r>
              <a:t>Die persönliche Miete ergänzt den eigentlichen Nutzen: Was würde ein Umzug monatlich verändern?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60 Sekunden.</a:t>
            </a:r>
          </a:p>
          <a:p xmlns:a="http://schemas.openxmlformats.org/drawingml/2006/main">
            <a:r>
              <a:t>Die Matrix ist bewusst vorsichtig formuliert. 'Nicht offen' bedeutet: auf der geprüften öffentlichen Produktseite war die Information nicht belastbar dokumentiert.</a:t>
            </a:r>
          </a:p>
          <a:p xmlns:a="http://schemas.openxmlformats.org/drawingml/2006/main">
            <a:r>
              <a:t>Der USP ist also eine nachgewiesene Kombination, keine absolute Weltneuheitsbehauptung.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70 Sekunden.</a:t>
            </a:r>
          </a:p>
          <a:p xmlns:a="http://schemas.openxmlformats.org/drawingml/2006/main">
            <a:r>
              <a:t>Der alte Kaggle-Datensatz von 2018/2019 wurde verworfen: zu alt und lizenzrechtlich weniger sauber für ein öffentliches Produkt.</a:t>
            </a:r>
          </a:p>
          <a:p xmlns:a="http://schemas.openxmlformats.org/drawingml/2006/main">
            <a:r>
              <a:t>Der neue Download protokolliert URL, Abrufzeitpunkt, Dateigröße und SHA-256. Die Rohdaten bleiben außerhalb von Git.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70 Sekunden.</a:t>
            </a:r>
          </a:p>
          <a:p xmlns:a="http://schemas.openxmlformats.org/drawingml/2006/main">
            <a:r>
              <a:t>Die rechenintensiven Schritte liegen in getesteten Skripten. Die Notebooks lesen dieselben versionierten Reports und können nicht unbemerkt andere Zahlen zeigen.</a:t>
            </a:r>
          </a:p>
          <a:p xmlns:a="http://schemas.openxmlformats.org/drawingml/2006/main">
            <a:r>
              <a:t>Das ist wichtig für Reproduzierbarkeit und verhindert Notebook-Drift.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75 Sekunden.</a:t>
            </a:r>
          </a:p>
          <a:p xmlns:a="http://schemas.openxmlformats.org/drawingml/2006/main">
            <a:r>
              <a:t>Das ist die wichtigste methodische Entscheidung. Bei einem zufälligen Split wären nahe Zellen mit fast identischem Umfeld in Training und Test.</a:t>
            </a:r>
          </a:p>
          <a:p xmlns:a="http://schemas.openxmlformats.org/drawingml/2006/main">
            <a:r>
              <a:t>Die räumliche Trennung misst Generalisierung auf neue Gebiete und erklärt, warum das finale Ergebnis strenger ausfällt als frühere Prototypwerte.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80 Sekunden.</a:t>
            </a:r>
          </a:p>
          <a:p xmlns:a="http://schemas.openxmlformats.org/drawingml/2006/main">
            <a:r>
              <a:t>Fünf Modellfamilien laufen auf exakt denselben räumlichen Folds. So ist der Vergleich fair.</a:t>
            </a:r>
          </a:p>
          <a:p xmlns:a="http://schemas.openxmlformats.org/drawingml/2006/main">
            <a:r>
              <a:t>HGB gewinnt knapp vor Random Forest. Die Wahl beruht zusätzlich auf Laufzeit, Modellgröße und Deployment-Eignung – nicht nur auf der dritten Nachkommastelle.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90 Sekunden.</a:t>
            </a:r>
          </a:p>
          <a:p xmlns:a="http://schemas.openxmlformats.org/drawingml/2006/main">
            <a:r>
              <a:t>Das finale Modell erreicht MAE 1,413 Euro pro Quadratmeter, Median-AE 0,956 und R² 0,584.</a:t>
            </a:r>
          </a:p>
          <a:p xmlns:a="http://schemas.openxmlformats.org/drawingml/2006/main">
            <a:r>
              <a:t>Die Intervalle wurden separat kalibriert. Nominal waren 90 Prozent geplant, auf neuen Raumblöcken sind es 86,8 Prozent.</a:t>
            </a:r>
          </a:p>
          <a:p xmlns:a="http://schemas.openxmlformats.org/drawingml/2006/main">
            <a:r>
              <a:t>Genau diese Abweichung zeigt die App offen. Das ist wissenschaftlich stärker als eine falsche Garantie.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80 Sekunden.</a:t>
            </a:r>
          </a:p>
          <a:p xmlns:a="http://schemas.openxmlformats.org/drawingml/2006/main">
            <a:r>
              <a:t>Der Verlauf ist der aktuelle Angebotsmarkt. Der grüne Bestandsanker ist bewusst nicht auf 2026 hochgerechnet.</a:t>
            </a:r>
          </a:p>
          <a:p xmlns:a="http://schemas.openxmlformats.org/drawingml/2006/main">
            <a:r>
              <a:t>Die 113 Prozent sind daher ein deskriptiver Umzugsaufschlag, keine Mietpreisbremse- oder Fairnessaussage.</a:t>
            </a:r>
          </a:p>
          <a:p xmlns:a="http://schemas.openxmlformats.org/drawingml/2006/main">
            <a:r>
              <a:t>Genau diese saubere Trennung ist der Kern der App.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90 Sekunden plus kurze Live-Demo.</a:t>
            </a:r>
          </a:p>
          <a:p xmlns:a="http://schemas.openxmlformats.org/drawingml/2006/main">
            <a:r>
              <a:t>Demo: Region Berlin, 70 Quadratmeter, Baujahr 1985, aktuelle Kaltmiete 850 Euro, Einkommen 3.200 Euro.</a:t>
            </a:r>
          </a:p>
          <a:p xmlns:a="http://schemas.openxmlformats.org/drawingml/2006/main">
            <a:r>
              <a:t>Dann Region wechseln oder Wohnfläche auf 90 Quadratmeter setzen und zeigen, dass Werte und Belastung sofort neu berechnet werden.</a:t>
            </a:r>
          </a:p>
          <a:p xmlns:a="http://schemas.openxmlformats.org/drawingml/2006/main">
            <a:r>
              <a:t>Zum Schluss Methodik-Tab öffnen: Quellen, Modellvergleich und 86,8-Prozent-Coverage sind direkt im Produkt sichtbar.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65 Sekunden.</a:t>
            </a:r>
          </a:p>
          <a:p xmlns:a="http://schemas.openxmlformats.org/drawingml/2006/main">
            <a:r>
              <a:t>Räumliche und sozioökonomische Merkmale können bestehende Ungleichheiten abbilden. Eine gute Prognose legitimiert deshalb keine Miete.</a:t>
            </a:r>
          </a:p>
          <a:p xmlns:a="http://schemas.openxmlformats.org/drawingml/2006/main">
            <a:r>
              <a:t>Das System ist ausdrücklich nicht für Vermieterpreisoptimierung, Bonität oder Rechtsentscheidungen vorgesehen.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45 Sekunden.</a:t>
            </a:r>
          </a:p>
          <a:p xmlns:a="http://schemas.openxmlformats.org/drawingml/2006/main">
            <a:r>
              <a:t>Rückbezug auf die Eröffnung: Das Projekt ersetzt eine Scheingenauigkeit durch drei verständliche, belegte Realitäten.</a:t>
            </a:r>
          </a:p>
          <a:p xmlns:a="http://schemas.openxmlformats.org/drawingml/2006/main">
            <a:r>
              <a:t>Schluss: Ich zeige damit nicht nur ein Modell, sondern eine vollständige Nachweiskette vom öffentlichen Download bis zur getesteten App.</a:t>
            </a:r>
          </a:p>
          <a:p xmlns:a="http://schemas.openxmlformats.org/drawingml/2006/main">
            <a:r>
              <a:t>Danach Fragen oder bei Bedarf direkt zur Live-Demo wechseln.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Appendix / Quellenfolie. Bei Fragen zur Datenlizenz oder Reproduzierbarkeit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Appendix / methodische Detailfolie. Bei Fragen zu Parametern, Subgruppen oder Neubaufehlern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0e4b485464450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f1e9ff3ef32480e" /><Relationship Type="http://schemas.openxmlformats.org/officeDocument/2006/relationships/slideLayout" Target="/ppt/slideLayouts/slideLayout1.xml" Id="Rb8e7f79ecff4448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8e7f79ecff4448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56827058e84554" /><Relationship Type="http://schemas.openxmlformats.org/officeDocument/2006/relationships/image" Target="/ppt/media/image.png" Id="R051d8e8e304c4d25" /><Relationship Type="http://schemas.openxmlformats.org/officeDocument/2006/relationships/notesSlide" Target="/ppt/notesSlides/notesSlide1.xml" Id="Rc9c1d38e926542c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3084756c3941eb" /><Relationship Type="http://schemas.openxmlformats.org/officeDocument/2006/relationships/notesSlide" Target="/ppt/notesSlides/notesSlide2.xml" Id="R8036031de16a4c8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86298f843d492e" /><Relationship Type="http://schemas.openxmlformats.org/officeDocument/2006/relationships/notesSlide" Target="/ppt/notesSlides/notesSlide3.xml" Id="R1dd17e8efad842d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7c7ed1a52046a9" /><Relationship Type="http://schemas.openxmlformats.org/officeDocument/2006/relationships/notesSlide" Target="/ppt/notesSlides/notesSlide4.xml" Id="R7cc3e00e1c95422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11f9337636449b" /><Relationship Type="http://schemas.openxmlformats.org/officeDocument/2006/relationships/notesSlide" Target="/ppt/notesSlides/notesSlide5.xml" Id="R0b184660533f4d9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8d118cd8254931" /><Relationship Type="http://schemas.openxmlformats.org/officeDocument/2006/relationships/notesSlide" Target="/ppt/notesSlides/notesSlide6.xml" Id="Rd8d99acdbbeb4ff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89808ff1b94672" /><Relationship Type="http://schemas.openxmlformats.org/officeDocument/2006/relationships/chart" Target="/ppt/slides/charts/chart1.xml" Id="R3db4e6f74d2d496c" /><Relationship Type="http://schemas.openxmlformats.org/officeDocument/2006/relationships/notesSlide" Target="/ppt/notesSlides/notesSlide7.xml" Id="Ra5e4e29767f64e8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5d3643a2124d7b" /><Relationship Type="http://schemas.openxmlformats.org/officeDocument/2006/relationships/chart" Target="/ppt/slides/charts/chart2.xml" Id="Rd1ae6056a4d64e54" /><Relationship Type="http://schemas.openxmlformats.org/officeDocument/2006/relationships/notesSlide" Target="/ppt/notesSlides/notesSlide8.xml" Id="R0427cc6ec1c7434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73634c60b54d93" /><Relationship Type="http://schemas.openxmlformats.org/officeDocument/2006/relationships/chart" Target="/ppt/slides/charts/chart3.xml" Id="R7e541d23dfdf479b" /><Relationship Type="http://schemas.openxmlformats.org/officeDocument/2006/relationships/notesSlide" Target="/ppt/notesSlides/notesSlide9.xml" Id="R9f4acfd0c35c49d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a5c79d4f434ce8" /><Relationship Type="http://schemas.openxmlformats.org/officeDocument/2006/relationships/image" Target="/ppt/media/image2.png" Id="Re7efb069443a4cf6" /><Relationship Type="http://schemas.openxmlformats.org/officeDocument/2006/relationships/notesSlide" Target="/ppt/notesSlides/notesSlide10.xml" Id="Rcc8822f8b534480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d0882fc1fd4b28" /><Relationship Type="http://schemas.openxmlformats.org/officeDocument/2006/relationships/notesSlide" Target="/ppt/notesSlides/notesSlide11.xml" Id="Ra256678f7e974a5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324f486299404a" /><Relationship Type="http://schemas.openxmlformats.org/officeDocument/2006/relationships/notesSlide" Target="/ppt/notesSlides/notesSlide12.xml" Id="R95084a703b134f8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c3ad3bf3ad4173" /><Relationship Type="http://schemas.openxmlformats.org/officeDocument/2006/relationships/notesSlide" Target="/ppt/notesSlides/notesSlide13.xml" Id="R16fa786b00424a5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a0737958414259" /><Relationship Type="http://schemas.openxmlformats.org/officeDocument/2006/relationships/notesSlide" Target="/ppt/notesSlides/notesSlide14.xml" Id="Re3b3dba531a849b9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MAE</c:v>
          </c:tx>
          <c:spPr>
            <a:solidFill xmlns:a="http://schemas.openxmlformats.org/drawingml/2006/main">
              <a:srgbClr val="2D5BFF"/>
            </a:solidFill>
          </c:spPr>
          <c:dPt>
            <c:idx val="4"/>
            <c:spPr>
              <a:solidFill xmlns:a="http://schemas.openxmlformats.org/drawingml/2006/main">
                <a:srgbClr val="0B6E4F"/>
              </a:solidFill>
            </c:spPr>
          </c:dPt>
          <c:cat>
            <c:strLit>
              <c:ptCount val="5"/>
              <c:pt idx="0">
                <c:v>Kategorie-Median</c:v>
              </c:pt>
              <c:pt idx="1">
                <c:v>Ridge</c:v>
              </c:pt>
              <c:pt idx="2">
                <c:v>MLP</c:v>
              </c:pt>
              <c:pt idx="3">
                <c:v>Random Forest</c:v>
              </c:pt>
              <c:pt idx="4">
                <c:v>HGB</c:v>
              </c:pt>
            </c:strLit>
          </c:cat>
          <c:val>
            <c:numLit>
              <c:formatCode>General</c:formatCode>
              <c:ptCount val="5"/>
              <c:pt idx="0">
                <c:v>1.719</c:v>
              </c:pt>
              <c:pt idx="1">
                <c:v>1.632</c:v>
              </c:pt>
              <c:pt idx="2">
                <c:v>1.397</c:v>
              </c:pt>
              <c:pt idx="3">
                <c:v>1.32</c:v>
              </c:pt>
              <c:pt idx="4">
                <c:v>1.305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322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0E8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00">
                    <a:solidFill>
                      <a:srgbClr val="667085"/>
                    </a:solidFill>
                  </a:rPr>
                  <a:t>mittlerer MAE in €/m²</a:t>
                </a:r>
              </a:p>
            </c:rich>
          </c:tx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667085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E0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E0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32238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MAE</c:v>
          </c:tx>
          <c:spPr>
            <a:solidFill xmlns:a="http://schemas.openxmlformats.org/drawingml/2006/main">
              <a:srgbClr val="667085"/>
            </a:solidFill>
          </c:spPr>
          <c:dPt>
            <c:idx val="1"/>
            <c:spPr>
              <a:solidFill xmlns:a="http://schemas.openxmlformats.org/drawingml/2006/main">
                <a:srgbClr val="0B6E4F"/>
              </a:solidFill>
            </c:spPr>
          </c:dPt>
          <c:cat>
            <c:strLit>
              <c:ptCount val="2"/>
              <c:pt idx="0">
                <c:v>Kategorie-Baseline</c:v>
              </c:pt>
              <c:pt idx="1">
                <c:v>MietCheck HGB</c:v>
              </c:pt>
            </c:strLit>
          </c:cat>
          <c:val>
            <c:numLit>
              <c:formatCode>General</c:formatCode>
              <c:ptCount val="2"/>
              <c:pt idx="0">
                <c:v>2.292</c:v>
              </c:pt>
              <c:pt idx="1">
                <c:v>1.413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 b="1">
                  <a:solidFill>
                    <a:srgbClr val="1322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E0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32238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2.6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0E8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00">
                    <a:solidFill>
                      <a:srgbClr val="667085"/>
                    </a:solidFill>
                  </a:rPr>
                  <a:t>MAE in €/m²</a:t>
                </a:r>
              </a:p>
            </c:rich>
          </c:tx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667085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</a:p>
        </c:txPr>
        <c:crossAx val="48650112"/>
        <c:crossBetween val="between"/>
        <c:majorUnit val="0.5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Median</c:v>
          </c:tx>
          <c:spPr>
            <a:ln xmlns:a="http://schemas.openxmlformats.org/drawingml/2006/main" w="38100">
              <a:solidFill>
                <a:srgbClr val="2D5BFF"/>
              </a:solidFill>
              <a:prstDash val="solid"/>
            </a:ln>
          </c:spPr>
          <c:marker>
            <c:symbol val="circle"/>
            <c:size val="7"/>
          </c:marker>
          <c:cat>
            <c:numLit>
              <c:formatCode>General</c:formatCode>
              <c:ptCount val="8"/>
              <c:pt idx="0">
                <c:v>2012</c:v>
              </c:pt>
              <c:pt idx="1">
                <c:v>2014</c:v>
              </c:pt>
              <c:pt idx="2">
                <c:v>2016</c:v>
              </c:pt>
              <c:pt idx="3">
                <c:v>2018</c:v>
              </c:pt>
              <c:pt idx="4">
                <c:v>2020</c:v>
              </c:pt>
              <c:pt idx="5">
                <c:v>2022</c:v>
              </c:pt>
              <c:pt idx="6">
                <c:v>2024</c:v>
              </c:pt>
              <c:pt idx="7">
                <c:v>2026</c:v>
              </c:pt>
            </c:numLit>
          </c:cat>
          <c:val>
            <c:numLit>
              <c:formatCode>General</c:formatCode>
              <c:ptCount val="8"/>
              <c:pt idx="0">
                <c:v>6.86</c:v>
              </c:pt>
              <c:pt idx="1">
                <c:v>8</c:v>
              </c:pt>
              <c:pt idx="2">
                <c:v>8.53</c:v>
              </c:pt>
              <c:pt idx="3">
                <c:v>10</c:v>
              </c:pt>
              <c:pt idx="4">
                <c:v>10</c:v>
              </c:pt>
              <c:pt idx="5">
                <c:v>10.88</c:v>
              </c:pt>
              <c:pt idx="6">
                <c:v>15.45</c:v>
              </c:pt>
              <c:pt idx="7">
                <c:v>15.5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E0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7"/>
          <c:min val="5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0E8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00">
                    <a:solidFill>
                      <a:srgbClr val="667085"/>
                    </a:solidFill>
                  </a:rPr>
                  <a:t>€/m²</a:t>
                </a:r>
              </a:p>
            </c:rich>
          </c:tx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667085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</a:p>
        </c:txPr>
        <c:crossAx val="48650112"/>
        <c:crossBetween val="between"/>
        <c:majorUnit val="2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2F5CE8BC-A1CB-46BC-B1FB-603D55B6C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E4F"/>
          </a:solidFill>
          <a:ln xmlns:a="http://schemas.openxmlformats.org/drawingml/2006/main" w="0">
            <a:solidFill>
              <a:srgbClr val="0B6E4F"/>
            </a:solidFill>
            <a:prstDash val="solid"/>
          </a:ln>
        </p:spPr>
      </p:sp>
      <p:sp>
        <p:nvSpPr>
          <p:cNvPr id="2" name="cover-brand">
            <a:extLst xmlns:a="http://schemas.openxmlformats.org/drawingml/2006/main">
              <a:ext uri="{FF2B5EF4-FFF2-40B4-BE49-F238E27FC236}">
                <a16:creationId xmlns:a16="http://schemas.microsoft.com/office/drawing/2014/main" id="{B80C002B-F0E5-400E-8896-4883E691D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3333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MietCheck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24B7092F-4920-4B1E-AC59-85D79D6E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5334000" cy="224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Drei
Mietrealitäten.
Klare Entscheidung.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4FF374D0-E1D6-49B6-8C83-D764572BA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5143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Machine Learning verbindet Zensus-Bestand, aktuellen GREIX-Angebotsmarkt und persönliche Mietbelastung.</a:t>
            </a:r>
          </a:p>
        </p:txBody>
      </p:sp>
      <p:sp>
        <p:nvSpPr>
          <p:cNvPr id="5" name="cover-meta">
            <a:extLst xmlns:a="http://schemas.openxmlformats.org/drawingml/2006/main">
              <a:ext uri="{FF2B5EF4-FFF2-40B4-BE49-F238E27FC236}">
                <a16:creationId xmlns:a16="http://schemas.microsoft.com/office/drawing/2014/main" id="{111E5189-12F0-4C5E-BCCF-624AD098A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57850"/>
            <a:ext cx="5334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Nele Knaak · Matrikel-Nr.: [EINTRAGEN]
Prüfer/in: [EINTRAGEN] · Abgabe: [TT.MM.JJJJ]</a:t>
            </a:r>
          </a:p>
        </p:txBody>
      </p:sp>
      <p:sp>
        <p:nvSpPr>
          <p:cNvPr id="6" name="cover-image-back">
            <a:extLst xmlns:a="http://schemas.openxmlformats.org/drawingml/2006/main">
              <a:ext uri="{FF2B5EF4-FFF2-40B4-BE49-F238E27FC236}">
                <a16:creationId xmlns:a16="http://schemas.microsoft.com/office/drawing/2014/main" id="{66BF2759-A76D-4D09-8BB4-0661D2735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2900"/>
            <a:ext cx="5543550" cy="5829300"/>
          </a:xfrm>
          <a:prstGeom xmlns:a="http://schemas.openxmlformats.org/drawingml/2006/main" prst="roundRect">
            <a:avLst>
              <a:gd name="adj" fmla="val 1375"/>
            </a:avLst>
          </a:prstGeom>
          <a:solidFill xmlns:a="http://schemas.openxmlformats.org/drawingml/2006/main">
            <a:srgbClr val="EEF1EF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1d8e8e304c4d25"/>
          <a:srcRect xmlns:a="http://schemas.openxmlformats.org/drawingml/2006/main" l="13781" t="0" r="1378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43650" y="495300"/>
            <a:ext cx="5238750" cy="5524500"/>
          </a:xfrm>
          <a:prstGeom xmlns:a="http://schemas.openxmlformats.org/drawingml/2006/main" prst="roundRect">
            <a:avLst>
              <a:gd name="adj" fmla="val 2909"/>
            </a:avLst>
          </a:prstGeom>
        </p:spPr>
      </p:pic>
    </p:spTree>
    <p:extLst>
      <p:ext uri="{BB962C8B-B14F-4D97-AF65-F5344CB8AC3E}">
        <p14:creationId xmlns:p14="http://schemas.microsoft.com/office/powerpoint/2010/main" val="38733642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itle-2">
            <a:extLst xmlns:a="http://schemas.openxmlformats.org/drawingml/2006/main">
              <a:ext uri="{FF2B5EF4-FFF2-40B4-BE49-F238E27FC236}">
                <a16:creationId xmlns:a16="http://schemas.microsoft.com/office/drawing/2014/main" id="{1B6F8710-3F68-40AC-8BCB-51DD842B0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Es gibt nicht die eine Miete</a:t>
            </a:r>
          </a:p>
        </p:txBody>
      </p:sp>
      <p:sp>
        <p:nvSpPr>
          <p:cNvPr id="2" name="source-2">
            <a:extLst xmlns:a="http://schemas.openxmlformats.org/drawingml/2006/main">
              <a:ext uri="{FF2B5EF4-FFF2-40B4-BE49-F238E27FC236}">
                <a16:creationId xmlns:a16="http://schemas.microsoft.com/office/drawing/2014/main" id="{7103D617-DD69-43B5-A107-D2FE77C3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3" name="page-2">
            <a:extLst xmlns:a="http://schemas.openxmlformats.org/drawingml/2006/main">
              <a:ext uri="{FF2B5EF4-FFF2-40B4-BE49-F238E27FC236}">
                <a16:creationId xmlns:a16="http://schemas.microsoft.com/office/drawing/2014/main" id="{9F3EB397-8F4E-455E-B897-19AB0E129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4" name="three-lead">
            <a:extLst xmlns:a="http://schemas.openxmlformats.org/drawingml/2006/main">
              <a:ext uri="{FF2B5EF4-FFF2-40B4-BE49-F238E27FC236}">
                <a16:creationId xmlns:a16="http://schemas.microsoft.com/office/drawing/2014/main" id="{32A6914D-DC33-472D-88EB-DE8262075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1049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Bestand, Angebot und persönliche Belastung messen unterschiedliche Realitäten. Erst ihre Trennung macht den Umzugseffekt sichtbar.</a:t>
            </a:r>
          </a:p>
        </p:txBody>
      </p:sp>
      <p:cxnSp>
        <p:nvCxnSpPr>
          <p:cNvPr id="25" name="sep-one"/>
          <p:cNvCxnSpPr/>
          <p:nvPr/>
        </p:nvCxnSpPr>
        <p:spPr>
          <a:xfrm xmlns:a="http://schemas.openxmlformats.org/drawingml/2006/main">
            <a:off x="4029075" y="2381250"/>
            <a:ext cx="286" cy="2571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9E0E8"/>
            </a:solidFill>
            <a:prstDash val="solid"/>
          </a:ln>
        </p:spPr>
      </p:cxnSp>
      <p:cxnSp>
        <p:nvCxnSpPr>
          <p:cNvPr id="26" name="sep-two"/>
          <p:cNvCxnSpPr/>
          <p:nvPr/>
        </p:nvCxnSpPr>
        <p:spPr>
          <a:xfrm xmlns:a="http://schemas.openxmlformats.org/drawingml/2006/main">
            <a:off x="7829550" y="2381250"/>
            <a:ext cx="286" cy="2571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9E0E8"/>
            </a:solidFill>
            <a:prstDash val="solid"/>
          </a:ln>
        </p:spPr>
      </p:cxnSp>
      <p:sp>
        <p:nvSpPr>
          <p:cNvPr id="7" name="accent-0">
            <a:extLst xmlns:a="http://schemas.openxmlformats.org/drawingml/2006/main">
              <a:ext uri="{FF2B5EF4-FFF2-40B4-BE49-F238E27FC236}">
                <a16:creationId xmlns:a16="http://schemas.microsoft.com/office/drawing/2014/main" id="{346E8148-991E-4783-8E74-6F064FDA1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81250"/>
            <a:ext cx="762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E4F"/>
          </a:solidFill>
          <a:ln xmlns:a="http://schemas.openxmlformats.org/drawingml/2006/main" w="0">
            <a:solidFill>
              <a:srgbClr val="0B6E4F"/>
            </a:solidFill>
            <a:prstDash val="solid"/>
          </a:ln>
        </p:spPr>
      </p:sp>
      <p:sp>
        <p:nvSpPr>
          <p:cNvPr id="8" name="reality-label-0">
            <a:extLst xmlns:a="http://schemas.openxmlformats.org/drawingml/2006/main">
              <a:ext uri="{FF2B5EF4-FFF2-40B4-BE49-F238E27FC236}">
                <a16:creationId xmlns:a16="http://schemas.microsoft.com/office/drawing/2014/main" id="{D36E312E-B999-4D96-8E3A-AD6D5BDBC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1460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BESTAND</a:t>
            </a:r>
          </a:p>
        </p:txBody>
      </p:sp>
      <p:sp>
        <p:nvSpPr>
          <p:cNvPr id="9" name="reality-stat-0">
            <a:extLst xmlns:a="http://schemas.openxmlformats.org/drawingml/2006/main">
              <a:ext uri="{FF2B5EF4-FFF2-40B4-BE49-F238E27FC236}">
                <a16:creationId xmlns:a16="http://schemas.microsoft.com/office/drawing/2014/main" id="{1BDE4B0C-52C4-4BA0-98C4-24C3C8365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28950"/>
            <a:ext cx="31432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15.05.2022</a:t>
            </a:r>
          </a:p>
        </p:txBody>
      </p:sp>
      <p:sp>
        <p:nvSpPr>
          <p:cNvPr id="10" name="reality-body-0">
            <a:extLst xmlns:a="http://schemas.openxmlformats.org/drawingml/2006/main">
              <a:ext uri="{FF2B5EF4-FFF2-40B4-BE49-F238E27FC236}">
                <a16:creationId xmlns:a16="http://schemas.microsoft.com/office/drawing/2014/main" id="{F183CC51-04B9-4A22-B5FD-CEDA075F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3095625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Amtliche Zensus-Miete im lokalen Wohnungsbestand</a:t>
            </a:r>
          </a:p>
        </p:txBody>
      </p:sp>
      <p:sp>
        <p:nvSpPr>
          <p:cNvPr id="11" name="accent-1">
            <a:extLst xmlns:a="http://schemas.openxmlformats.org/drawingml/2006/main">
              <a:ext uri="{FF2B5EF4-FFF2-40B4-BE49-F238E27FC236}">
                <a16:creationId xmlns:a16="http://schemas.microsoft.com/office/drawing/2014/main" id="{E31BB1CA-A8B8-4211-8FE2-8B83DE60A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381250"/>
            <a:ext cx="762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BFF"/>
          </a:solidFill>
          <a:ln xmlns:a="http://schemas.openxmlformats.org/drawingml/2006/main" w="0">
            <a:solidFill>
              <a:srgbClr val="2D5BFF"/>
            </a:solidFill>
            <a:prstDash val="solid"/>
          </a:ln>
        </p:spPr>
      </p:sp>
      <p:sp>
        <p:nvSpPr>
          <p:cNvPr id="12" name="reality-label-1">
            <a:extLst xmlns:a="http://schemas.openxmlformats.org/drawingml/2006/main">
              <a:ext uri="{FF2B5EF4-FFF2-40B4-BE49-F238E27FC236}">
                <a16:creationId xmlns:a16="http://schemas.microsoft.com/office/drawing/2014/main" id="{F4D5F652-DA77-4096-B344-E4F2FC8DE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51460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D5BFF"/>
                </a:solidFill>
                <a:latin typeface="Arial"/>
                <a:ea typeface="Arial"/>
                <a:cs typeface="Arial"/>
              </a:defRPr>
            </a:pPr>
            <a:r>
              <a:t>ANGEBOT</a:t>
            </a:r>
          </a:p>
        </p:txBody>
      </p:sp>
      <p:sp>
        <p:nvSpPr>
          <p:cNvPr id="13" name="reality-stat-1">
            <a:extLst xmlns:a="http://schemas.openxmlformats.org/drawingml/2006/main">
              <a:ext uri="{FF2B5EF4-FFF2-40B4-BE49-F238E27FC236}">
                <a16:creationId xmlns:a16="http://schemas.microsoft.com/office/drawing/2014/main" id="{CA20D8C4-6EF2-4085-BE2B-2CD88EB65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028950"/>
            <a:ext cx="31432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2026-Q1</a:t>
            </a:r>
          </a:p>
        </p:txBody>
      </p:sp>
      <p:sp>
        <p:nvSpPr>
          <p:cNvPr id="14" name="reality-body-1">
            <a:extLst xmlns:a="http://schemas.openxmlformats.org/drawingml/2006/main">
              <a:ext uri="{FF2B5EF4-FFF2-40B4-BE49-F238E27FC236}">
                <a16:creationId xmlns:a16="http://schemas.microsoft.com/office/drawing/2014/main" id="{B2489FD6-FCD1-4EBC-8BE2-76C64C12A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905250"/>
            <a:ext cx="3095625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GREIX-Median aktueller Inserate im lokalen Markt</a:t>
            </a:r>
          </a:p>
        </p:txBody>
      </p:sp>
      <p:sp>
        <p:nvSpPr>
          <p:cNvPr id="15" name="accent-2">
            <a:extLst xmlns:a="http://schemas.openxmlformats.org/drawingml/2006/main">
              <a:ext uri="{FF2B5EF4-FFF2-40B4-BE49-F238E27FC236}">
                <a16:creationId xmlns:a16="http://schemas.microsoft.com/office/drawing/2014/main" id="{09052263-7A2C-4758-A339-D646A5635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762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</p:sp>
      <p:sp>
        <p:nvSpPr>
          <p:cNvPr id="16" name="reality-label-2">
            <a:extLst xmlns:a="http://schemas.openxmlformats.org/drawingml/2006/main">
              <a:ext uri="{FF2B5EF4-FFF2-40B4-BE49-F238E27FC236}">
                <a16:creationId xmlns:a16="http://schemas.microsoft.com/office/drawing/2014/main" id="{CCF5514B-5D8A-4F81-AA4A-6F563EFD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1460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85D3F"/>
                </a:solidFill>
                <a:latin typeface="Arial"/>
                <a:ea typeface="Arial"/>
                <a:cs typeface="Arial"/>
              </a:defRPr>
            </a:pPr>
            <a:r>
              <a:t>PERSÖNLICH</a:t>
            </a:r>
          </a:p>
        </p:txBody>
      </p:sp>
      <p:sp>
        <p:nvSpPr>
          <p:cNvPr id="17" name="reality-stat-2">
            <a:extLst xmlns:a="http://schemas.openxmlformats.org/drawingml/2006/main">
              <a:ext uri="{FF2B5EF4-FFF2-40B4-BE49-F238E27FC236}">
                <a16:creationId xmlns:a16="http://schemas.microsoft.com/office/drawing/2014/main" id="{F4E6999A-C800-4C17-8DC7-BF3D6F39F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432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Deine Miete</a:t>
            </a:r>
          </a:p>
        </p:txBody>
      </p:sp>
      <p:sp>
        <p:nvSpPr>
          <p:cNvPr id="18" name="reality-body-2">
            <a:extLst xmlns:a="http://schemas.openxmlformats.org/drawingml/2006/main">
              <a:ext uri="{FF2B5EF4-FFF2-40B4-BE49-F238E27FC236}">
                <a16:creationId xmlns:a16="http://schemas.microsoft.com/office/drawing/2014/main" id="{38734978-386F-408D-9817-68B036A72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905250"/>
            <a:ext cx="3095625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Vertrag, Wohnfläche und Haushaltsnettoeinkommen</a:t>
            </a:r>
          </a:p>
        </p:txBody>
      </p:sp>
      <p:sp>
        <p:nvSpPr>
          <p:cNvPr id="19" name="hook-band">
            <a:extLst xmlns:a="http://schemas.openxmlformats.org/drawingml/2006/main">
              <a:ext uri="{FF2B5EF4-FFF2-40B4-BE49-F238E27FC236}">
                <a16:creationId xmlns:a16="http://schemas.microsoft.com/office/drawing/2014/main" id="{6F24746E-E42E-4AFF-B356-D063B7139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14950"/>
            <a:ext cx="11049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3EC"/>
          </a:solidFill>
          <a:ln xmlns:a="http://schemas.openxmlformats.org/drawingml/2006/main" w="0">
            <a:solidFill>
              <a:srgbClr val="DFF3EC"/>
            </a:solidFill>
            <a:prstDash val="solid"/>
          </a:ln>
        </p:spPr>
      </p:sp>
      <p:sp>
        <p:nvSpPr>
          <p:cNvPr id="20" name="hook-copy">
            <a:extLst xmlns:a="http://schemas.openxmlformats.org/drawingml/2006/main">
              <a:ext uri="{FF2B5EF4-FFF2-40B4-BE49-F238E27FC236}">
                <a16:creationId xmlns:a16="http://schemas.microsoft.com/office/drawing/2014/main" id="{7AE18D89-1FF2-48F2-9A35-6CFCC2AEA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14975"/>
            <a:ext cx="10572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MietChecks USP: Der Umzugsaufschlag quantifiziert die Lücke – mit Datenstand, Marktstreuung und Modellunsicherheit.</a:t>
            </a:r>
          </a:p>
        </p:txBody>
      </p:sp>
    </p:spTree>
    <p:extLst>
      <p:ext uri="{BB962C8B-B14F-4D97-AF65-F5344CB8AC3E}">
        <p14:creationId xmlns:p14="http://schemas.microsoft.com/office/powerpoint/2010/main" val="27406351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-3">
            <a:extLst xmlns:a="http://schemas.openxmlformats.org/drawingml/2006/main">
              <a:ext uri="{FF2B5EF4-FFF2-40B4-BE49-F238E27FC236}">
                <a16:creationId xmlns:a16="http://schemas.microsoft.com/office/drawing/2014/main" id="{14A479A9-E339-4F53-B341-510CB91C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Der USP ist die Kombination, nicht der Preisrechner</a:t>
            </a:r>
          </a:p>
        </p:txBody>
      </p:sp>
      <p:sp>
        <p:nvSpPr>
          <p:cNvPr id="2" name="source-3">
            <a:extLst xmlns:a="http://schemas.openxmlformats.org/drawingml/2006/main">
              <a:ext uri="{FF2B5EF4-FFF2-40B4-BE49-F238E27FC236}">
                <a16:creationId xmlns:a16="http://schemas.microsoft.com/office/drawing/2014/main" id="{8CB95B97-BC70-45B1-A815-0BE5F3CD3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Quellen: öffentliche Produktseiten von Destatis, Immowelt, Immolyze und kommunalen Mietspiegeln; Audit vom 16.07.2026.</a:t>
            </a:r>
          </a:p>
        </p:txBody>
      </p:sp>
      <p:sp>
        <p:nvSpPr>
          <p:cNvPr id="3" name="page-3">
            <a:extLst xmlns:a="http://schemas.openxmlformats.org/drawingml/2006/main">
              <a:ext uri="{FF2B5EF4-FFF2-40B4-BE49-F238E27FC236}">
                <a16:creationId xmlns:a16="http://schemas.microsoft.com/office/drawing/2014/main" id="{401AA314-FC7F-42E9-A105-585EFDC0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4" name="competitor-lead">
            <a:extLst xmlns:a="http://schemas.openxmlformats.org/drawingml/2006/main">
              <a:ext uri="{FF2B5EF4-FFF2-40B4-BE49-F238E27FC236}">
                <a16:creationId xmlns:a16="http://schemas.microsoft.com/office/drawing/2014/main" id="{CE49B3D4-506D-4E78-A5DB-03BB83A30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110490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Kein geprüftes Angebot verbindet alle fünf Bausteine in einer quellenoffenen Anwendung.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457200" y="2133600"/>
          <a:ext xmlns:a="http://schemas.openxmlformats.org/drawingml/2006/main" cx="11049000" cy="35433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724150"/>
                <a:gridCol w="1333500"/>
                <a:gridCol w="1333500"/>
                <a:gridCol w="1485900"/>
                <a:gridCol w="1809750"/>
                <a:gridCol w="2362200"/>
              </a:tblGrid>
              <a:tr h="59055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Angebot</a:t>
                      </a:r>
                    </a:p>
                  </a:txBody>
                  <a:tcPr marL="95250" marR="95250" marT="95250" marB="95250">
                    <a:solidFill>
                      <a:srgbClr val="13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Bestand</a:t>
                      </a:r>
                    </a:p>
                  </a:txBody>
                  <a:tcPr marL="95250" marR="95250" marT="95250" marB="95250">
                    <a:solidFill>
                      <a:srgbClr val="13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aktuell</a:t>
                      </a:r>
                    </a:p>
                  </a:txBody>
                  <a:tcPr marL="95250" marR="95250" marT="95250" marB="95250">
                    <a:solidFill>
                      <a:srgbClr val="13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persönlich</a:t>
                      </a:r>
                    </a:p>
                  </a:txBody>
                  <a:tcPr marL="95250" marR="95250" marT="95250" marB="95250">
                    <a:solidFill>
                      <a:srgbClr val="13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Unsicherheit</a:t>
                      </a:r>
                    </a:p>
                  </a:txBody>
                  <a:tcPr marL="95250" marR="95250" marT="95250" marB="95250">
                    <a:solidFill>
                      <a:srgbClr val="13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offene ML-Methode</a:t>
                      </a:r>
                    </a:p>
                  </a:txBody>
                  <a:tcPr marL="95250" marR="95250" marT="95250" marB="95250">
                    <a:solidFill>
                      <a:srgbClr val="132238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Destatis-Vergleich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Ja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Teilweise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Immowelt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Ja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Teilweise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Immolyze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unklar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Ja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Teilweise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nicht offen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Kommunale Mietspiegel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Ja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Ja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unterschiedlich</a:t>
                      </a:r>
                    </a:p>
                  </a:txBody>
                  <a:tcPr marL="95250" marR="9525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B6E4F"/>
                          </a:solidFill>
                        </a:rPr>
                        <a:t>MietCheck</a:t>
                      </a:r>
                    </a:p>
                  </a:txBody>
                  <a:tcPr marL="95250" marR="95250" marT="95250" marB="95250">
                    <a:solidFill>
                      <a:srgbClr val="DF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B6E4F"/>
                          </a:solidFill>
                        </a:rPr>
                        <a:t>Ja</a:t>
                      </a:r>
                    </a:p>
                  </a:txBody>
                  <a:tcPr marL="95250" marR="95250" marT="95250" marB="95250">
                    <a:solidFill>
                      <a:srgbClr val="DF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B6E4F"/>
                          </a:solidFill>
                        </a:rPr>
                        <a:t>Ja</a:t>
                      </a:r>
                    </a:p>
                  </a:txBody>
                  <a:tcPr marL="95250" marR="95250" marT="95250" marB="95250">
                    <a:solidFill>
                      <a:srgbClr val="DF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B6E4F"/>
                          </a:solidFill>
                        </a:rPr>
                        <a:t>Ja</a:t>
                      </a:r>
                    </a:p>
                  </a:txBody>
                  <a:tcPr marL="95250" marR="95250" marT="95250" marB="95250">
                    <a:solidFill>
                      <a:srgbClr val="DF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B6E4F"/>
                          </a:solidFill>
                        </a:rPr>
                        <a:t>Ja</a:t>
                      </a:r>
                    </a:p>
                  </a:txBody>
                  <a:tcPr marL="95250" marR="95250" marT="95250" marB="95250">
                    <a:solidFill>
                      <a:srgbClr val="DF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B6E4F"/>
                          </a:solidFill>
                        </a:rPr>
                        <a:t>Ja</a:t>
                      </a:r>
                    </a:p>
                  </a:txBody>
                  <a:tcPr marL="95250" marR="95250" marT="95250" marB="95250">
                    <a:solidFill>
                      <a:srgbClr val="DFF3EC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24369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itle-4">
            <a:extLst xmlns:a="http://schemas.openxmlformats.org/drawingml/2006/main">
              <a:ext uri="{FF2B5EF4-FFF2-40B4-BE49-F238E27FC236}">
                <a16:creationId xmlns:a16="http://schemas.microsoft.com/office/drawing/2014/main" id="{C3F53B92-D432-40EF-B89B-D2AF3A8F9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2,06 Mio. Rasterwerte – mit prüfbarer Herkunft</a:t>
            </a:r>
          </a:p>
        </p:txBody>
      </p:sp>
      <p:sp>
        <p:nvSpPr>
          <p:cNvPr id="2" name="source-4">
            <a:extLst xmlns:a="http://schemas.openxmlformats.org/drawingml/2006/main">
              <a:ext uri="{FF2B5EF4-FFF2-40B4-BE49-F238E27FC236}">
                <a16:creationId xmlns:a16="http://schemas.microsoft.com/office/drawing/2014/main" id="{C48FCE65-ABAC-445D-AC6F-61B4BAA95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Quellen: Statistische Ämter des Bundes und der Länder, Zensus 2022; Kiel Institut / VALUE; eigene Verarbeitung.</a:t>
            </a:r>
          </a:p>
        </p:txBody>
      </p:sp>
      <p:sp>
        <p:nvSpPr>
          <p:cNvPr id="3" name="page-4">
            <a:extLst xmlns:a="http://schemas.openxmlformats.org/drawingml/2006/main">
              <a:ext uri="{FF2B5EF4-FFF2-40B4-BE49-F238E27FC236}">
                <a16:creationId xmlns:a16="http://schemas.microsoft.com/office/drawing/2014/main" id="{4ABA5A1E-4998-4323-9349-79DB0B657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4</a:t>
            </a:r>
          </a:p>
        </p:txBody>
      </p:sp>
      <p:sp>
        <p:nvSpPr>
          <p:cNvPr id="4" name="data-lead">
            <a:extLst xmlns:a="http://schemas.openxmlformats.org/drawingml/2006/main">
              <a:ext uri="{FF2B5EF4-FFF2-40B4-BE49-F238E27FC236}">
                <a16:creationId xmlns:a16="http://schemas.microsoft.com/office/drawing/2014/main" id="{54D635F0-AE29-424D-B9E8-D49E32DA6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2550"/>
            <a:ext cx="110490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Sieben Zensusprodukte bilden die ML-Basis; GREIX bleibt als aktuelle Marktquelle methodisch getrennt.</a:t>
            </a:r>
          </a:p>
        </p:txBody>
      </p:sp>
      <p:sp>
        <p:nvSpPr>
          <p:cNvPr id="5" name="data-panel-0">
            <a:extLst xmlns:a="http://schemas.openxmlformats.org/drawingml/2006/main">
              <a:ext uri="{FF2B5EF4-FFF2-40B4-BE49-F238E27FC236}">
                <a16:creationId xmlns:a16="http://schemas.microsoft.com/office/drawing/2014/main" id="{AE5D5362-4FE2-4D35-845C-C5641617E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24100"/>
            <a:ext cx="34480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EF"/>
          </a:solidFill>
          <a:ln xmlns:a="http://schemas.openxmlformats.org/drawingml/2006/main" w="0">
            <a:solidFill>
              <a:srgbClr val="EEF1EF"/>
            </a:solidFill>
            <a:prstDash val="solid"/>
          </a:ln>
        </p:spPr>
      </p:sp>
      <p:sp>
        <p:nvSpPr>
          <p:cNvPr id="6" name="data-stat-0">
            <a:extLst xmlns:a="http://schemas.openxmlformats.org/drawingml/2006/main">
              <a:ext uri="{FF2B5EF4-FFF2-40B4-BE49-F238E27FC236}">
                <a16:creationId xmlns:a16="http://schemas.microsoft.com/office/drawing/2014/main" id="{B37C9F24-9DF0-45CA-8893-3C57A182A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71750"/>
            <a:ext cx="2952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2,06 Mio.</a:t>
            </a:r>
          </a:p>
        </p:txBody>
      </p:sp>
      <p:sp>
        <p:nvSpPr>
          <p:cNvPr id="7" name="data-label-0">
            <a:extLst xmlns:a="http://schemas.openxmlformats.org/drawingml/2006/main">
              <a:ext uri="{FF2B5EF4-FFF2-40B4-BE49-F238E27FC236}">
                <a16:creationId xmlns:a16="http://schemas.microsoft.com/office/drawing/2014/main" id="{66397C5D-C01C-41DC-A0DD-F30490CFD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4805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Modellzeilen</a:t>
            </a:r>
          </a:p>
        </p:txBody>
      </p:sp>
      <p:sp>
        <p:nvSpPr>
          <p:cNvPr id="8" name="data-detail-0">
            <a:extLst xmlns:a="http://schemas.openxmlformats.org/drawingml/2006/main">
              <a:ext uri="{FF2B5EF4-FFF2-40B4-BE49-F238E27FC236}">
                <a16:creationId xmlns:a16="http://schemas.microsoft.com/office/drawing/2014/main" id="{80A3FADD-115F-4BFA-B7D5-249EEAB0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2952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Miete × Gebäudealter × Wohnungsgröße</a:t>
            </a:r>
          </a:p>
        </p:txBody>
      </p:sp>
      <p:sp>
        <p:nvSpPr>
          <p:cNvPr id="9" name="data-panel-1">
            <a:extLst xmlns:a="http://schemas.openxmlformats.org/drawingml/2006/main">
              <a:ext uri="{FF2B5EF4-FFF2-40B4-BE49-F238E27FC236}">
                <a16:creationId xmlns:a16="http://schemas.microsoft.com/office/drawing/2014/main" id="{552FBC59-4CE0-4F70-8BBD-002E5766D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324100"/>
            <a:ext cx="34480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EF"/>
          </a:solidFill>
          <a:ln xmlns:a="http://schemas.openxmlformats.org/drawingml/2006/main" w="0">
            <a:solidFill>
              <a:srgbClr val="EEF1EF"/>
            </a:solidFill>
            <a:prstDash val="solid"/>
          </a:ln>
        </p:spPr>
      </p:sp>
      <p:sp>
        <p:nvSpPr>
          <p:cNvPr id="10" name="data-stat-1">
            <a:extLst xmlns:a="http://schemas.openxmlformats.org/drawingml/2006/main">
              <a:ext uri="{FF2B5EF4-FFF2-40B4-BE49-F238E27FC236}">
                <a16:creationId xmlns:a16="http://schemas.microsoft.com/office/drawing/2014/main" id="{638B2965-528B-4F20-9E2F-23C32D7B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571750"/>
            <a:ext cx="2952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1,18 Mio.</a:t>
            </a:r>
          </a:p>
        </p:txBody>
      </p:sp>
      <p:sp>
        <p:nvSpPr>
          <p:cNvPr id="11" name="data-label-1">
            <a:extLst xmlns:a="http://schemas.openxmlformats.org/drawingml/2006/main">
              <a:ext uri="{FF2B5EF4-FFF2-40B4-BE49-F238E27FC236}">
                <a16:creationId xmlns:a16="http://schemas.microsoft.com/office/drawing/2014/main" id="{0E8768A3-3194-46A0-BB56-D876BFFD5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44805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100-m-Gitter</a:t>
            </a:r>
          </a:p>
        </p:txBody>
      </p:sp>
      <p:sp>
        <p:nvSpPr>
          <p:cNvPr id="12" name="data-detail-1">
            <a:extLst xmlns:a="http://schemas.openxmlformats.org/drawingml/2006/main">
              <a:ext uri="{FF2B5EF4-FFF2-40B4-BE49-F238E27FC236}">
                <a16:creationId xmlns:a16="http://schemas.microsoft.com/office/drawing/2014/main" id="{A70EE766-8D29-4323-856A-CC79144FA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905250"/>
            <a:ext cx="2952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kleinräumige amtliche Zensuszellen</a:t>
            </a:r>
          </a:p>
        </p:txBody>
      </p:sp>
      <p:sp>
        <p:nvSpPr>
          <p:cNvPr id="13" name="data-panel-2">
            <a:extLst xmlns:a="http://schemas.openxmlformats.org/drawingml/2006/main">
              <a:ext uri="{FF2B5EF4-FFF2-40B4-BE49-F238E27FC236}">
                <a16:creationId xmlns:a16="http://schemas.microsoft.com/office/drawing/2014/main" id="{D29E0ED4-8793-4D8B-A8DD-EF6230C1C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24100"/>
            <a:ext cx="34480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EF"/>
          </a:solidFill>
          <a:ln xmlns:a="http://schemas.openxmlformats.org/drawingml/2006/main" w="0">
            <a:solidFill>
              <a:srgbClr val="EEF1EF"/>
            </a:solidFill>
            <a:prstDash val="solid"/>
          </a:ln>
        </p:spPr>
      </p:sp>
      <p:sp>
        <p:nvSpPr>
          <p:cNvPr id="14" name="data-stat-2">
            <a:extLst xmlns:a="http://schemas.openxmlformats.org/drawingml/2006/main">
              <a:ext uri="{FF2B5EF4-FFF2-40B4-BE49-F238E27FC236}">
                <a16:creationId xmlns:a16="http://schemas.microsoft.com/office/drawing/2014/main" id="{5172CC5D-18FD-4236-9751-88871ACD6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71750"/>
            <a:ext cx="2952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2026-Q1</a:t>
            </a:r>
          </a:p>
        </p:txBody>
      </p:sp>
      <p:sp>
        <p:nvSpPr>
          <p:cNvPr id="15" name="data-label-2">
            <a:extLst xmlns:a="http://schemas.openxmlformats.org/drawingml/2006/main">
              <a:ext uri="{FF2B5EF4-FFF2-40B4-BE49-F238E27FC236}">
                <a16:creationId xmlns:a16="http://schemas.microsoft.com/office/drawing/2014/main" id="{7060F282-0511-44C7-A58C-B31E0DF3A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44805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aktuelle Referenz</a:t>
            </a:r>
          </a:p>
        </p:txBody>
      </p:sp>
      <p:sp>
        <p:nvSpPr>
          <p:cNvPr id="16" name="data-detail-2">
            <a:extLst xmlns:a="http://schemas.openxmlformats.org/drawingml/2006/main">
              <a:ext uri="{FF2B5EF4-FFF2-40B4-BE49-F238E27FC236}">
                <a16:creationId xmlns:a16="http://schemas.microsoft.com/office/drawing/2014/main" id="{0C49A8FD-D319-4C20-9B0E-3C03220DE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905250"/>
            <a:ext cx="2952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37 lokale GREIX-Märkte + Deutschland</a:t>
            </a:r>
          </a:p>
        </p:txBody>
      </p:sp>
      <p:cxnSp>
        <p:nvCxnSpPr>
          <p:cNvPr id="38" name="provenance-line"/>
          <p:cNvCxnSpPr/>
          <p:nvPr/>
        </p:nvCxnSpPr>
        <p:spPr>
          <a:xfrm xmlns:a="http://schemas.openxmlformats.org/drawingml/2006/main">
            <a:off x="704850" y="5391150"/>
            <a:ext cx="1028700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9E0E8"/>
            </a:solidFill>
            <a:prstDash val="solid"/>
          </a:ln>
        </p:spPr>
      </p:cxnSp>
      <p:sp>
        <p:nvSpPr>
          <p:cNvPr id="18" name="prov-1">
            <a:extLst xmlns:a="http://schemas.openxmlformats.org/drawingml/2006/main">
              <a:ext uri="{FF2B5EF4-FFF2-40B4-BE49-F238E27FC236}">
                <a16:creationId xmlns:a16="http://schemas.microsoft.com/office/drawing/2014/main" id="{479576FE-C323-40AA-B4E1-3BA8CC75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62600"/>
            <a:ext cx="209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Offizielle URL</a:t>
            </a:r>
          </a:p>
        </p:txBody>
      </p:sp>
      <p:sp>
        <p:nvSpPr>
          <p:cNvPr id="19" name="prov-2">
            <a:extLst xmlns:a="http://schemas.openxmlformats.org/drawingml/2006/main">
              <a:ext uri="{FF2B5EF4-FFF2-40B4-BE49-F238E27FC236}">
                <a16:creationId xmlns:a16="http://schemas.microsoft.com/office/drawing/2014/main" id="{EDBD8DAC-0EC1-41E7-8589-4155E244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562600"/>
            <a:ext cx="209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SHA-256-Manifest</a:t>
            </a:r>
          </a:p>
        </p:txBody>
      </p:sp>
      <p:sp>
        <p:nvSpPr>
          <p:cNvPr id="20" name="prov-3">
            <a:extLst xmlns:a="http://schemas.openxmlformats.org/drawingml/2006/main">
              <a:ext uri="{FF2B5EF4-FFF2-40B4-BE49-F238E27FC236}">
                <a16:creationId xmlns:a16="http://schemas.microsoft.com/office/drawing/2014/main" id="{5DA8B677-BDE3-439C-AFD7-873E239E5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562600"/>
            <a:ext cx="209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Datenverträge</a:t>
            </a:r>
          </a:p>
        </p:txBody>
      </p:sp>
      <p:sp>
        <p:nvSpPr>
          <p:cNvPr id="21" name="prov-4">
            <a:extLst xmlns:a="http://schemas.openxmlformats.org/drawingml/2006/main">
              <a:ext uri="{FF2B5EF4-FFF2-40B4-BE49-F238E27FC236}">
                <a16:creationId xmlns:a16="http://schemas.microsoft.com/office/drawing/2014/main" id="{42FF99D7-CB7B-4567-A5BC-F642039D1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562600"/>
            <a:ext cx="2667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reproduzierbarer Build</a:t>
            </a:r>
          </a:p>
        </p:txBody>
      </p:sp>
    </p:spTree>
    <p:extLst>
      <p:ext uri="{BB962C8B-B14F-4D97-AF65-F5344CB8AC3E}">
        <p14:creationId xmlns:p14="http://schemas.microsoft.com/office/powerpoint/2010/main" val="21412419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itle-5">
            <a:extLst xmlns:a="http://schemas.openxmlformats.org/drawingml/2006/main">
              <a:ext uri="{FF2B5EF4-FFF2-40B4-BE49-F238E27FC236}">
                <a16:creationId xmlns:a16="http://schemas.microsoft.com/office/drawing/2014/main" id="{3C3A82A8-CD44-4BBF-A597-A7CE1260A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QUA³CK ist eine Nachweiskette – kein Inhaltsverzeichnis</a:t>
            </a:r>
          </a:p>
        </p:txBody>
      </p:sp>
      <p:sp>
        <p:nvSpPr>
          <p:cNvPr id="2" name="source-5">
            <a:extLst xmlns:a="http://schemas.openxmlformats.org/drawingml/2006/main">
              <a:ext uri="{FF2B5EF4-FFF2-40B4-BE49-F238E27FC236}">
                <a16:creationId xmlns:a16="http://schemas.microsoft.com/office/drawing/2014/main" id="{BD87311A-B539-4D40-963B-9440F4A42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3" name="page-5">
            <a:extLst xmlns:a="http://schemas.openxmlformats.org/drawingml/2006/main">
              <a:ext uri="{FF2B5EF4-FFF2-40B4-BE49-F238E27FC236}">
                <a16:creationId xmlns:a16="http://schemas.microsoft.com/office/drawing/2014/main" id="{776A9E0F-AF75-4B0E-BE4C-85191657E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5</a:t>
            </a:r>
          </a:p>
        </p:txBody>
      </p:sp>
      <p:sp>
        <p:nvSpPr>
          <p:cNvPr id="4" name="qua-lead">
            <a:extLst xmlns:a="http://schemas.openxmlformats.org/drawingml/2006/main">
              <a:ext uri="{FF2B5EF4-FFF2-40B4-BE49-F238E27FC236}">
                <a16:creationId xmlns:a16="http://schemas.microsoft.com/office/drawing/2014/main" id="{3B9EFDB8-8DCA-426F-9DDA-2A9C9B216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10490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Jede Phase endet in versionierten Reports, ausgeführten Notebooks und einem überprüfbaren Gate.</a:t>
            </a:r>
          </a:p>
        </p:txBody>
      </p:sp>
      <p:cxnSp>
        <p:nvCxnSpPr>
          <p:cNvPr id="40" name="qua-line"/>
          <p:cNvCxnSpPr/>
          <p:nvPr/>
        </p:nvCxnSpPr>
        <p:spPr>
          <a:xfrm xmlns:a="http://schemas.openxmlformats.org/drawingml/2006/main">
            <a:off x="819150" y="3105150"/>
            <a:ext cx="1000125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9E0E8"/>
            </a:solidFill>
            <a:prstDash val="solid"/>
          </a:ln>
        </p:spPr>
      </p:cxnSp>
      <p:sp>
        <p:nvSpPr>
          <p:cNvPr id="6" name="qua-node-0">
            <a:extLst xmlns:a="http://schemas.openxmlformats.org/drawingml/2006/main">
              <a:ext uri="{FF2B5EF4-FFF2-40B4-BE49-F238E27FC236}">
                <a16:creationId xmlns:a16="http://schemas.microsoft.com/office/drawing/2014/main" id="{6959C6C8-D65C-4BE4-A5A3-4E0B7DEBB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E4F"/>
          </a:solidFill>
          <a:ln xmlns:a="http://schemas.openxmlformats.org/drawingml/2006/main" w="0">
            <a:solidFill>
              <a:srgbClr val="0B6E4F"/>
            </a:solidFill>
            <a:prstDash val="solid"/>
          </a:ln>
        </p:spPr>
      </p:sp>
      <p:sp>
        <p:nvSpPr>
          <p:cNvPr id="7" name="qua-code-0">
            <a:extLst xmlns:a="http://schemas.openxmlformats.org/drawingml/2006/main">
              <a:ext uri="{FF2B5EF4-FFF2-40B4-BE49-F238E27FC236}">
                <a16:creationId xmlns:a16="http://schemas.microsoft.com/office/drawing/2014/main" id="{39B2D777-AF0D-4E47-92DA-F41E4B5F8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Q</a:t>
            </a:r>
          </a:p>
        </p:txBody>
      </p:sp>
      <p:sp>
        <p:nvSpPr>
          <p:cNvPr id="8" name="qua-title-0">
            <a:extLst xmlns:a="http://schemas.openxmlformats.org/drawingml/2006/main">
              <a:ext uri="{FF2B5EF4-FFF2-40B4-BE49-F238E27FC236}">
                <a16:creationId xmlns:a16="http://schemas.microsoft.com/office/drawing/2014/main" id="{406C2ECE-8511-4B7C-8FE1-FF6595771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Qualität</a:t>
            </a:r>
          </a:p>
        </p:txBody>
      </p:sp>
      <p:sp>
        <p:nvSpPr>
          <p:cNvPr id="9" name="qua-body-0">
            <a:extLst xmlns:a="http://schemas.openxmlformats.org/drawingml/2006/main">
              <a:ext uri="{FF2B5EF4-FFF2-40B4-BE49-F238E27FC236}">
                <a16:creationId xmlns:a16="http://schemas.microsoft.com/office/drawing/2014/main" id="{8B072CF6-10A0-42AA-B9B5-921E56AE8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Hashes, Grain,
Missingness</a:t>
            </a:r>
          </a:p>
        </p:txBody>
      </p:sp>
      <p:sp>
        <p:nvSpPr>
          <p:cNvPr id="10" name="qua-node-1">
            <a:extLst xmlns:a="http://schemas.openxmlformats.org/drawingml/2006/main">
              <a:ext uri="{FF2B5EF4-FFF2-40B4-BE49-F238E27FC236}">
                <a16:creationId xmlns:a16="http://schemas.microsoft.com/office/drawing/2014/main" id="{E8AF20C0-81C2-495A-B4EE-A09A72578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E4F"/>
          </a:solidFill>
          <a:ln xmlns:a="http://schemas.openxmlformats.org/drawingml/2006/main" w="0">
            <a:solidFill>
              <a:srgbClr val="0B6E4F"/>
            </a:solidFill>
            <a:prstDash val="solid"/>
          </a:ln>
        </p:spPr>
      </p:sp>
      <p:sp>
        <p:nvSpPr>
          <p:cNvPr id="11" name="qua-code-1">
            <a:extLst xmlns:a="http://schemas.openxmlformats.org/drawingml/2006/main">
              <a:ext uri="{FF2B5EF4-FFF2-40B4-BE49-F238E27FC236}">
                <a16:creationId xmlns:a16="http://schemas.microsoft.com/office/drawing/2014/main" id="{4BB87973-4823-4762-AEA8-11696DAF9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U</a:t>
            </a:r>
          </a:p>
        </p:txBody>
      </p:sp>
      <p:sp>
        <p:nvSpPr>
          <p:cNvPr id="12" name="qua-title-1">
            <a:extLst xmlns:a="http://schemas.openxmlformats.org/drawingml/2006/main">
              <a:ext uri="{FF2B5EF4-FFF2-40B4-BE49-F238E27FC236}">
                <a16:creationId xmlns:a16="http://schemas.microsoft.com/office/drawing/2014/main" id="{B7631F02-E2B3-41D6-B5A7-C4201F8DD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Understanding</a:t>
            </a:r>
          </a:p>
        </p:txBody>
      </p:sp>
      <p:sp>
        <p:nvSpPr>
          <p:cNvPr id="13" name="qua-body-1">
            <a:extLst xmlns:a="http://schemas.openxmlformats.org/drawingml/2006/main">
              <a:ext uri="{FF2B5EF4-FFF2-40B4-BE49-F238E27FC236}">
                <a16:creationId xmlns:a16="http://schemas.microsoft.com/office/drawing/2014/main" id="{07359966-173F-46DA-BE5D-350AFF5D3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EDA, Raum,
Zielverteilung</a:t>
            </a:r>
          </a:p>
        </p:txBody>
      </p:sp>
      <p:sp>
        <p:nvSpPr>
          <p:cNvPr id="14" name="qua-node-2">
            <a:extLst xmlns:a="http://schemas.openxmlformats.org/drawingml/2006/main">
              <a:ext uri="{FF2B5EF4-FFF2-40B4-BE49-F238E27FC236}">
                <a16:creationId xmlns:a16="http://schemas.microsoft.com/office/drawing/2014/main" id="{25C4924A-A74B-4F17-B9C7-9D912FBF5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E4F"/>
          </a:solidFill>
          <a:ln xmlns:a="http://schemas.openxmlformats.org/drawingml/2006/main" w="0">
            <a:solidFill>
              <a:srgbClr val="0B6E4F"/>
            </a:solidFill>
            <a:prstDash val="solid"/>
          </a:ln>
        </p:spPr>
      </p:sp>
      <p:sp>
        <p:nvSpPr>
          <p:cNvPr id="15" name="qua-code-2">
            <a:extLst xmlns:a="http://schemas.openxmlformats.org/drawingml/2006/main">
              <a:ext uri="{FF2B5EF4-FFF2-40B4-BE49-F238E27FC236}">
                <a16:creationId xmlns:a16="http://schemas.microsoft.com/office/drawing/2014/main" id="{4CE57165-33A9-4481-A40D-E81B90B3A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A¹</a:t>
            </a:r>
          </a:p>
        </p:txBody>
      </p:sp>
      <p:sp>
        <p:nvSpPr>
          <p:cNvPr id="16" name="qua-title-2">
            <a:extLst xmlns:a="http://schemas.openxmlformats.org/drawingml/2006/main">
              <a:ext uri="{FF2B5EF4-FFF2-40B4-BE49-F238E27FC236}">
                <a16:creationId xmlns:a16="http://schemas.microsoft.com/office/drawing/2014/main" id="{71F257DF-80AD-47C6-ACFD-8746A863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Auswahl</a:t>
            </a:r>
          </a:p>
        </p:txBody>
      </p:sp>
      <p:sp>
        <p:nvSpPr>
          <p:cNvPr id="17" name="qua-body-2">
            <a:extLst xmlns:a="http://schemas.openxmlformats.org/drawingml/2006/main">
              <a:ext uri="{FF2B5EF4-FFF2-40B4-BE49-F238E27FC236}">
                <a16:creationId xmlns:a16="http://schemas.microsoft.com/office/drawing/2014/main" id="{34A8FE05-3F05-4ACD-B83A-59B7ABB11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5 Modelle,
Spatial CV</a:t>
            </a:r>
          </a:p>
        </p:txBody>
      </p:sp>
      <p:sp>
        <p:nvSpPr>
          <p:cNvPr id="18" name="qua-node-3">
            <a:extLst xmlns:a="http://schemas.openxmlformats.org/drawingml/2006/main">
              <a:ext uri="{FF2B5EF4-FFF2-40B4-BE49-F238E27FC236}">
                <a16:creationId xmlns:a16="http://schemas.microsoft.com/office/drawing/2014/main" id="{AEB46F4A-7D2A-46DF-B5BF-88952FA96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E4F"/>
          </a:solidFill>
          <a:ln xmlns:a="http://schemas.openxmlformats.org/drawingml/2006/main" w="0">
            <a:solidFill>
              <a:srgbClr val="0B6E4F"/>
            </a:solidFill>
            <a:prstDash val="solid"/>
          </a:ln>
        </p:spPr>
      </p:sp>
      <p:sp>
        <p:nvSpPr>
          <p:cNvPr id="19" name="qua-code-3">
            <a:extLst xmlns:a="http://schemas.openxmlformats.org/drawingml/2006/main">
              <a:ext uri="{FF2B5EF4-FFF2-40B4-BE49-F238E27FC236}">
                <a16:creationId xmlns:a16="http://schemas.microsoft.com/office/drawing/2014/main" id="{0923F28E-B60A-4864-B25B-CA640F539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A²</a:t>
            </a:r>
          </a:p>
        </p:txBody>
      </p:sp>
      <p:sp>
        <p:nvSpPr>
          <p:cNvPr id="20" name="qua-title-3">
            <a:extLst xmlns:a="http://schemas.openxmlformats.org/drawingml/2006/main">
              <a:ext uri="{FF2B5EF4-FFF2-40B4-BE49-F238E27FC236}">
                <a16:creationId xmlns:a16="http://schemas.microsoft.com/office/drawing/2014/main" id="{1F580B97-71B5-4CAF-8648-CE828C16F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Anpassung</a:t>
            </a:r>
          </a:p>
        </p:txBody>
      </p:sp>
      <p:sp>
        <p:nvSpPr>
          <p:cNvPr id="21" name="qua-body-3">
            <a:extLst xmlns:a="http://schemas.openxmlformats.org/drawingml/2006/main">
              <a:ext uri="{FF2B5EF4-FFF2-40B4-BE49-F238E27FC236}">
                <a16:creationId xmlns:a16="http://schemas.microsoft.com/office/drawing/2014/main" id="{049E6160-44CD-4792-8BDA-AAFEB20EA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8 Tunings,
4 Ablationen</a:t>
            </a:r>
          </a:p>
        </p:txBody>
      </p:sp>
      <p:sp>
        <p:nvSpPr>
          <p:cNvPr id="22" name="qua-node-4">
            <a:extLst xmlns:a="http://schemas.openxmlformats.org/drawingml/2006/main">
              <a:ext uri="{FF2B5EF4-FFF2-40B4-BE49-F238E27FC236}">
                <a16:creationId xmlns:a16="http://schemas.microsoft.com/office/drawing/2014/main" id="{E5E4E6A3-2DEF-457E-9C34-53A675049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E4F"/>
          </a:solidFill>
          <a:ln xmlns:a="http://schemas.openxmlformats.org/drawingml/2006/main" w="0">
            <a:solidFill>
              <a:srgbClr val="0B6E4F"/>
            </a:solidFill>
            <a:prstDash val="solid"/>
          </a:ln>
        </p:spPr>
      </p:sp>
      <p:sp>
        <p:nvSpPr>
          <p:cNvPr id="23" name="qua-code-4">
            <a:extLst xmlns:a="http://schemas.openxmlformats.org/drawingml/2006/main">
              <a:ext uri="{FF2B5EF4-FFF2-40B4-BE49-F238E27FC236}">
                <a16:creationId xmlns:a16="http://schemas.microsoft.com/office/drawing/2014/main" id="{EE9C3232-7395-43B5-8CCC-6032AA6A7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A³</a:t>
            </a:r>
          </a:p>
        </p:txBody>
      </p:sp>
      <p:sp>
        <p:nvSpPr>
          <p:cNvPr id="24" name="qua-title-4">
            <a:extLst xmlns:a="http://schemas.openxmlformats.org/drawingml/2006/main">
              <a:ext uri="{FF2B5EF4-FFF2-40B4-BE49-F238E27FC236}">
                <a16:creationId xmlns:a16="http://schemas.microsoft.com/office/drawing/2014/main" id="{8F76B851-D0EB-41FD-8056-9D17E3B4D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Anwendung</a:t>
            </a:r>
          </a:p>
        </p:txBody>
      </p:sp>
      <p:sp>
        <p:nvSpPr>
          <p:cNvPr id="25" name="qua-body-4">
            <a:extLst xmlns:a="http://schemas.openxmlformats.org/drawingml/2006/main">
              <a:ext uri="{FF2B5EF4-FFF2-40B4-BE49-F238E27FC236}">
                <a16:creationId xmlns:a16="http://schemas.microsoft.com/office/drawing/2014/main" id="{6CFBC138-8353-4339-BB9A-CDE3EF1BC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Artefakt,
Kalibrierung</a:t>
            </a:r>
          </a:p>
        </p:txBody>
      </p:sp>
      <p:sp>
        <p:nvSpPr>
          <p:cNvPr id="26" name="qua-node-5">
            <a:extLst xmlns:a="http://schemas.openxmlformats.org/drawingml/2006/main">
              <a:ext uri="{FF2B5EF4-FFF2-40B4-BE49-F238E27FC236}">
                <a16:creationId xmlns:a16="http://schemas.microsoft.com/office/drawing/2014/main" id="{20A67A14-0B06-45F0-AB16-55E6844F9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5BFF"/>
          </a:solidFill>
          <a:ln xmlns:a="http://schemas.openxmlformats.org/drawingml/2006/main" w="0">
            <a:solidFill>
              <a:srgbClr val="2D5BFF"/>
            </a:solidFill>
            <a:prstDash val="solid"/>
          </a:ln>
        </p:spPr>
      </p:sp>
      <p:sp>
        <p:nvSpPr>
          <p:cNvPr id="27" name="qua-code-5">
            <a:extLst xmlns:a="http://schemas.openxmlformats.org/drawingml/2006/main">
              <a:ext uri="{FF2B5EF4-FFF2-40B4-BE49-F238E27FC236}">
                <a16:creationId xmlns:a16="http://schemas.microsoft.com/office/drawing/2014/main" id="{672BF717-7EA4-40BE-9FB2-047414F7E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</a:t>
            </a:r>
          </a:p>
        </p:txBody>
      </p:sp>
      <p:sp>
        <p:nvSpPr>
          <p:cNvPr id="28" name="qua-title-5">
            <a:extLst xmlns:a="http://schemas.openxmlformats.org/drawingml/2006/main">
              <a:ext uri="{FF2B5EF4-FFF2-40B4-BE49-F238E27FC236}">
                <a16:creationId xmlns:a16="http://schemas.microsoft.com/office/drawing/2014/main" id="{E61D3E07-8A1E-42B9-A1D9-A8B2709B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Comparing</a:t>
            </a:r>
          </a:p>
        </p:txBody>
      </p:sp>
      <p:sp>
        <p:nvSpPr>
          <p:cNvPr id="29" name="qua-body-5">
            <a:extLst xmlns:a="http://schemas.openxmlformats.org/drawingml/2006/main">
              <a:ext uri="{FF2B5EF4-FFF2-40B4-BE49-F238E27FC236}">
                <a16:creationId xmlns:a16="http://schemas.microsoft.com/office/drawing/2014/main" id="{9C63FF74-B4EC-4099-AFD5-DA7FD34AC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finaler Test,
Subgruppen</a:t>
            </a:r>
          </a:p>
        </p:txBody>
      </p:sp>
      <p:sp>
        <p:nvSpPr>
          <p:cNvPr id="30" name="qua-node-6">
            <a:extLst xmlns:a="http://schemas.openxmlformats.org/drawingml/2006/main">
              <a:ext uri="{FF2B5EF4-FFF2-40B4-BE49-F238E27FC236}">
                <a16:creationId xmlns:a16="http://schemas.microsoft.com/office/drawing/2014/main" id="{8ADBCA57-B2B1-43E2-9DAB-DE91710F3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5BFF"/>
          </a:solidFill>
          <a:ln xmlns:a="http://schemas.openxmlformats.org/drawingml/2006/main" w="0">
            <a:solidFill>
              <a:srgbClr val="2D5BFF"/>
            </a:solidFill>
            <a:prstDash val="solid"/>
          </a:ln>
        </p:spPr>
      </p:sp>
      <p:sp>
        <p:nvSpPr>
          <p:cNvPr id="31" name="qua-code-6">
            <a:extLst xmlns:a="http://schemas.openxmlformats.org/drawingml/2006/main">
              <a:ext uri="{FF2B5EF4-FFF2-40B4-BE49-F238E27FC236}">
                <a16:creationId xmlns:a16="http://schemas.microsoft.com/office/drawing/2014/main" id="{AC7EF38C-745B-491C-8DF2-30334D8B7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K</a:t>
            </a:r>
          </a:p>
        </p:txBody>
      </p:sp>
      <p:sp>
        <p:nvSpPr>
          <p:cNvPr id="32" name="qua-title-6">
            <a:extLst xmlns:a="http://schemas.openxmlformats.org/drawingml/2006/main">
              <a:ext uri="{FF2B5EF4-FFF2-40B4-BE49-F238E27FC236}">
                <a16:creationId xmlns:a16="http://schemas.microsoft.com/office/drawing/2014/main" id="{C281CA9B-2676-492D-800F-853AF7B53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Knowledge</a:t>
            </a:r>
          </a:p>
        </p:txBody>
      </p:sp>
      <p:sp>
        <p:nvSpPr>
          <p:cNvPr id="33" name="qua-body-6">
            <a:extLst xmlns:a="http://schemas.openxmlformats.org/drawingml/2006/main">
              <a:ext uri="{FF2B5EF4-FFF2-40B4-BE49-F238E27FC236}">
                <a16:creationId xmlns:a16="http://schemas.microsoft.com/office/drawing/2014/main" id="{BF5CBD95-5119-4187-ACD1-3DBE4258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App, USP,
Umzugsaufschlag</a:t>
            </a:r>
          </a:p>
        </p:txBody>
      </p:sp>
      <p:sp>
        <p:nvSpPr>
          <p:cNvPr id="34" name="qua-proof">
            <a:extLst xmlns:a="http://schemas.openxmlformats.org/drawingml/2006/main">
              <a:ext uri="{FF2B5EF4-FFF2-40B4-BE49-F238E27FC236}">
                <a16:creationId xmlns:a16="http://schemas.microsoft.com/office/drawing/2014/main" id="{17371D18-AC5A-42C1-8A7B-4FD1D38D7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19700"/>
            <a:ext cx="9334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CFF"/>
          </a:solidFill>
          <a:ln xmlns:a="http://schemas.openxmlformats.org/drawingml/2006/main" w="0">
            <a:solidFill>
              <a:srgbClr val="E7ECFF"/>
            </a:solidFill>
            <a:prstDash val="solid"/>
          </a:ln>
        </p:spPr>
      </p:sp>
      <p:sp>
        <p:nvSpPr>
          <p:cNvPr id="35" name="qua-proof-text">
            <a:extLst xmlns:a="http://schemas.openxmlformats.org/drawingml/2006/main">
              <a:ext uri="{FF2B5EF4-FFF2-40B4-BE49-F238E27FC236}">
                <a16:creationId xmlns:a16="http://schemas.microsoft.com/office/drawing/2014/main" id="{44401676-FF3D-4A0F-876E-87171D907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419725"/>
            <a:ext cx="8801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2D5BFF"/>
                </a:solidFill>
                <a:latin typeface="Arial"/>
                <a:ea typeface="Arial"/>
                <a:cs typeface="Arial"/>
              </a:defRPr>
            </a:pPr>
            <a:r>
              <a:t>7/7 Notebooks · 33/33 Codezellen · 0 Fehleroutputs · automatisierter Ausführungsbericht</a:t>
            </a:r>
          </a:p>
        </p:txBody>
      </p:sp>
    </p:spTree>
    <p:extLst>
      <p:ext uri="{BB962C8B-B14F-4D97-AF65-F5344CB8AC3E}">
        <p14:creationId xmlns:p14="http://schemas.microsoft.com/office/powerpoint/2010/main" val="2038507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itle-6">
            <a:extLst xmlns:a="http://schemas.openxmlformats.org/drawingml/2006/main">
              <a:ext uri="{FF2B5EF4-FFF2-40B4-BE49-F238E27FC236}">
                <a16:creationId xmlns:a16="http://schemas.microsoft.com/office/drawing/2014/main" id="{50005EA8-3442-4ADA-A6FE-B3692292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Nachbarzellen dürfen den Test nicht verraten</a:t>
            </a:r>
          </a:p>
        </p:txBody>
      </p:sp>
      <p:sp>
        <p:nvSpPr>
          <p:cNvPr id="2" name="source-6">
            <a:extLst xmlns:a="http://schemas.openxmlformats.org/drawingml/2006/main">
              <a:ext uri="{FF2B5EF4-FFF2-40B4-BE49-F238E27FC236}">
                <a16:creationId xmlns:a16="http://schemas.microsoft.com/office/drawing/2014/main" id="{94B0BF1A-73FB-48B3-87FF-342524546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3" name="page-6">
            <a:extLst xmlns:a="http://schemas.openxmlformats.org/drawingml/2006/main">
              <a:ext uri="{FF2B5EF4-FFF2-40B4-BE49-F238E27FC236}">
                <a16:creationId xmlns:a16="http://schemas.microsoft.com/office/drawing/2014/main" id="{7CA99323-1B87-4FC0-8548-CF2E703E9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6</a:t>
            </a:r>
          </a:p>
        </p:txBody>
      </p:sp>
      <p:sp>
        <p:nvSpPr>
          <p:cNvPr id="4" name="spatial-lead">
            <a:extLst xmlns:a="http://schemas.openxmlformats.org/drawingml/2006/main">
              <a:ext uri="{FF2B5EF4-FFF2-40B4-BE49-F238E27FC236}">
                <a16:creationId xmlns:a16="http://schemas.microsoft.com/office/drawing/2014/main" id="{A5AFC7EF-084B-4217-8C94-C011E70C6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71600"/>
            <a:ext cx="11049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Deshalb gruppiert MietCheck 100-m-Zellen in 25-km-Blöcke und trennt ganze Räume.</a:t>
            </a:r>
          </a:p>
        </p:txBody>
      </p:sp>
      <p:cxnSp>
        <p:nvCxnSpPr>
          <p:cNvPr id="30" name="spatial-connector"/>
          <p:cNvCxnSpPr/>
          <p:nvPr/>
        </p:nvCxnSpPr>
        <p:spPr>
          <a:xfrm xmlns:a="http://schemas.openxmlformats.org/drawingml/2006/main">
            <a:off x="2266950" y="3867150"/>
            <a:ext cx="765810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9E0E8"/>
            </a:solidFill>
            <a:prstDash val="solid"/>
          </a:ln>
        </p:spPr>
      </p:cxnSp>
      <p:sp>
        <p:nvSpPr>
          <p:cNvPr id="6" name="spatial-panel-0">
            <a:extLst xmlns:a="http://schemas.openxmlformats.org/drawingml/2006/main">
              <a:ext uri="{FF2B5EF4-FFF2-40B4-BE49-F238E27FC236}">
                <a16:creationId xmlns:a16="http://schemas.microsoft.com/office/drawing/2014/main" id="{83184A07-EF94-4409-8C71-1B821778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52650"/>
            <a:ext cx="34480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sp>
        <p:nvSpPr>
          <p:cNvPr id="7" name="spatial-bar-0">
            <a:extLst xmlns:a="http://schemas.openxmlformats.org/drawingml/2006/main">
              <a:ext uri="{FF2B5EF4-FFF2-40B4-BE49-F238E27FC236}">
                <a16:creationId xmlns:a16="http://schemas.microsoft.com/office/drawing/2014/main" id="{C9AE9321-C22E-4C26-A6B5-285089EBA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52650"/>
            <a:ext cx="34480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E4F"/>
          </a:solidFill>
          <a:ln xmlns:a="http://schemas.openxmlformats.org/drawingml/2006/main" w="0">
            <a:solidFill>
              <a:srgbClr val="0B6E4F"/>
            </a:solidFill>
            <a:prstDash val="solid"/>
          </a:ln>
        </p:spPr>
      </p:sp>
      <p:sp>
        <p:nvSpPr>
          <p:cNvPr id="8" name="spatial-title-0">
            <a:extLst xmlns:a="http://schemas.openxmlformats.org/drawingml/2006/main">
              <a:ext uri="{FF2B5EF4-FFF2-40B4-BE49-F238E27FC236}">
                <a16:creationId xmlns:a16="http://schemas.microsoft.com/office/drawing/2014/main" id="{69B44284-EA46-4E34-A1FD-C8D0C37D0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3840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Entwicklung</a:t>
            </a:r>
          </a:p>
        </p:txBody>
      </p:sp>
      <p:sp>
        <p:nvSpPr>
          <p:cNvPr id="9" name="spatial-rows-0">
            <a:extLst xmlns:a="http://schemas.openxmlformats.org/drawingml/2006/main">
              <a:ext uri="{FF2B5EF4-FFF2-40B4-BE49-F238E27FC236}">
                <a16:creationId xmlns:a16="http://schemas.microsoft.com/office/drawing/2014/main" id="{A8127BFD-EB9F-4D2E-B75A-064B16F2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52750"/>
            <a:ext cx="2952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1.518.322</a:t>
            </a:r>
          </a:p>
        </p:txBody>
      </p:sp>
      <p:sp>
        <p:nvSpPr>
          <p:cNvPr id="10" name="spatial-blocks-0">
            <a:extLst xmlns:a="http://schemas.openxmlformats.org/drawingml/2006/main">
              <a:ext uri="{FF2B5EF4-FFF2-40B4-BE49-F238E27FC236}">
                <a16:creationId xmlns:a16="http://schemas.microsoft.com/office/drawing/2014/main" id="{4D3659E3-5693-4081-AEFA-DFF116E3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76650"/>
            <a:ext cx="295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465 Raumblöcke</a:t>
            </a:r>
          </a:p>
        </p:txBody>
      </p:sp>
      <p:sp>
        <p:nvSpPr>
          <p:cNvPr id="11" name="spatial-body-0">
            <a:extLst xmlns:a="http://schemas.openxmlformats.org/drawingml/2006/main">
              <a:ext uri="{FF2B5EF4-FFF2-40B4-BE49-F238E27FC236}">
                <a16:creationId xmlns:a16="http://schemas.microsoft.com/office/drawing/2014/main" id="{2603BD95-019C-4DDE-A99E-4F39C318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67200"/>
            <a:ext cx="295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Modellwahl, Tuning und Featureentscheidungen</a:t>
            </a:r>
          </a:p>
        </p:txBody>
      </p:sp>
      <p:sp>
        <p:nvSpPr>
          <p:cNvPr id="12" name="spatial-panel-1">
            <a:extLst xmlns:a="http://schemas.openxmlformats.org/drawingml/2006/main">
              <a:ext uri="{FF2B5EF4-FFF2-40B4-BE49-F238E27FC236}">
                <a16:creationId xmlns:a16="http://schemas.microsoft.com/office/drawing/2014/main" id="{ED654561-A5DD-4DF0-9A23-5BAB2E480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152650"/>
            <a:ext cx="34480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sp>
        <p:nvSpPr>
          <p:cNvPr id="13" name="spatial-bar-1">
            <a:extLst xmlns:a="http://schemas.openxmlformats.org/drawingml/2006/main">
              <a:ext uri="{FF2B5EF4-FFF2-40B4-BE49-F238E27FC236}">
                <a16:creationId xmlns:a16="http://schemas.microsoft.com/office/drawing/2014/main" id="{3B64230C-7FE8-4872-A980-A0553AE75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152650"/>
            <a:ext cx="34480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BFF"/>
          </a:solidFill>
          <a:ln xmlns:a="http://schemas.openxmlformats.org/drawingml/2006/main" w="0">
            <a:solidFill>
              <a:srgbClr val="2D5BFF"/>
            </a:solidFill>
            <a:prstDash val="solid"/>
          </a:ln>
        </p:spPr>
      </p:sp>
      <p:sp>
        <p:nvSpPr>
          <p:cNvPr id="14" name="spatial-title-1">
            <a:extLst xmlns:a="http://schemas.openxmlformats.org/drawingml/2006/main">
              <a:ext uri="{FF2B5EF4-FFF2-40B4-BE49-F238E27FC236}">
                <a16:creationId xmlns:a16="http://schemas.microsoft.com/office/drawing/2014/main" id="{551E5C9F-DB3A-42ED-B2B0-D46271962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43840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D5BFF"/>
                </a:solidFill>
                <a:latin typeface="Arial"/>
                <a:ea typeface="Arial"/>
                <a:cs typeface="Arial"/>
              </a:defRPr>
            </a:pPr>
            <a:r>
              <a:t>Kalibrierung</a:t>
            </a:r>
          </a:p>
        </p:txBody>
      </p:sp>
      <p:sp>
        <p:nvSpPr>
          <p:cNvPr id="15" name="spatial-rows-1">
            <a:extLst xmlns:a="http://schemas.openxmlformats.org/drawingml/2006/main">
              <a:ext uri="{FF2B5EF4-FFF2-40B4-BE49-F238E27FC236}">
                <a16:creationId xmlns:a16="http://schemas.microsoft.com/office/drawing/2014/main" id="{27FF2603-70F2-4DA5-BA56-5F826288A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952750"/>
            <a:ext cx="2952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263.789</a:t>
            </a:r>
          </a:p>
        </p:txBody>
      </p:sp>
      <p:sp>
        <p:nvSpPr>
          <p:cNvPr id="16" name="spatial-blocks-1">
            <a:extLst xmlns:a="http://schemas.openxmlformats.org/drawingml/2006/main">
              <a:ext uri="{FF2B5EF4-FFF2-40B4-BE49-F238E27FC236}">
                <a16:creationId xmlns:a16="http://schemas.microsoft.com/office/drawing/2014/main" id="{3805DBC7-B593-4193-BA37-8CADC52A5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76650"/>
            <a:ext cx="295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99 Raumblöcke</a:t>
            </a:r>
          </a:p>
        </p:txBody>
      </p:sp>
      <p:sp>
        <p:nvSpPr>
          <p:cNvPr id="17" name="spatial-body-1">
            <a:extLst xmlns:a="http://schemas.openxmlformats.org/drawingml/2006/main">
              <a:ext uri="{FF2B5EF4-FFF2-40B4-BE49-F238E27FC236}">
                <a16:creationId xmlns:a16="http://schemas.microsoft.com/office/drawing/2014/main" id="{D7DDC511-9324-46E1-AFF4-31858528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267200"/>
            <a:ext cx="295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ausschließlich für Prognoseintervalle</a:t>
            </a:r>
          </a:p>
        </p:txBody>
      </p:sp>
      <p:sp>
        <p:nvSpPr>
          <p:cNvPr id="18" name="spatial-panel-2">
            <a:extLst xmlns:a="http://schemas.openxmlformats.org/drawingml/2006/main">
              <a:ext uri="{FF2B5EF4-FFF2-40B4-BE49-F238E27FC236}">
                <a16:creationId xmlns:a16="http://schemas.microsoft.com/office/drawing/2014/main" id="{F15C104B-962B-4FD9-9763-C954EE057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52650"/>
            <a:ext cx="34480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sp>
        <p:nvSpPr>
          <p:cNvPr id="19" name="spatial-bar-2">
            <a:extLst xmlns:a="http://schemas.openxmlformats.org/drawingml/2006/main">
              <a:ext uri="{FF2B5EF4-FFF2-40B4-BE49-F238E27FC236}">
                <a16:creationId xmlns:a16="http://schemas.microsoft.com/office/drawing/2014/main" id="{0D8577BD-B191-41AD-B7CA-5CDDD19DB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52650"/>
            <a:ext cx="34480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</p:sp>
      <p:sp>
        <p:nvSpPr>
          <p:cNvPr id="20" name="spatial-title-2">
            <a:extLst xmlns:a="http://schemas.openxmlformats.org/drawingml/2006/main">
              <a:ext uri="{FF2B5EF4-FFF2-40B4-BE49-F238E27FC236}">
                <a16:creationId xmlns:a16="http://schemas.microsoft.com/office/drawing/2014/main" id="{6A92D06E-9715-4BAF-B1FD-9F9F3CEF2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3840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E85D3F"/>
                </a:solidFill>
                <a:latin typeface="Arial"/>
                <a:ea typeface="Arial"/>
                <a:cs typeface="Arial"/>
              </a:defRPr>
            </a:pPr>
            <a:r>
              <a:t>Finaler Test</a:t>
            </a:r>
          </a:p>
        </p:txBody>
      </p:sp>
      <p:sp>
        <p:nvSpPr>
          <p:cNvPr id="21" name="spatial-rows-2">
            <a:extLst xmlns:a="http://schemas.openxmlformats.org/drawingml/2006/main">
              <a:ext uri="{FF2B5EF4-FFF2-40B4-BE49-F238E27FC236}">
                <a16:creationId xmlns:a16="http://schemas.microsoft.com/office/drawing/2014/main" id="{7F67D915-E199-4785-83D4-5E3558040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52750"/>
            <a:ext cx="2952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276.458</a:t>
            </a:r>
          </a:p>
        </p:txBody>
      </p:sp>
      <p:sp>
        <p:nvSpPr>
          <p:cNvPr id="22" name="spatial-blocks-2">
            <a:extLst xmlns:a="http://schemas.openxmlformats.org/drawingml/2006/main">
              <a:ext uri="{FF2B5EF4-FFF2-40B4-BE49-F238E27FC236}">
                <a16:creationId xmlns:a16="http://schemas.microsoft.com/office/drawing/2014/main" id="{4200C609-8B87-4C58-B103-CC4A23A60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676650"/>
            <a:ext cx="295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99 Raumblöcke</a:t>
            </a:r>
          </a:p>
        </p:txBody>
      </p:sp>
      <p:sp>
        <p:nvSpPr>
          <p:cNvPr id="23" name="spatial-body-2">
            <a:extLst xmlns:a="http://schemas.openxmlformats.org/drawingml/2006/main">
              <a:ext uri="{FF2B5EF4-FFF2-40B4-BE49-F238E27FC236}">
                <a16:creationId xmlns:a16="http://schemas.microsoft.com/office/drawing/2014/main" id="{05767D46-28B8-44C5-9C56-B9996CC35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267200"/>
            <a:ext cx="295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einmalige Güte- und Subgruppenmessung</a:t>
            </a:r>
          </a:p>
        </p:txBody>
      </p:sp>
      <p:sp>
        <p:nvSpPr>
          <p:cNvPr id="24" name="zero-overlap">
            <a:extLst xmlns:a="http://schemas.openxmlformats.org/drawingml/2006/main">
              <a:ext uri="{FF2B5EF4-FFF2-40B4-BE49-F238E27FC236}">
                <a16:creationId xmlns:a16="http://schemas.microsoft.com/office/drawing/2014/main" id="{27168938-AD1D-444B-812F-CAB25DBCE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619750"/>
            <a:ext cx="6057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3EC"/>
          </a:solidFill>
          <a:ln xmlns:a="http://schemas.openxmlformats.org/drawingml/2006/main" w="0">
            <a:solidFill>
              <a:srgbClr val="DFF3EC"/>
            </a:solidFill>
            <a:prstDash val="solid"/>
          </a:ln>
        </p:spPr>
      </p:sp>
      <p:sp>
        <p:nvSpPr>
          <p:cNvPr id="25" name="zero-overlap-text">
            <a:extLst xmlns:a="http://schemas.openxmlformats.org/drawingml/2006/main">
              <a:ext uri="{FF2B5EF4-FFF2-40B4-BE49-F238E27FC236}">
                <a16:creationId xmlns:a16="http://schemas.microsoft.com/office/drawing/2014/main" id="{4D018353-2DA6-4EF6-98D4-DBECF275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753100"/>
            <a:ext cx="5638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0 gemeinsame 25-km-Blöcke zwischen den drei Teilmengen</a:t>
            </a:r>
          </a:p>
        </p:txBody>
      </p:sp>
    </p:spTree>
    <p:extLst>
      <p:ext uri="{BB962C8B-B14F-4D97-AF65-F5344CB8AC3E}">
        <p14:creationId xmlns:p14="http://schemas.microsoft.com/office/powerpoint/2010/main" val="17211807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-7">
            <a:extLst xmlns:a="http://schemas.openxmlformats.org/drawingml/2006/main">
              <a:ext uri="{FF2B5EF4-FFF2-40B4-BE49-F238E27FC236}">
                <a16:creationId xmlns:a16="http://schemas.microsoft.com/office/drawing/2014/main" id="{E990B8BA-D406-4187-B7A8-9F59A684C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HGB gewinnt – Random Forest bleibt dicht dahinter</a:t>
            </a:r>
          </a:p>
        </p:txBody>
      </p:sp>
      <p:sp>
        <p:nvSpPr>
          <p:cNvPr id="2" name="source-7">
            <a:extLst xmlns:a="http://schemas.openxmlformats.org/drawingml/2006/main">
              <a:ext uri="{FF2B5EF4-FFF2-40B4-BE49-F238E27FC236}">
                <a16:creationId xmlns:a16="http://schemas.microsoft.com/office/drawing/2014/main" id="{300D2DA8-E580-43A8-AFF9-659A2E23E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Eigene Berechnung: 600.000 Entwicklungszeilen, identische 3-Fold-Spatial-CV; reports/algorithm_benchmark.json.</a:t>
            </a:r>
          </a:p>
        </p:txBody>
      </p:sp>
      <p:sp>
        <p:nvSpPr>
          <p:cNvPr id="3" name="page-7">
            <a:extLst xmlns:a="http://schemas.openxmlformats.org/drawingml/2006/main">
              <a:ext uri="{FF2B5EF4-FFF2-40B4-BE49-F238E27FC236}">
                <a16:creationId xmlns:a16="http://schemas.microsoft.com/office/drawing/2014/main" id="{2A378912-C2B2-482B-B14C-6366426A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7</a:t>
            </a:r>
          </a:p>
        </p:txBody>
      </p:sp>
      <p:sp>
        <p:nvSpPr>
          <p:cNvPr id="4" name="benchmark-callout-one">
            <a:extLst xmlns:a="http://schemas.openxmlformats.org/drawingml/2006/main">
              <a:ext uri="{FF2B5EF4-FFF2-40B4-BE49-F238E27FC236}">
                <a16:creationId xmlns:a16="http://schemas.microsoft.com/office/drawing/2014/main" id="{E2897885-8EBD-4C01-888B-5ACC03788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771650"/>
            <a:ext cx="40195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3EC"/>
          </a:solidFill>
          <a:ln xmlns:a="http://schemas.openxmlformats.org/drawingml/2006/main" w="0">
            <a:solidFill>
              <a:srgbClr val="DFF3EC"/>
            </a:solidFill>
            <a:prstDash val="solid"/>
          </a:ln>
        </p:spPr>
      </p:sp>
      <p:sp>
        <p:nvSpPr>
          <p:cNvPr id="5" name="benchmark-callout-one-title">
            <a:extLst xmlns:a="http://schemas.openxmlformats.org/drawingml/2006/main">
              <a:ext uri="{FF2B5EF4-FFF2-40B4-BE49-F238E27FC236}">
                <a16:creationId xmlns:a16="http://schemas.microsoft.com/office/drawing/2014/main" id="{DFDC6295-5015-4E56-BA04-FDDAA14F2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000250"/>
            <a:ext cx="3429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1,305 €/m²</a:t>
            </a:r>
          </a:p>
        </p:txBody>
      </p:sp>
      <p:sp>
        <p:nvSpPr>
          <p:cNvPr id="6" name="benchmark-callout-one-body">
            <a:extLst xmlns:a="http://schemas.openxmlformats.org/drawingml/2006/main">
              <a:ext uri="{FF2B5EF4-FFF2-40B4-BE49-F238E27FC236}">
                <a16:creationId xmlns:a16="http://schemas.microsoft.com/office/drawing/2014/main" id="{5F0429CE-C9BD-4B8F-94E2-F48A9C3B1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90800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niedrigster mittlerer CV-MAE</a:t>
            </a:r>
          </a:p>
        </p:txBody>
      </p:sp>
      <p:sp>
        <p:nvSpPr>
          <p:cNvPr id="7" name="benchmark-callout-two">
            <a:extLst xmlns:a="http://schemas.openxmlformats.org/drawingml/2006/main">
              <a:ext uri="{FF2B5EF4-FFF2-40B4-BE49-F238E27FC236}">
                <a16:creationId xmlns:a16="http://schemas.microsoft.com/office/drawing/2014/main" id="{9F0F4947-4F5E-46D6-9F4A-4D280836A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257550"/>
            <a:ext cx="40195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EF"/>
          </a:solidFill>
          <a:ln xmlns:a="http://schemas.openxmlformats.org/drawingml/2006/main" w="0">
            <a:solidFill>
              <a:srgbClr val="EEF1EF"/>
            </a:solidFill>
            <a:prstDash val="solid"/>
          </a:ln>
        </p:spPr>
      </p:sp>
      <p:sp>
        <p:nvSpPr>
          <p:cNvPr id="8" name="benchmark-callout-two-title">
            <a:extLst xmlns:a="http://schemas.openxmlformats.org/drawingml/2006/main">
              <a:ext uri="{FF2B5EF4-FFF2-40B4-BE49-F238E27FC236}">
                <a16:creationId xmlns:a16="http://schemas.microsoft.com/office/drawing/2014/main" id="{E388F04C-C860-4FAF-A470-DFC343372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86150"/>
            <a:ext cx="3429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nur 0,016</a:t>
            </a:r>
          </a:p>
        </p:txBody>
      </p:sp>
      <p:sp>
        <p:nvSpPr>
          <p:cNvPr id="9" name="benchmark-callout-two-body">
            <a:extLst xmlns:a="http://schemas.openxmlformats.org/drawingml/2006/main">
              <a:ext uri="{FF2B5EF4-FFF2-40B4-BE49-F238E27FC236}">
                <a16:creationId xmlns:a16="http://schemas.microsoft.com/office/drawing/2014/main" id="{FC3A05ED-92ED-4645-891C-74F73AFC8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076700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Vorsprung vor Random Forest</a:t>
            </a:r>
          </a:p>
        </p:txBody>
      </p:sp>
      <p:sp>
        <p:nvSpPr>
          <p:cNvPr id="10" name="benchmark-interpretation">
            <a:extLst xmlns:a="http://schemas.openxmlformats.org/drawingml/2006/main">
              <a:ext uri="{FF2B5EF4-FFF2-40B4-BE49-F238E27FC236}">
                <a16:creationId xmlns:a16="http://schemas.microsoft.com/office/drawing/2014/main" id="{B8BDAEB3-47EF-4F6B-A558-306BD39B2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933950"/>
            <a:ext cx="401955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Entscheidung: HGB bietet beste Güte, kleine Artefaktgröße und schnelle Inferenz. RF bleibt dokumentierter Challenger.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457200" y="1524000"/>
          <a:ext xmlns:a="http://schemas.openxmlformats.org/drawingml/2006/main" cx="6572250" cy="4572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db4e6f74d2d496c"/>
          </a:graphicData>
        </a:graphic>
      </p:graphicFrame>
    </p:spTree>
    <p:extLst>
      <p:ext uri="{BB962C8B-B14F-4D97-AF65-F5344CB8AC3E}">
        <p14:creationId xmlns:p14="http://schemas.microsoft.com/office/powerpoint/2010/main" val="33494040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itle-8">
            <a:extLst xmlns:a="http://schemas.openxmlformats.org/drawingml/2006/main">
              <a:ext uri="{FF2B5EF4-FFF2-40B4-BE49-F238E27FC236}">
                <a16:creationId xmlns:a16="http://schemas.microsoft.com/office/drawing/2014/main" id="{5A1BC00A-3C91-4993-B839-44E203B62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Finaler Test: 38,3 % weniger Fehler</a:t>
            </a:r>
          </a:p>
        </p:txBody>
      </p:sp>
      <p:sp>
        <p:nvSpPr>
          <p:cNvPr id="2" name="source-8">
            <a:extLst xmlns:a="http://schemas.openxmlformats.org/drawingml/2006/main">
              <a:ext uri="{FF2B5EF4-FFF2-40B4-BE49-F238E27FC236}">
                <a16:creationId xmlns:a16="http://schemas.microsoft.com/office/drawing/2014/main" id="{99D9CD9B-4925-4BF1-BC72-C1EE510D0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Eigene Berechnung auf 276.458 Zeilen aus 99 gesperrten Raumblöcken; reports/final_model_evaluation.json.</a:t>
            </a:r>
          </a:p>
        </p:txBody>
      </p:sp>
      <p:sp>
        <p:nvSpPr>
          <p:cNvPr id="3" name="page-8">
            <a:extLst xmlns:a="http://schemas.openxmlformats.org/drawingml/2006/main">
              <a:ext uri="{FF2B5EF4-FFF2-40B4-BE49-F238E27FC236}">
                <a16:creationId xmlns:a16="http://schemas.microsoft.com/office/drawing/2014/main" id="{CD3BDDA6-FE34-4473-826F-702762C7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8</a:t>
            </a:r>
          </a:p>
        </p:txBody>
      </p:sp>
      <p:sp>
        <p:nvSpPr>
          <p:cNvPr id="4" name="final-lead">
            <a:extLst xmlns:a="http://schemas.openxmlformats.org/drawingml/2006/main">
              <a:ext uri="{FF2B5EF4-FFF2-40B4-BE49-F238E27FC236}">
                <a16:creationId xmlns:a16="http://schemas.microsoft.com/office/drawing/2014/main" id="{9DBDE320-C1A1-4B6E-AB98-475092237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11049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Das nominale 90-%-Intervall erreicht räumlich 86,8 % – und genau das zeigt die App.</a:t>
            </a:r>
          </a:p>
        </p:txBody>
      </p:sp>
      <p:sp>
        <p:nvSpPr>
          <p:cNvPr id="5" name="final-chart-title">
            <a:extLst xmlns:a="http://schemas.openxmlformats.org/drawingml/2006/main">
              <a:ext uri="{FF2B5EF4-FFF2-40B4-BE49-F238E27FC236}">
                <a16:creationId xmlns:a16="http://schemas.microsoft.com/office/drawing/2014/main" id="{660F3D57-D395-4713-9D30-5283801E4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71650"/>
            <a:ext cx="5810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MAE auf dem finalen Test</a:t>
            </a:r>
          </a:p>
        </p:txBody>
      </p:sp>
      <p:sp>
        <p:nvSpPr>
          <p:cNvPr id="6" name="final-metric-one">
            <a:extLst xmlns:a="http://schemas.openxmlformats.org/drawingml/2006/main">
              <a:ext uri="{FF2B5EF4-FFF2-40B4-BE49-F238E27FC236}">
                <a16:creationId xmlns:a16="http://schemas.microsoft.com/office/drawing/2014/main" id="{0B1823AF-C7D8-45C8-9136-34A7ADEC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76400"/>
            <a:ext cx="43624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3EC"/>
          </a:solidFill>
          <a:ln xmlns:a="http://schemas.openxmlformats.org/drawingml/2006/main" w="0">
            <a:solidFill>
              <a:srgbClr val="DFF3EC"/>
            </a:solidFill>
            <a:prstDash val="solid"/>
          </a:ln>
        </p:spPr>
      </p:sp>
      <p:sp>
        <p:nvSpPr>
          <p:cNvPr id="7" name="final-metric-one-stat">
            <a:extLst xmlns:a="http://schemas.openxmlformats.org/drawingml/2006/main">
              <a:ext uri="{FF2B5EF4-FFF2-40B4-BE49-F238E27FC236}">
                <a16:creationId xmlns:a16="http://schemas.microsoft.com/office/drawing/2014/main" id="{02C2B236-09BA-47C5-B704-8445D32A1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924050"/>
            <a:ext cx="37147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38,3 %</a:t>
            </a:r>
          </a:p>
        </p:txBody>
      </p:sp>
      <p:sp>
        <p:nvSpPr>
          <p:cNvPr id="8" name="final-metric-one-body">
            <a:extLst xmlns:a="http://schemas.openxmlformats.org/drawingml/2006/main">
              <a:ext uri="{FF2B5EF4-FFF2-40B4-BE49-F238E27FC236}">
                <a16:creationId xmlns:a16="http://schemas.microsoft.com/office/drawing/2014/main" id="{CF6395FF-9F43-4CF6-8862-0719A650B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24150"/>
            <a:ext cx="3714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weniger MAE als die Kategorie-Baseline</a:t>
            </a:r>
          </a:p>
        </p:txBody>
      </p:sp>
      <p:sp>
        <p:nvSpPr>
          <p:cNvPr id="9" name="final-metric-two">
            <a:extLst xmlns:a="http://schemas.openxmlformats.org/drawingml/2006/main">
              <a:ext uri="{FF2B5EF4-FFF2-40B4-BE49-F238E27FC236}">
                <a16:creationId xmlns:a16="http://schemas.microsoft.com/office/drawing/2014/main" id="{83E8F88A-46E2-411C-84C7-504EF2273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562350"/>
            <a:ext cx="43624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CFF"/>
          </a:solidFill>
          <a:ln xmlns:a="http://schemas.openxmlformats.org/drawingml/2006/main" w="0">
            <a:solidFill>
              <a:srgbClr val="E7ECFF"/>
            </a:solidFill>
            <a:prstDash val="solid"/>
          </a:ln>
        </p:spPr>
      </p:sp>
      <p:sp>
        <p:nvSpPr>
          <p:cNvPr id="10" name="final-metric-two-stat">
            <a:extLst xmlns:a="http://schemas.openxmlformats.org/drawingml/2006/main">
              <a:ext uri="{FF2B5EF4-FFF2-40B4-BE49-F238E27FC236}">
                <a16:creationId xmlns:a16="http://schemas.microsoft.com/office/drawing/2014/main" id="{06126204-2B1A-497B-B29F-5B395624F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810000"/>
            <a:ext cx="37147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2D5BFF"/>
                </a:solidFill>
                <a:latin typeface="Arial"/>
                <a:ea typeface="Arial"/>
                <a:cs typeface="Arial"/>
              </a:defRPr>
            </a:pPr>
            <a:r>
              <a:t>86,8 %</a:t>
            </a:r>
          </a:p>
        </p:txBody>
      </p:sp>
      <p:sp>
        <p:nvSpPr>
          <p:cNvPr id="11" name="final-metric-two-body">
            <a:extLst xmlns:a="http://schemas.openxmlformats.org/drawingml/2006/main">
              <a:ext uri="{FF2B5EF4-FFF2-40B4-BE49-F238E27FC236}">
                <a16:creationId xmlns:a16="http://schemas.microsoft.com/office/drawing/2014/main" id="{D9E72225-8EE5-4976-BBBB-C6C6BFAF7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10100"/>
            <a:ext cx="3714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2D5BFF"/>
                </a:solidFill>
                <a:latin typeface="Arial"/>
                <a:ea typeface="Arial"/>
                <a:cs typeface="Arial"/>
              </a:defRPr>
            </a:pPr>
            <a:r>
              <a:t>empirische Coverage des nominalen 90-%-Bands</a:t>
            </a:r>
          </a:p>
        </p:txBody>
      </p:sp>
      <p:sp>
        <p:nvSpPr>
          <p:cNvPr id="12" name="final-warning">
            <a:extLst xmlns:a="http://schemas.openxmlformats.org/drawingml/2006/main">
              <a:ext uri="{FF2B5EF4-FFF2-40B4-BE49-F238E27FC236}">
                <a16:creationId xmlns:a16="http://schemas.microsoft.com/office/drawing/2014/main" id="{58EAE273-2BFF-423A-9F74-D1E0F705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486400"/>
            <a:ext cx="43624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t>Keine 90-%-Garantie: räumlicher Verteilungswechsel verletzt perfekte Austauschbarkeit.</a:t>
            </a:r>
          </a:p>
        </p:txBody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457200" y="2171700"/>
          <a:ext xmlns:a="http://schemas.openxmlformats.org/drawingml/2006/main" cx="581025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1ae6056a4d64e54"/>
          </a:graphicData>
        </a:graphic>
      </p:graphicFrame>
    </p:spTree>
    <p:extLst>
      <p:ext uri="{BB962C8B-B14F-4D97-AF65-F5344CB8AC3E}">
        <p14:creationId xmlns:p14="http://schemas.microsoft.com/office/powerpoint/2010/main" val="209340520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-9">
            <a:extLst xmlns:a="http://schemas.openxmlformats.org/drawingml/2006/main">
              <a:ext uri="{FF2B5EF4-FFF2-40B4-BE49-F238E27FC236}">
                <a16:creationId xmlns:a16="http://schemas.microsoft.com/office/drawing/2014/main" id="{9FBCE0A1-F775-4AEC-AA89-9F337085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Berlin zeigt die Lücke zwischen Bestand und Angebot</a:t>
            </a:r>
          </a:p>
        </p:txBody>
      </p:sp>
      <p:sp>
        <p:nvSpPr>
          <p:cNvPr id="2" name="source-9">
            <a:extLst xmlns:a="http://schemas.openxmlformats.org/drawingml/2006/main">
              <a:ext uri="{FF2B5EF4-FFF2-40B4-BE49-F238E27FC236}">
                <a16:creationId xmlns:a16="http://schemas.microsoft.com/office/drawing/2014/main" id="{AA7F9863-0584-4030-8747-656A42E0F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Quelle: GREIX-Mietpreisindex, Kiel Institut / VALUE; Zensus 2022; eigene Verarbeitung. Beispiel: 70 m², bis 1990, &gt;65 m².</a:t>
            </a:r>
          </a:p>
        </p:txBody>
      </p:sp>
      <p:sp>
        <p:nvSpPr>
          <p:cNvPr id="3" name="page-9">
            <a:extLst xmlns:a="http://schemas.openxmlformats.org/drawingml/2006/main">
              <a:ext uri="{FF2B5EF4-FFF2-40B4-BE49-F238E27FC236}">
                <a16:creationId xmlns:a16="http://schemas.microsoft.com/office/drawing/2014/main" id="{19E453A8-EDB0-4E91-A27A-1268EA2EA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9</a:t>
            </a:r>
          </a:p>
        </p:txBody>
      </p:sp>
      <p:sp>
        <p:nvSpPr>
          <p:cNvPr id="4" name="berlin-chart-title">
            <a:extLst xmlns:a="http://schemas.openxmlformats.org/drawingml/2006/main">
              <a:ext uri="{FF2B5EF4-FFF2-40B4-BE49-F238E27FC236}">
                <a16:creationId xmlns:a16="http://schemas.microsoft.com/office/drawing/2014/main" id="{B8DAD2EA-E836-4A48-BE8C-AC6A270C9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09700"/>
            <a:ext cx="6191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GREIX-Angebotsmedian in Berlin</a:t>
            </a:r>
          </a:p>
        </p:txBody>
      </p:sp>
      <p:sp>
        <p:nvSpPr>
          <p:cNvPr id="5" name="berlin-stock">
            <a:extLst xmlns:a="http://schemas.openxmlformats.org/drawingml/2006/main">
              <a:ext uri="{FF2B5EF4-FFF2-40B4-BE49-F238E27FC236}">
                <a16:creationId xmlns:a16="http://schemas.microsoft.com/office/drawing/2014/main" id="{AB082D93-FBF8-4875-A737-65873FD43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809750"/>
            <a:ext cx="41529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3EC"/>
          </a:solidFill>
          <a:ln xmlns:a="http://schemas.openxmlformats.org/drawingml/2006/main" w="0">
            <a:solidFill>
              <a:srgbClr val="DFF3EC"/>
            </a:solidFill>
            <a:prstDash val="solid"/>
          </a:ln>
        </p:spPr>
      </p:sp>
      <p:sp>
        <p:nvSpPr>
          <p:cNvPr id="6" name="berlin-stock-stat">
            <a:extLst xmlns:a="http://schemas.openxmlformats.org/drawingml/2006/main">
              <a:ext uri="{FF2B5EF4-FFF2-40B4-BE49-F238E27FC236}">
                <a16:creationId xmlns:a16="http://schemas.microsoft.com/office/drawing/2014/main" id="{B7C54161-1D3B-436B-BD7E-ED6AE1EE1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981200"/>
            <a:ext cx="35814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7,27 €/m²</a:t>
            </a:r>
          </a:p>
        </p:txBody>
      </p:sp>
      <p:sp>
        <p:nvSpPr>
          <p:cNvPr id="7" name="berlin-stock-body">
            <a:extLst xmlns:a="http://schemas.openxmlformats.org/drawingml/2006/main">
              <a:ext uri="{FF2B5EF4-FFF2-40B4-BE49-F238E27FC236}">
                <a16:creationId xmlns:a16="http://schemas.microsoft.com/office/drawing/2014/main" id="{CD3DA0DE-4AAA-4AEA-BA23-D64028048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52700"/>
            <a:ext cx="35814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ML-Bestandsanker 2022</a:t>
            </a:r>
          </a:p>
        </p:txBody>
      </p:sp>
      <p:sp>
        <p:nvSpPr>
          <p:cNvPr id="8" name="berlin-market">
            <a:extLst xmlns:a="http://schemas.openxmlformats.org/drawingml/2006/main">
              <a:ext uri="{FF2B5EF4-FFF2-40B4-BE49-F238E27FC236}">
                <a16:creationId xmlns:a16="http://schemas.microsoft.com/office/drawing/2014/main" id="{FB35482C-826D-4B93-8B95-C3DB319A9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43250"/>
            <a:ext cx="41529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CFF"/>
          </a:solidFill>
          <a:ln xmlns:a="http://schemas.openxmlformats.org/drawingml/2006/main" w="0">
            <a:solidFill>
              <a:srgbClr val="E7ECFF"/>
            </a:solidFill>
            <a:prstDash val="solid"/>
          </a:ln>
        </p:spPr>
      </p:sp>
      <p:sp>
        <p:nvSpPr>
          <p:cNvPr id="9" name="berlin-market-stat">
            <a:extLst xmlns:a="http://schemas.openxmlformats.org/drawingml/2006/main">
              <a:ext uri="{FF2B5EF4-FFF2-40B4-BE49-F238E27FC236}">
                <a16:creationId xmlns:a16="http://schemas.microsoft.com/office/drawing/2014/main" id="{B350EF5B-6D57-481D-883D-3EB424134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314700"/>
            <a:ext cx="35814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2D5BFF"/>
                </a:solidFill>
                <a:latin typeface="Arial"/>
                <a:ea typeface="Arial"/>
                <a:cs typeface="Arial"/>
              </a:defRPr>
            </a:pPr>
            <a:r>
              <a:t>15,50 €/m²</a:t>
            </a:r>
          </a:p>
        </p:txBody>
      </p:sp>
      <p:sp>
        <p:nvSpPr>
          <p:cNvPr id="10" name="berlin-market-body">
            <a:extLst xmlns:a="http://schemas.openxmlformats.org/drawingml/2006/main">
              <a:ext uri="{FF2B5EF4-FFF2-40B4-BE49-F238E27FC236}">
                <a16:creationId xmlns:a16="http://schemas.microsoft.com/office/drawing/2014/main" id="{F16D010A-33FB-4666-B3FB-C5324A8C0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886200"/>
            <a:ext cx="35814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2D5BFF"/>
                </a:solidFill>
                <a:latin typeface="Arial"/>
                <a:ea typeface="Arial"/>
                <a:cs typeface="Arial"/>
              </a:defRPr>
            </a:pPr>
            <a:r>
              <a:t>GREIX-Angebotsmedian 2026-Q1</a:t>
            </a:r>
          </a:p>
        </p:txBody>
      </p:sp>
      <p:sp>
        <p:nvSpPr>
          <p:cNvPr id="11" name="berlin-premium">
            <a:extLst xmlns:a="http://schemas.openxmlformats.org/drawingml/2006/main">
              <a:ext uri="{FF2B5EF4-FFF2-40B4-BE49-F238E27FC236}">
                <a16:creationId xmlns:a16="http://schemas.microsoft.com/office/drawing/2014/main" id="{8AFF188C-67AC-4A78-86BB-6E60B51D5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476750"/>
            <a:ext cx="41529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EF"/>
          </a:solidFill>
          <a:ln xmlns:a="http://schemas.openxmlformats.org/drawingml/2006/main" w="0">
            <a:solidFill>
              <a:srgbClr val="EEF1EF"/>
            </a:solidFill>
            <a:prstDash val="solid"/>
          </a:ln>
        </p:spPr>
      </p:sp>
      <p:sp>
        <p:nvSpPr>
          <p:cNvPr id="12" name="berlin-premium-stat">
            <a:extLst xmlns:a="http://schemas.openxmlformats.org/drawingml/2006/main">
              <a:ext uri="{FF2B5EF4-FFF2-40B4-BE49-F238E27FC236}">
                <a16:creationId xmlns:a16="http://schemas.microsoft.com/office/drawing/2014/main" id="{BA8E2AEE-7E69-4B52-8109-840A8DC68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629150"/>
            <a:ext cx="35814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E85D3F"/>
                </a:solidFill>
                <a:latin typeface="Arial"/>
                <a:ea typeface="Arial"/>
                <a:cs typeface="Arial"/>
              </a:defRPr>
            </a:pPr>
            <a:r>
              <a:t>+113 %</a:t>
            </a:r>
          </a:p>
        </p:txBody>
      </p:sp>
      <p:sp>
        <p:nvSpPr>
          <p:cNvPr id="13" name="berlin-premium-body">
            <a:extLst xmlns:a="http://schemas.openxmlformats.org/drawingml/2006/main">
              <a:ext uri="{FF2B5EF4-FFF2-40B4-BE49-F238E27FC236}">
                <a16:creationId xmlns:a16="http://schemas.microsoft.com/office/drawing/2014/main" id="{B12357BF-06CB-4B24-9434-1FEE70D0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257800"/>
            <a:ext cx="3581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rund 576 € monatlicher Umzugsaufschlag bei 70 m²</a:t>
            </a:r>
          </a:p>
        </p:txBody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457200" y="1924050"/>
          <a:ext xmlns:a="http://schemas.openxmlformats.org/drawingml/2006/main" cx="61912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e541d23dfdf479b"/>
          </a:graphicData>
        </a:graphic>
      </p:graphicFrame>
    </p:spTree>
    <p:extLst>
      <p:ext uri="{BB962C8B-B14F-4D97-AF65-F5344CB8AC3E}">
        <p14:creationId xmlns:p14="http://schemas.microsoft.com/office/powerpoint/2010/main" val="81379116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-10">
            <a:extLst xmlns:a="http://schemas.openxmlformats.org/drawingml/2006/main">
              <a:ext uri="{FF2B5EF4-FFF2-40B4-BE49-F238E27FC236}">
                <a16:creationId xmlns:a16="http://schemas.microsoft.com/office/drawing/2014/main" id="{A82E0B9D-6FC3-46A9-9433-330AC2987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MietCheck macht Methodik nutzbar</a:t>
            </a:r>
          </a:p>
        </p:txBody>
      </p:sp>
      <p:sp>
        <p:nvSpPr>
          <p:cNvPr id="2" name="source-10">
            <a:extLst xmlns:a="http://schemas.openxmlformats.org/drawingml/2006/main">
              <a:ext uri="{FF2B5EF4-FFF2-40B4-BE49-F238E27FC236}">
                <a16:creationId xmlns:a16="http://schemas.microsoft.com/office/drawing/2014/main" id="{2941ADB7-CAE3-4050-B6CF-FF7CBC487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3" name="page-10">
            <a:extLst xmlns:a="http://schemas.openxmlformats.org/drawingml/2006/main">
              <a:ext uri="{FF2B5EF4-FFF2-40B4-BE49-F238E27FC236}">
                <a16:creationId xmlns:a16="http://schemas.microsoft.com/office/drawing/2014/main" id="{471ADCF8-60BD-436F-89F4-A36B18ED5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10</a:t>
            </a:r>
          </a:p>
        </p:txBody>
      </p:sp>
      <p:sp>
        <p:nvSpPr>
          <p:cNvPr id="4" name="screenshot-back">
            <a:extLst xmlns:a="http://schemas.openxmlformats.org/drawingml/2006/main">
              <a:ext uri="{FF2B5EF4-FFF2-40B4-BE49-F238E27FC236}">
                <a16:creationId xmlns:a16="http://schemas.microsoft.com/office/drawing/2014/main" id="{695226D4-076D-44D5-BAF5-64F4B814A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1049000" cy="434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EF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sp>
        <p:nvSpPr>
          <p:cNvPr id="5" name="product-one">
            <a:extLst xmlns:a="http://schemas.openxmlformats.org/drawingml/2006/main">
              <a:ext uri="{FF2B5EF4-FFF2-40B4-BE49-F238E27FC236}">
                <a16:creationId xmlns:a16="http://schemas.microsoft.com/office/drawing/2014/main" id="{0190F02F-E9AB-43DD-90A1-839E85AA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1 · Region &amp; Szenario</a:t>
            </a:r>
          </a:p>
        </p:txBody>
      </p:sp>
      <p:sp>
        <p:nvSpPr>
          <p:cNvPr id="6" name="product-two">
            <a:extLst xmlns:a="http://schemas.openxmlformats.org/drawingml/2006/main">
              <a:ext uri="{FF2B5EF4-FFF2-40B4-BE49-F238E27FC236}">
                <a16:creationId xmlns:a16="http://schemas.microsoft.com/office/drawing/2014/main" id="{5B70C3CB-487B-48B1-BF9B-E276143CA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D5BFF"/>
                </a:solidFill>
                <a:latin typeface="Arial"/>
                <a:ea typeface="Arial"/>
                <a:cs typeface="Arial"/>
              </a:defRPr>
            </a:pPr>
            <a:r>
              <a:t>2 · drei getrennte Werte</a:t>
            </a:r>
          </a:p>
        </p:txBody>
      </p:sp>
      <p:sp>
        <p:nvSpPr>
          <p:cNvPr id="7" name="product-three">
            <a:extLst xmlns:a="http://schemas.openxmlformats.org/drawingml/2006/main">
              <a:ext uri="{FF2B5EF4-FFF2-40B4-BE49-F238E27FC236}">
                <a16:creationId xmlns:a16="http://schemas.microsoft.com/office/drawing/2014/main" id="{443561DE-82E1-4CC4-8FED-BF757928B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85D3F"/>
                </a:solidFill>
                <a:latin typeface="Arial"/>
                <a:ea typeface="Arial"/>
                <a:cs typeface="Arial"/>
              </a:defRPr>
            </a:pPr>
            <a:r>
              <a:t>3 · Unsicherheit &amp; Grenzen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efb069443a4cf6"/>
          <a:srcRect xmlns:a="http://schemas.openxmlformats.org/drawingml/2006/main" l="0" t="24967" r="0" b="249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1485900"/>
            <a:ext cx="10858500" cy="4152900"/>
          </a:xfrm>
          <a:prstGeom xmlns:a="http://schemas.openxmlformats.org/drawingml/2006/main" prst="rect">
            <a:avLst/>
          </a:prstGeom>
        </p:spPr>
      </p:pic>
      <p:sp>
        <p:nvSpPr>
          <p:cNvPr id="9" name="product-mask">
            <a:extLst xmlns:a="http://schemas.openxmlformats.org/drawingml/2006/main">
              <a:ext uri="{FF2B5EF4-FFF2-40B4-BE49-F238E27FC236}">
                <a16:creationId xmlns:a16="http://schemas.microsoft.com/office/drawing/2014/main" id="{AF7F66EE-75AA-44DF-9131-63471C022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485900"/>
            <a:ext cx="7991475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238"/>
          </a:solidFill>
          <a:ln xmlns:a="http://schemas.openxmlformats.org/drawingml/2006/main" w="0">
            <a:solidFill>
              <a:srgbClr val="132238"/>
            </a:solidFill>
            <a:prstDash val="solid"/>
          </a:ln>
        </p:spPr>
      </p:sp>
      <p:sp>
        <p:nvSpPr>
          <p:cNvPr id="10" name="product-mask-copy">
            <a:extLst xmlns:a="http://schemas.openxmlformats.org/drawingml/2006/main">
              <a:ext uri="{FF2B5EF4-FFF2-40B4-BE49-F238E27FC236}">
                <a16:creationId xmlns:a16="http://schemas.microsoft.com/office/drawing/2014/main" id="{93513561-D5A8-4F72-BC60-7A1F23FD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695450"/>
            <a:ext cx="7334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Drei Mietrealitäten · direkt am Ergebnis</a:t>
            </a:r>
          </a:p>
        </p:txBody>
      </p:sp>
      <p:sp>
        <p:nvSpPr>
          <p:cNvPr id="11" name="product-mask-subcopy">
            <a:extLst xmlns:a="http://schemas.openxmlformats.org/drawingml/2006/main">
              <a:ext uri="{FF2B5EF4-FFF2-40B4-BE49-F238E27FC236}">
                <a16:creationId xmlns:a16="http://schemas.microsoft.com/office/drawing/2014/main" id="{F325C2DD-EFA2-43ED-B582-34DEF617C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238375"/>
            <a:ext cx="7334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CFE8DF"/>
                </a:solidFill>
                <a:latin typeface="Arial"/>
                <a:ea typeface="Arial"/>
                <a:cs typeface="Arial"/>
              </a:defRPr>
            </a:pPr>
            <a:r>
              <a:t>Bestand, Angebot und persönliche Belastung bleiben methodisch getrennt.</a:t>
            </a:r>
          </a:p>
        </p:txBody>
      </p:sp>
    </p:spTree>
    <p:extLst>
      <p:ext uri="{BB962C8B-B14F-4D97-AF65-F5344CB8AC3E}">
        <p14:creationId xmlns:p14="http://schemas.microsoft.com/office/powerpoint/2010/main" val="155476457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itle-11">
            <a:extLst xmlns:a="http://schemas.openxmlformats.org/drawingml/2006/main">
              <a:ext uri="{FF2B5EF4-FFF2-40B4-BE49-F238E27FC236}">
                <a16:creationId xmlns:a16="http://schemas.microsoft.com/office/drawing/2014/main" id="{F3B6E8D7-9739-4977-AD19-5AC32E78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Ein gutes Modell kennt seine Einsatzgrenze</a:t>
            </a:r>
          </a:p>
        </p:txBody>
      </p:sp>
      <p:sp>
        <p:nvSpPr>
          <p:cNvPr id="2" name="source-11">
            <a:extLst xmlns:a="http://schemas.openxmlformats.org/drawingml/2006/main">
              <a:ext uri="{FF2B5EF4-FFF2-40B4-BE49-F238E27FC236}">
                <a16:creationId xmlns:a16="http://schemas.microsoft.com/office/drawing/2014/main" id="{3043B9B6-E81A-4E43-BFCC-B4EAE7ABB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3" name="page-11">
            <a:extLst xmlns:a="http://schemas.openxmlformats.org/drawingml/2006/main">
              <a:ext uri="{FF2B5EF4-FFF2-40B4-BE49-F238E27FC236}">
                <a16:creationId xmlns:a16="http://schemas.microsoft.com/office/drawing/2014/main" id="{E6737DEE-5F9E-4F84-9877-535EEDA58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11</a:t>
            </a:r>
          </a:p>
        </p:txBody>
      </p:sp>
      <p:sp>
        <p:nvSpPr>
          <p:cNvPr id="4" name="limits-lead">
            <a:extLst xmlns:a="http://schemas.openxmlformats.org/drawingml/2006/main">
              <a:ext uri="{FF2B5EF4-FFF2-40B4-BE49-F238E27FC236}">
                <a16:creationId xmlns:a16="http://schemas.microsoft.com/office/drawing/2014/main" id="{BA51CD8B-A43F-414C-AA24-22A35706A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71600"/>
            <a:ext cx="11049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MietCheck unterstützt Exploration und Transparenz – keine rechtliche oder individuelle Preisentscheidung.</a:t>
            </a:r>
          </a:p>
        </p:txBody>
      </p:sp>
      <p:cxnSp>
        <p:nvCxnSpPr>
          <p:cNvPr id="30" name="limits-sep"/>
          <p:cNvCxnSpPr/>
          <p:nvPr/>
        </p:nvCxnSpPr>
        <p:spPr>
          <a:xfrm xmlns:a="http://schemas.openxmlformats.org/drawingml/2006/main">
            <a:off x="6096000" y="2133600"/>
            <a:ext cx="286" cy="3486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9E0E8"/>
            </a:solidFill>
            <a:prstDash val="solid"/>
          </a:ln>
        </p:spPr>
      </p:cxnSp>
      <p:sp>
        <p:nvSpPr>
          <p:cNvPr id="6" name="limits-left-title">
            <a:extLst xmlns:a="http://schemas.openxmlformats.org/drawingml/2006/main">
              <a:ext uri="{FF2B5EF4-FFF2-40B4-BE49-F238E27FC236}">
                <a16:creationId xmlns:a16="http://schemas.microsoft.com/office/drawing/2014/main" id="{4EB8064A-0538-41D2-B2B0-711AF1284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09800"/>
            <a:ext cx="4953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Was fehlt?</a:t>
            </a:r>
          </a:p>
        </p:txBody>
      </p:sp>
      <p:sp>
        <p:nvSpPr>
          <p:cNvPr id="7" name="limits-right-title">
            <a:extLst xmlns:a="http://schemas.openxmlformats.org/drawingml/2006/main">
              <a:ext uri="{FF2B5EF4-FFF2-40B4-BE49-F238E27FC236}">
                <a16:creationId xmlns:a16="http://schemas.microsoft.com/office/drawing/2014/main" id="{8C3523F2-D224-4861-8E9A-D94140443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48387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Wie wird das abgefedert?</a:t>
            </a:r>
          </a:p>
        </p:txBody>
      </p:sp>
      <p:sp>
        <p:nvSpPr>
          <p:cNvPr id="8" name="limit-dot-0">
            <a:extLst xmlns:a="http://schemas.openxmlformats.org/drawingml/2006/main">
              <a:ext uri="{FF2B5EF4-FFF2-40B4-BE49-F238E27FC236}">
                <a16:creationId xmlns:a16="http://schemas.microsoft.com/office/drawing/2014/main" id="{8E41C597-41AA-4F1E-BA93-B39EF4B9C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337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</p:sp>
      <p:sp>
        <p:nvSpPr>
          <p:cNvPr id="9" name="limit-copy-0">
            <a:extLst xmlns:a="http://schemas.openxmlformats.org/drawingml/2006/main">
              <a:ext uri="{FF2B5EF4-FFF2-40B4-BE49-F238E27FC236}">
                <a16:creationId xmlns:a16="http://schemas.microsoft.com/office/drawing/2014/main" id="{02000E97-5EA6-4596-97D2-92B05592A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4857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Ausstattung, Energiezustand, Etage und Mikrolage</a:t>
            </a:r>
          </a:p>
        </p:txBody>
      </p:sp>
      <p:sp>
        <p:nvSpPr>
          <p:cNvPr id="10" name="mit-dot-0">
            <a:extLst xmlns:a="http://schemas.openxmlformats.org/drawingml/2006/main">
              <a:ext uri="{FF2B5EF4-FFF2-40B4-BE49-F238E27FC236}">
                <a16:creationId xmlns:a16="http://schemas.microsoft.com/office/drawing/2014/main" id="{3687C15A-B31F-4FB2-A8DB-DE4A273A6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337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E4F"/>
          </a:solidFill>
          <a:ln xmlns:a="http://schemas.openxmlformats.org/drawingml/2006/main" w="0">
            <a:solidFill>
              <a:srgbClr val="0B6E4F"/>
            </a:solidFill>
            <a:prstDash val="solid"/>
          </a:ln>
        </p:spPr>
      </p:sp>
      <p:sp>
        <p:nvSpPr>
          <p:cNvPr id="11" name="mit-copy-0">
            <a:extLst xmlns:a="http://schemas.openxmlformats.org/drawingml/2006/main">
              <a:ext uri="{FF2B5EF4-FFF2-40B4-BE49-F238E27FC236}">
                <a16:creationId xmlns:a16="http://schemas.microsoft.com/office/drawing/2014/main" id="{7D6624FC-2873-4AAF-ADF3-1282A9642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857500"/>
            <a:ext cx="4286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keine adressgenaue oder rechtliche Behauptung</a:t>
            </a:r>
          </a:p>
        </p:txBody>
      </p:sp>
      <p:sp>
        <p:nvSpPr>
          <p:cNvPr id="12" name="limit-dot-1">
            <a:extLst xmlns:a="http://schemas.openxmlformats.org/drawingml/2006/main">
              <a:ext uri="{FF2B5EF4-FFF2-40B4-BE49-F238E27FC236}">
                <a16:creationId xmlns:a16="http://schemas.microsoft.com/office/drawing/2014/main" id="{F1B494AD-B630-48F6-8564-49731A870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</p:sp>
      <p:sp>
        <p:nvSpPr>
          <p:cNvPr id="13" name="limit-copy-1">
            <a:extLst xmlns:a="http://schemas.openxmlformats.org/drawingml/2006/main">
              <a:ext uri="{FF2B5EF4-FFF2-40B4-BE49-F238E27FC236}">
                <a16:creationId xmlns:a16="http://schemas.microsoft.com/office/drawing/2014/main" id="{62879143-5950-4263-A6E2-519A1141F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4857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Vertragsbeginn und rechtliche Besonderheiten</a:t>
            </a:r>
          </a:p>
        </p:txBody>
      </p:sp>
      <p:sp>
        <p:nvSpPr>
          <p:cNvPr id="14" name="mit-dot-1">
            <a:extLst xmlns:a="http://schemas.openxmlformats.org/drawingml/2006/main">
              <a:ext uri="{FF2B5EF4-FFF2-40B4-BE49-F238E27FC236}">
                <a16:creationId xmlns:a16="http://schemas.microsoft.com/office/drawing/2014/main" id="{73D154C2-1319-4AD5-87B8-FDD31B55A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195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E4F"/>
          </a:solidFill>
          <a:ln xmlns:a="http://schemas.openxmlformats.org/drawingml/2006/main" w="0">
            <a:solidFill>
              <a:srgbClr val="0B6E4F"/>
            </a:solidFill>
            <a:prstDash val="solid"/>
          </a:ln>
        </p:spPr>
      </p:sp>
      <p:sp>
        <p:nvSpPr>
          <p:cNvPr id="15" name="mit-copy-1">
            <a:extLst xmlns:a="http://schemas.openxmlformats.org/drawingml/2006/main">
              <a:ext uri="{FF2B5EF4-FFF2-40B4-BE49-F238E27FC236}">
                <a16:creationId xmlns:a16="http://schemas.microsoft.com/office/drawing/2014/main" id="{03BD5A2F-3CB4-4FC1-B19E-63216D91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543300"/>
            <a:ext cx="4286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Regionen ohne GREIX werden nicht erfunden</a:t>
            </a:r>
          </a:p>
        </p:txBody>
      </p:sp>
      <p:sp>
        <p:nvSpPr>
          <p:cNvPr id="16" name="limit-dot-2">
            <a:extLst xmlns:a="http://schemas.openxmlformats.org/drawingml/2006/main">
              <a:ext uri="{FF2B5EF4-FFF2-40B4-BE49-F238E27FC236}">
                <a16:creationId xmlns:a16="http://schemas.microsoft.com/office/drawing/2014/main" id="{9C708776-07DD-49AA-AE4C-2E01EB4F3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053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</p:sp>
      <p:sp>
        <p:nvSpPr>
          <p:cNvPr id="17" name="limit-copy-2">
            <a:extLst xmlns:a="http://schemas.openxmlformats.org/drawingml/2006/main">
              <a:ext uri="{FF2B5EF4-FFF2-40B4-BE49-F238E27FC236}">
                <a16:creationId xmlns:a16="http://schemas.microsoft.com/office/drawing/2014/main" id="{DB854338-70CC-4528-B829-E22E6A446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29100"/>
            <a:ext cx="4857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lokale Angebotsdaten außerhalb der 37 GREIX-Märkte</a:t>
            </a:r>
          </a:p>
        </p:txBody>
      </p:sp>
      <p:sp>
        <p:nvSpPr>
          <p:cNvPr id="18" name="mit-dot-2">
            <a:extLst xmlns:a="http://schemas.openxmlformats.org/drawingml/2006/main">
              <a:ext uri="{FF2B5EF4-FFF2-40B4-BE49-F238E27FC236}">
                <a16:creationId xmlns:a16="http://schemas.microsoft.com/office/drawing/2014/main" id="{13C097CF-CB30-44E8-925F-2C8463729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053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E4F"/>
          </a:solidFill>
          <a:ln xmlns:a="http://schemas.openxmlformats.org/drawingml/2006/main" w="0">
            <a:solidFill>
              <a:srgbClr val="0B6E4F"/>
            </a:solidFill>
            <a:prstDash val="solid"/>
          </a:ln>
        </p:spPr>
      </p:sp>
      <p:sp>
        <p:nvSpPr>
          <p:cNvPr id="19" name="mit-copy-2">
            <a:extLst xmlns:a="http://schemas.openxmlformats.org/drawingml/2006/main">
              <a:ext uri="{FF2B5EF4-FFF2-40B4-BE49-F238E27FC236}">
                <a16:creationId xmlns:a16="http://schemas.microsoft.com/office/drawing/2014/main" id="{F94180CC-1BF2-4449-81E4-18C301440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229100"/>
            <a:ext cx="4286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empirische 86,8 % statt nominale 90 % anzeigen</a:t>
            </a:r>
          </a:p>
        </p:txBody>
      </p:sp>
      <p:sp>
        <p:nvSpPr>
          <p:cNvPr id="20" name="limit-dot-3">
            <a:extLst xmlns:a="http://schemas.openxmlformats.org/drawingml/2006/main">
              <a:ext uri="{FF2B5EF4-FFF2-40B4-BE49-F238E27FC236}">
                <a16:creationId xmlns:a16="http://schemas.microsoft.com/office/drawing/2014/main" id="{179EF765-3F3B-4FDB-B316-44C3F3C77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911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</p:sp>
      <p:sp>
        <p:nvSpPr>
          <p:cNvPr id="21" name="limit-copy-3">
            <a:extLst xmlns:a="http://schemas.openxmlformats.org/drawingml/2006/main">
              <a:ext uri="{FF2B5EF4-FFF2-40B4-BE49-F238E27FC236}">
                <a16:creationId xmlns:a16="http://schemas.microsoft.com/office/drawing/2014/main" id="{A1BA1B03-3DC4-47C5-B4C7-F8D307BBE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14900"/>
            <a:ext cx="4857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stabile 90-%-Coverage bei räumlichem Shift</a:t>
            </a:r>
          </a:p>
        </p:txBody>
      </p:sp>
      <p:sp>
        <p:nvSpPr>
          <p:cNvPr id="22" name="mit-dot-3">
            <a:extLst xmlns:a="http://schemas.openxmlformats.org/drawingml/2006/main">
              <a:ext uri="{FF2B5EF4-FFF2-40B4-BE49-F238E27FC236}">
                <a16:creationId xmlns:a16="http://schemas.microsoft.com/office/drawing/2014/main" id="{0D90BAD7-5FB7-43BE-96BC-75C5F70B4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911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E4F"/>
          </a:solidFill>
          <a:ln xmlns:a="http://schemas.openxmlformats.org/drawingml/2006/main" w="0">
            <a:solidFill>
              <a:srgbClr val="0B6E4F"/>
            </a:solidFill>
            <a:prstDash val="solid"/>
          </a:ln>
        </p:spPr>
      </p:sp>
      <p:sp>
        <p:nvSpPr>
          <p:cNvPr id="23" name="mit-copy-3">
            <a:extLst xmlns:a="http://schemas.openxmlformats.org/drawingml/2006/main">
              <a:ext uri="{FF2B5EF4-FFF2-40B4-BE49-F238E27FC236}">
                <a16:creationId xmlns:a16="http://schemas.microsoft.com/office/drawing/2014/main" id="{6C69A5D9-5AA0-4AA2-ADFE-79A5E8BA0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914900"/>
            <a:ext cx="4286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Bias, Datenschutz und Missbrauch im Risk Assessment</a:t>
            </a:r>
          </a:p>
        </p:txBody>
      </p:sp>
      <p:sp>
        <p:nvSpPr>
          <p:cNvPr id="24" name="not-advice">
            <a:extLst xmlns:a="http://schemas.openxmlformats.org/drawingml/2006/main">
              <a:ext uri="{FF2B5EF4-FFF2-40B4-BE49-F238E27FC236}">
                <a16:creationId xmlns:a16="http://schemas.microsoft.com/office/drawing/2014/main" id="{4A5D1CB5-11AC-4F57-BD9D-11A701D7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91200"/>
            <a:ext cx="1104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EF"/>
          </a:solidFill>
          <a:ln xmlns:a="http://schemas.openxmlformats.org/drawingml/2006/main" w="0">
            <a:solidFill>
              <a:srgbClr val="EEF1EF"/>
            </a:solidFill>
            <a:prstDash val="solid"/>
          </a:ln>
        </p:spPr>
      </p:sp>
      <p:sp>
        <p:nvSpPr>
          <p:cNvPr id="25" name="not-advice-text">
            <a:extLst xmlns:a="http://schemas.openxmlformats.org/drawingml/2006/main">
              <a:ext uri="{FF2B5EF4-FFF2-40B4-BE49-F238E27FC236}">
                <a16:creationId xmlns:a16="http://schemas.microsoft.com/office/drawing/2014/main" id="{35EEE9E7-5204-4228-9C05-DF358CBB8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86450"/>
            <a:ext cx="106299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Kein amtlicher Mietspiegel · keine Rechtsberatung · keine Bonitäts- oder Vermieterentscheidung</a:t>
            </a:r>
          </a:p>
        </p:txBody>
      </p:sp>
    </p:spTree>
    <p:extLst>
      <p:ext uri="{BB962C8B-B14F-4D97-AF65-F5344CB8AC3E}">
        <p14:creationId xmlns:p14="http://schemas.microsoft.com/office/powerpoint/2010/main" val="91686648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322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nclusion-kicker">
            <a:extLst xmlns:a="http://schemas.openxmlformats.org/drawingml/2006/main">
              <a:ext uri="{FF2B5EF4-FFF2-40B4-BE49-F238E27FC236}">
                <a16:creationId xmlns:a16="http://schemas.microsoft.com/office/drawing/2014/main" id="{B3FD4219-6ECA-4418-A85A-E17D7721E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7200"/>
            <a:ext cx="1905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1E2B7"/>
                </a:solidFill>
                <a:latin typeface="Arial"/>
                <a:ea typeface="Arial"/>
                <a:cs typeface="Arial"/>
              </a:defRPr>
            </a:pPr>
            <a:r>
              <a:t>FAZIT</a:t>
            </a:r>
          </a:p>
        </p:txBody>
      </p:sp>
      <p:sp>
        <p:nvSpPr>
          <p:cNvPr id="2" name="conclusion-title">
            <a:extLst xmlns:a="http://schemas.openxmlformats.org/drawingml/2006/main">
              <a:ext uri="{FF2B5EF4-FFF2-40B4-BE49-F238E27FC236}">
                <a16:creationId xmlns:a16="http://schemas.microsoft.com/office/drawing/2014/main" id="{F9CF28D6-D87A-4C9F-B5BD-DDA8F4678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43050"/>
            <a:ext cx="10668000" cy="2095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Nicht eine „faire“ Miete.
Drei sauber getrennte Realitäten.</a:t>
            </a:r>
          </a:p>
        </p:txBody>
      </p:sp>
      <p:sp>
        <p:nvSpPr>
          <p:cNvPr id="3" name="conclusion-proof">
            <a:extLst xmlns:a="http://schemas.openxmlformats.org/drawingml/2006/main">
              <a:ext uri="{FF2B5EF4-FFF2-40B4-BE49-F238E27FC236}">
                <a16:creationId xmlns:a16="http://schemas.microsoft.com/office/drawing/2014/main" id="{82832F94-88CF-4501-96D0-EC101EBAC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D7DEE8"/>
                </a:solidFill>
                <a:latin typeface="Arial"/>
                <a:ea typeface="Arial"/>
                <a:cs typeface="Arial"/>
              </a:defRPr>
            </a:pPr>
            <a:r>
              <a:t>2,06 Mio. Modellzeilen · räumlicher Holdout · 38,3 % Baseline-Verbesserung · transparente 86,8 % Coverage</a:t>
            </a:r>
          </a:p>
        </p:txBody>
      </p:sp>
      <p:cxnSp>
        <p:nvCxnSpPr>
          <p:cNvPr id="10" name="conclusion-rule"/>
          <p:cNvCxnSpPr/>
          <p:nvPr/>
        </p:nvCxnSpPr>
        <p:spPr>
          <a:xfrm xmlns:a="http://schemas.openxmlformats.org/drawingml/2006/main">
            <a:off x="533400" y="5295900"/>
            <a:ext cx="1066800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B4B60"/>
            </a:solidFill>
            <a:prstDash val="solid"/>
          </a:ln>
        </p:spPr>
      </p:cxnSp>
      <p:sp>
        <p:nvSpPr>
          <p:cNvPr id="5" name="conclusion-close">
            <a:extLst xmlns:a="http://schemas.openxmlformats.org/drawingml/2006/main">
              <a:ext uri="{FF2B5EF4-FFF2-40B4-BE49-F238E27FC236}">
                <a16:creationId xmlns:a16="http://schemas.microsoft.com/office/drawing/2014/main" id="{B4865161-FB30-4C11-85FA-A764E3ED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62600"/>
            <a:ext cx="9906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71E2B7"/>
                </a:solidFill>
                <a:latin typeface="Arial"/>
                <a:ea typeface="Arial"/>
                <a:cs typeface="Arial"/>
              </a:defRPr>
            </a:pPr>
            <a:r>
              <a:t>Der echte Mehrwert ist nicht die Prognose allein – sondern eine nachvollziehbare Umzugsentscheidung.</a:t>
            </a:r>
          </a:p>
        </p:txBody>
      </p:sp>
      <p:sp>
        <p:nvSpPr>
          <p:cNvPr id="6" name="conclusion-page">
            <a:extLst xmlns:a="http://schemas.openxmlformats.org/drawingml/2006/main">
              <a:ext uri="{FF2B5EF4-FFF2-40B4-BE49-F238E27FC236}">
                <a16:creationId xmlns:a16="http://schemas.microsoft.com/office/drawing/2014/main" id="{35EE5F8C-A8D1-485E-B79A-C2894CA36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AAB5C3"/>
                </a:solidFill>
                <a:latin typeface="Arial"/>
                <a:ea typeface="Arial"/>
                <a:cs typeface="Arial"/>
              </a:defRPr>
            </a:pPr>
            <a: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27929070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itle-13">
            <a:extLst xmlns:a="http://schemas.openxmlformats.org/drawingml/2006/main">
              <a:ext uri="{FF2B5EF4-FFF2-40B4-BE49-F238E27FC236}">
                <a16:creationId xmlns:a16="http://schemas.microsoft.com/office/drawing/2014/main" id="{BEB0394B-702D-45B8-BD53-85E26D420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Quellen und Reproduzierbarkeit</a:t>
            </a:r>
          </a:p>
        </p:txBody>
      </p:sp>
      <p:sp>
        <p:nvSpPr>
          <p:cNvPr id="2" name="source-13">
            <a:extLst xmlns:a="http://schemas.openxmlformats.org/drawingml/2006/main">
              <a:ext uri="{FF2B5EF4-FFF2-40B4-BE49-F238E27FC236}">
                <a16:creationId xmlns:a16="http://schemas.microsoft.com/office/drawing/2014/main" id="{E531939F-152B-4C54-8CCD-D775035C3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3" name="page-13">
            <a:extLst xmlns:a="http://schemas.openxmlformats.org/drawingml/2006/main">
              <a:ext uri="{FF2B5EF4-FFF2-40B4-BE49-F238E27FC236}">
                <a16:creationId xmlns:a16="http://schemas.microsoft.com/office/drawing/2014/main" id="{1BA36FF2-778B-40BE-9CD4-34CCEE442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13</a:t>
            </a:r>
          </a:p>
        </p:txBody>
      </p:sp>
      <p:sp>
        <p:nvSpPr>
          <p:cNvPr id="4" name="sources-one-title">
            <a:extLst xmlns:a="http://schemas.openxmlformats.org/drawingml/2006/main">
              <a:ext uri="{FF2B5EF4-FFF2-40B4-BE49-F238E27FC236}">
                <a16:creationId xmlns:a16="http://schemas.microsoft.com/office/drawing/2014/main" id="{9E5DD94F-3496-40CF-9132-DBFF9A919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Zensus 2022</a:t>
            </a:r>
          </a:p>
        </p:txBody>
      </p:sp>
      <p:sp>
        <p:nvSpPr>
          <p:cNvPr id="5" name="sources-one-body">
            <a:extLst xmlns:a="http://schemas.openxmlformats.org/drawingml/2006/main">
              <a:ext uri="{FF2B5EF4-FFF2-40B4-BE49-F238E27FC236}">
                <a16:creationId xmlns:a16="http://schemas.microsoft.com/office/drawing/2014/main" id="{2742AB32-A755-4259-A019-003B8E9C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00250"/>
            <a:ext cx="4953000" cy="1181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Statistische Ämter des Bundes und der Länder
100-m-Gitterdaten · Datenlizenz Deutschland – Namensnennung 2.0
Stichtag: 15.05.2022 · Veröffentlichung 2025</a:t>
            </a:r>
          </a:p>
        </p:txBody>
      </p:sp>
      <p:sp>
        <p:nvSpPr>
          <p:cNvPr id="6" name="sources-two-title">
            <a:extLst xmlns:a="http://schemas.openxmlformats.org/drawingml/2006/main">
              <a:ext uri="{FF2B5EF4-FFF2-40B4-BE49-F238E27FC236}">
                <a16:creationId xmlns:a16="http://schemas.microsoft.com/office/drawing/2014/main" id="{55F1DBB8-28E0-4456-8774-7C628A87B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24000"/>
            <a:ext cx="400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2D5BFF"/>
                </a:solidFill>
                <a:latin typeface="Arial"/>
                <a:ea typeface="Arial"/>
                <a:cs typeface="Arial"/>
              </a:defRPr>
            </a:pPr>
            <a:r>
              <a:t>GREIX Mietpreisindex</a:t>
            </a:r>
          </a:p>
        </p:txBody>
      </p:sp>
      <p:sp>
        <p:nvSpPr>
          <p:cNvPr id="7" name="sources-two-body">
            <a:extLst xmlns:a="http://schemas.openxmlformats.org/drawingml/2006/main">
              <a:ext uri="{FF2B5EF4-FFF2-40B4-BE49-F238E27FC236}">
                <a16:creationId xmlns:a16="http://schemas.microsoft.com/office/drawing/2014/main" id="{E4103BF6-AE93-4ED1-8ED4-D23B3DDCC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0250"/>
            <a:ext cx="5219700" cy="1181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Kiel Institut für Weltwirtschaft auf Basis der VALUE Marktdatenbank
Nominale Quartalswerte 2012-Q1 bis 2026-Q1
37 lokale Märkte plus Deutschlandreferenz</a:t>
            </a:r>
          </a:p>
        </p:txBody>
      </p:sp>
      <p:cxnSp>
        <p:nvCxnSpPr>
          <p:cNvPr id="20" name="sources-divider"/>
          <p:cNvCxnSpPr/>
          <p:nvPr/>
        </p:nvCxnSpPr>
        <p:spPr>
          <a:xfrm xmlns:a="http://schemas.openxmlformats.org/drawingml/2006/main">
            <a:off x="457200" y="3543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9E0E8"/>
            </a:solidFill>
            <a:prstDash val="solid"/>
          </a:ln>
        </p:spPr>
      </p:cxnSp>
      <p:sp>
        <p:nvSpPr>
          <p:cNvPr id="9" name="sources-repro-title">
            <a:extLst xmlns:a="http://schemas.openxmlformats.org/drawingml/2006/main">
              <a:ext uri="{FF2B5EF4-FFF2-40B4-BE49-F238E27FC236}">
                <a16:creationId xmlns:a16="http://schemas.microsoft.com/office/drawing/2014/main" id="{546C87BE-C9E6-4C7F-A6FB-776C6C4DF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05250"/>
            <a:ext cx="400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Reproduzierbar im Repository</a:t>
            </a:r>
          </a:p>
        </p:txBody>
      </p:sp>
      <p:sp>
        <p:nvSpPr>
          <p:cNvPr id="10" name="sources-repro-body">
            <a:extLst xmlns:a="http://schemas.openxmlformats.org/drawingml/2006/main">
              <a:ext uri="{FF2B5EF4-FFF2-40B4-BE49-F238E27FC236}">
                <a16:creationId xmlns:a16="http://schemas.microsoft.com/office/drawing/2014/main" id="{CEC07F85-8AA3-4BEE-B45E-ED89E3D44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19600"/>
            <a:ext cx="11049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Download → Build → Spatial CV → Tuning → finales Training → GREIX-Profile → Notebooks → Streamlit</a:t>
            </a:r>
          </a:p>
        </p:txBody>
      </p:sp>
      <p:sp>
        <p:nvSpPr>
          <p:cNvPr id="11" name="sources-code">
            <a:extLst xmlns:a="http://schemas.openxmlformats.org/drawingml/2006/main">
              <a:ext uri="{FF2B5EF4-FFF2-40B4-BE49-F238E27FC236}">
                <a16:creationId xmlns:a16="http://schemas.microsoft.com/office/drawing/2014/main" id="{12AD8F1C-D4D0-4E2D-84C4-DEF78205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62550"/>
            <a:ext cx="1104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EF"/>
          </a:solidFill>
          <a:ln xmlns:a="http://schemas.openxmlformats.org/drawingml/2006/main" w="0">
            <a:solidFill>
              <a:srgbClr val="EEF1EF"/>
            </a:solidFill>
            <a:prstDash val="solid"/>
          </a:ln>
        </p:spPr>
      </p:sp>
      <p:sp>
        <p:nvSpPr>
          <p:cNvPr id="12" name="sources-code-text">
            <a:extLst xmlns:a="http://schemas.openxmlformats.org/drawingml/2006/main">
              <a:ext uri="{FF2B5EF4-FFF2-40B4-BE49-F238E27FC236}">
                <a16:creationId xmlns:a16="http://schemas.microsoft.com/office/drawing/2014/main" id="{4BB8B597-4D8A-4FD4-B84A-0F958678B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105918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scripts/ · notebooks/ · reports/ · models/ · tests/ · docs/DATA_CARD.md · docs/MODEL_CARD.md</a:t>
            </a:r>
          </a:p>
        </p:txBody>
      </p:sp>
    </p:spTree>
    <p:extLst>
      <p:ext uri="{BB962C8B-B14F-4D97-AF65-F5344CB8AC3E}">
        <p14:creationId xmlns:p14="http://schemas.microsoft.com/office/powerpoint/2010/main" val="74751377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-14">
            <a:extLst xmlns:a="http://schemas.openxmlformats.org/drawingml/2006/main">
              <a:ext uri="{FF2B5EF4-FFF2-40B4-BE49-F238E27FC236}">
                <a16:creationId xmlns:a16="http://schemas.microsoft.com/office/drawing/2014/main" id="{A24A7D28-A9C7-4580-A865-35AD7769F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Methodische Detailwerte für Rückfragen</a:t>
            </a:r>
          </a:p>
        </p:txBody>
      </p:sp>
      <p:sp>
        <p:nvSpPr>
          <p:cNvPr id="2" name="source-14">
            <a:extLst xmlns:a="http://schemas.openxmlformats.org/drawingml/2006/main">
              <a:ext uri="{FF2B5EF4-FFF2-40B4-BE49-F238E27FC236}">
                <a16:creationId xmlns:a16="http://schemas.microsoft.com/office/drawing/2014/main" id="{2ABF3631-6D6A-4C2A-BDFC-EE2161387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Quelle: models/zensus_hgb_meta.json und reports/final_model_evaluation.json.</a:t>
            </a:r>
          </a:p>
        </p:txBody>
      </p:sp>
      <p:sp>
        <p:nvSpPr>
          <p:cNvPr id="3" name="page-14">
            <a:extLst xmlns:a="http://schemas.openxmlformats.org/drawingml/2006/main">
              <a:ext uri="{FF2B5EF4-FFF2-40B4-BE49-F238E27FC236}">
                <a16:creationId xmlns:a16="http://schemas.microsoft.com/office/drawing/2014/main" id="{5544BD15-CFC7-4F56-8C86-9D7469508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14</a:t>
            </a:r>
          </a:p>
        </p:txBody>
      </p:sp>
      <p:sp>
        <p:nvSpPr>
          <p:cNvPr id="4" name="method-detail-lead">
            <a:extLst xmlns:a="http://schemas.openxmlformats.org/drawingml/2006/main">
              <a:ext uri="{FF2B5EF4-FFF2-40B4-BE49-F238E27FC236}">
                <a16:creationId xmlns:a16="http://schemas.microsoft.com/office/drawing/2014/main" id="{C92C2A12-68B5-4B1C-A5F3-99CAF2656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2550"/>
            <a:ext cx="110490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Finales HGB: learning_rate 0,06 · 300 Iterationen · 127 Blätter · min. 100 Zeilen/Blatt · L2 = 5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457200" y="2190750"/>
          <a:ext xmlns:a="http://schemas.openxmlformats.org/drawingml/2006/main" cx="110490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0"/>
                <a:gridCol w="2000250"/>
                <a:gridCol w="2000250"/>
                <a:gridCol w="2476500"/>
              </a:tblGrid>
              <a:tr h="5715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Subgruppe</a:t>
                      </a:r>
                    </a:p>
                  </a:txBody>
                  <a:tcPr marL="114300" marR="114300" marT="114300" marB="114300">
                    <a:solidFill>
                      <a:srgbClr val="13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Zeilen</a:t>
                      </a:r>
                    </a:p>
                  </a:txBody>
                  <a:tcPr marL="114300" marR="114300" marT="114300" marB="114300">
                    <a:solidFill>
                      <a:srgbClr val="13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MAE €/m²</a:t>
                      </a:r>
                    </a:p>
                  </a:txBody>
                  <a:tcPr marL="114300" marR="114300" marT="114300" marB="114300">
                    <a:solidFill>
                      <a:srgbClr val="13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Intervall-Coverage</a:t>
                      </a:r>
                    </a:p>
                  </a:txBody>
                  <a:tcPr marL="114300" marR="114300" marT="114300" marB="114300">
                    <a:solidFill>
                      <a:srgbClr val="13223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Gebäude bis 1990 · ≤65 m²</a:t>
                      </a:r>
                    </a:p>
                  </a:txBody>
                  <a:tcPr marL="114300" marR="114300" marT="114300" marB="11430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81.662</a:t>
                      </a:r>
                    </a:p>
                  </a:txBody>
                  <a:tcPr marL="114300" marR="114300" marT="114300" marB="11430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1,436</a:t>
                      </a:r>
                    </a:p>
                  </a:txBody>
                  <a:tcPr marL="114300" marR="114300" marT="114300" marB="11430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87,4 %</a:t>
                      </a:r>
                    </a:p>
                  </a:txBody>
                  <a:tcPr marL="114300" marR="114300" marT="114300" marB="11430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Gebäude bis 1990 · &gt;65 m²</a:t>
                      </a:r>
                    </a:p>
                  </a:txBody>
                  <a:tcPr marL="114300" marR="114300" marT="114300" marB="11430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114.791</a:t>
                      </a:r>
                    </a:p>
                  </a:txBody>
                  <a:tcPr marL="114300" marR="114300" marT="114300" marB="11430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1,170</a:t>
                      </a:r>
                    </a:p>
                  </a:txBody>
                  <a:tcPr marL="114300" marR="114300" marT="114300" marB="11430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87,6 %</a:t>
                      </a:r>
                    </a:p>
                  </a:txBody>
                  <a:tcPr marL="114300" marR="114300" marT="114300" marB="11430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Gebäude nach 1990 · ≤65 m²</a:t>
                      </a:r>
                    </a:p>
                  </a:txBody>
                  <a:tcPr marL="114300" marR="114300" marT="114300" marB="114300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29.417</a:t>
                      </a:r>
                    </a:p>
                  </a:txBody>
                  <a:tcPr marL="114300" marR="114300" marT="114300" marB="114300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1,907</a:t>
                      </a:r>
                    </a:p>
                  </a:txBody>
                  <a:tcPr marL="114300" marR="114300" marT="114300" marB="114300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85,2 %</a:t>
                      </a:r>
                    </a:p>
                  </a:txBody>
                  <a:tcPr marL="114300" marR="114300" marT="114300" marB="114300">
                    <a:solidFill>
                      <a:srgbClr val="FEF3C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Gebäude nach 1990 · &gt;65 m²</a:t>
                      </a:r>
                    </a:p>
                  </a:txBody>
                  <a:tcPr marL="114300" marR="114300" marT="114300" marB="114300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50.588</a:t>
                      </a:r>
                    </a:p>
                  </a:txBody>
                  <a:tcPr marL="114300" marR="114300" marT="114300" marB="114300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1,642</a:t>
                      </a:r>
                    </a:p>
                  </a:txBody>
                  <a:tcPr marL="114300" marR="114300" marT="114300" marB="114300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85,1 %</a:t>
                      </a:r>
                    </a:p>
                  </a:txBody>
                  <a:tcPr marL="114300" marR="114300" marT="114300" marB="114300">
                    <a:solidFill>
                      <a:srgbClr val="FEF3C7"/>
                    </a:solidFill>
                  </a:tcPr>
                </a:tc>
              </a:tr>
            </a:tbl>
          </a:graphicData>
        </a:graphic>
      </p:graphicFrame>
      <p:sp>
        <p:nvSpPr>
          <p:cNvPr id="6" name="method-detail-conclusion">
            <a:extLst xmlns:a="http://schemas.openxmlformats.org/drawingml/2006/main">
              <a:ext uri="{FF2B5EF4-FFF2-40B4-BE49-F238E27FC236}">
                <a16:creationId xmlns:a16="http://schemas.microsoft.com/office/drawing/2014/main" id="{BA5E43BA-78E6-466B-A2A3-167A4ABE0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1049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t>Neubauten generalisieren schwächer – deshalb nutzt MietCheck kategoriespezifische Intervallbreiten.</a:t>
            </a:r>
          </a:p>
        </p:txBody>
      </p:sp>
    </p:spTree>
    <p:extLst>
      <p:ext uri="{BB962C8B-B14F-4D97-AF65-F5344CB8AC3E}">
        <p14:creationId xmlns:p14="http://schemas.microsoft.com/office/powerpoint/2010/main" val="6329470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2026-07-17T09:12:02.4160000Z</dcterms:created>
  <dcterms:modified xsi:type="dcterms:W3CDTF">2026-07-17T09:12:02.4160000Z</dcterms:modified>
</coreProperties>
</file>