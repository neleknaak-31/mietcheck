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f78cbdcf4f4e4f" /><Relationship Type="http://schemas.openxmlformats.org/officeDocument/2006/relationships/extended-properties" Target="/docProps/app.xml" Id="R5fbc8f1ee8bc4d99" /><Relationship Type="http://schemas.openxmlformats.org/officeDocument/2006/relationships/officeDocument" Target="/ppt/presentation.xml" Id="R0631e8d8b35d4b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4af7b903c94f74"/>
  </p:sldMasterIdLst>
  <p:notesMasterIdLst>
    <p:notesMasterId xmlns:r="http://schemas.openxmlformats.org/officeDocument/2006/relationships" r:id="R6a9eccaec81749cf"/>
  </p:notesMasterIdLst>
  <p:sldIdLst>
    <p:sldId xmlns:r="http://schemas.openxmlformats.org/officeDocument/2006/relationships" id="256" r:id="R59f82947c98749bf"/>
    <p:sldId xmlns:r="http://schemas.openxmlformats.org/officeDocument/2006/relationships" id="257" r:id="Rf95952049be54bdc"/>
    <p:sldId xmlns:r="http://schemas.openxmlformats.org/officeDocument/2006/relationships" id="258" r:id="Rf3a063a0d7ab49c1"/>
    <p:sldId xmlns:r="http://schemas.openxmlformats.org/officeDocument/2006/relationships" id="259" r:id="Rc2787b436e65461f"/>
    <p:sldId xmlns:r="http://schemas.openxmlformats.org/officeDocument/2006/relationships" id="260" r:id="Ra51d294c4efe48ae"/>
    <p:sldId xmlns:r="http://schemas.openxmlformats.org/officeDocument/2006/relationships" id="261" r:id="Ra6e422a3cf984d78"/>
    <p:sldId xmlns:r="http://schemas.openxmlformats.org/officeDocument/2006/relationships" id="262" r:id="R8fd5b83a351d44d9"/>
    <p:sldId xmlns:r="http://schemas.openxmlformats.org/officeDocument/2006/relationships" id="263" r:id="R63c68c28d7b54be2"/>
    <p:sldId xmlns:r="http://schemas.openxmlformats.org/officeDocument/2006/relationships" id="264" r:id="R24d527aeb4fc4a27"/>
    <p:sldId xmlns:r="http://schemas.openxmlformats.org/officeDocument/2006/relationships" id="265" r:id="R7d0a6b7aa5e6412d"/>
    <p:sldId xmlns:r="http://schemas.openxmlformats.org/officeDocument/2006/relationships" id="266" r:id="Rca0b0f4d5b9148da"/>
    <p:sldId xmlns:r="http://schemas.openxmlformats.org/officeDocument/2006/relationships" id="267" r:id="R0b1141bb46c74302"/>
    <p:sldId xmlns:r="http://schemas.openxmlformats.org/officeDocument/2006/relationships" id="268" r:id="Re54bd115386f448f"/>
    <p:sldId xmlns:r="http://schemas.openxmlformats.org/officeDocument/2006/relationships" id="269" r:id="Re1b9434ea07247c3"/>
    <p:sldId xmlns:r="http://schemas.openxmlformats.org/officeDocument/2006/relationships" id="270" r:id="R3b45aeb1fe1e474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1ec392ae1849b4" /><Relationship Type="http://schemas.openxmlformats.org/officeDocument/2006/relationships/slideMaster" Target="/ppt/slideMasters/slideMaster1.xml" Id="Rd74af7b903c94f74" /><Relationship Type="http://schemas.openxmlformats.org/officeDocument/2006/relationships/notesMaster" Target="/ppt/notesMasters/notesMaster1.xml" Id="R6a9eccaec81749cf" /><Relationship Type="http://schemas.openxmlformats.org/officeDocument/2006/relationships/presProps" Target="/ppt/presProps.xml" Id="Re80a621cb48f42d4" /><Relationship Type="http://schemas.openxmlformats.org/officeDocument/2006/relationships/tableStyles" Target="/ppt/tableStyles.xml" Id="R20385a74152148e7" /><Relationship Type="http://schemas.openxmlformats.org/officeDocument/2006/relationships/slide" Target="/ppt/slides/slide1.xml" Id="R59f82947c98749bf" /><Relationship Type="http://schemas.openxmlformats.org/officeDocument/2006/relationships/slide" Target="/ppt/slides/slide2.xml" Id="Rf95952049be54bdc" /><Relationship Type="http://schemas.openxmlformats.org/officeDocument/2006/relationships/slide" Target="/ppt/slides/slide3.xml" Id="Rf3a063a0d7ab49c1" /><Relationship Type="http://schemas.openxmlformats.org/officeDocument/2006/relationships/slide" Target="/ppt/slides/slide4.xml" Id="Rc2787b436e65461f" /><Relationship Type="http://schemas.openxmlformats.org/officeDocument/2006/relationships/slide" Target="/ppt/slides/slide5.xml" Id="Ra51d294c4efe48ae" /><Relationship Type="http://schemas.openxmlformats.org/officeDocument/2006/relationships/slide" Target="/ppt/slides/slide6.xml" Id="Ra6e422a3cf984d78" /><Relationship Type="http://schemas.openxmlformats.org/officeDocument/2006/relationships/slide" Target="/ppt/slides/slide7.xml" Id="R8fd5b83a351d44d9" /><Relationship Type="http://schemas.openxmlformats.org/officeDocument/2006/relationships/slide" Target="/ppt/slides/slide8.xml" Id="R63c68c28d7b54be2" /><Relationship Type="http://schemas.openxmlformats.org/officeDocument/2006/relationships/slide" Target="/ppt/slides/slide9.xml" Id="R24d527aeb4fc4a27" /><Relationship Type="http://schemas.openxmlformats.org/officeDocument/2006/relationships/slide" Target="/ppt/slides/slide10.xml" Id="R7d0a6b7aa5e6412d" /><Relationship Type="http://schemas.openxmlformats.org/officeDocument/2006/relationships/slide" Target="/ppt/slides/slide11.xml" Id="Rca0b0f4d5b9148da" /><Relationship Type="http://schemas.openxmlformats.org/officeDocument/2006/relationships/slide" Target="/ppt/slides/slide12.xml" Id="R0b1141bb46c74302" /><Relationship Type="http://schemas.openxmlformats.org/officeDocument/2006/relationships/slide" Target="/ppt/slides/slide13.xml" Id="Re54bd115386f448f" /><Relationship Type="http://schemas.openxmlformats.org/officeDocument/2006/relationships/slide" Target="/ppt/slides/slide14.xml" Id="Re1b9434ea07247c3" /><Relationship Type="http://schemas.openxmlformats.org/officeDocument/2006/relationships/slide" Target="/ppt/slides/slide15.xml" Id="R3b45aeb1fe1e47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828842acfc48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963b4f1f7b4f80" /><Relationship Type="http://schemas.openxmlformats.org/officeDocument/2006/relationships/notesMaster" Target="/ppt/notesMasters/notesMaster1.xml" Id="Re3f8c3028ace41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7f8d0011c34c55" /><Relationship Type="http://schemas.openxmlformats.org/officeDocument/2006/relationships/notesMaster" Target="/ppt/notesMasters/notesMaster1.xml" Id="R79e40a1b1b5546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cadffeb8ed461b" /><Relationship Type="http://schemas.openxmlformats.org/officeDocument/2006/relationships/notesMaster" Target="/ppt/notesMasters/notesMaster1.xml" Id="R3cc7404c4c3543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8e93839d7746e4" /><Relationship Type="http://schemas.openxmlformats.org/officeDocument/2006/relationships/notesMaster" Target="/ppt/notesMasters/notesMaster1.xml" Id="Re4d3c666d46049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d0056b35d842f4" /><Relationship Type="http://schemas.openxmlformats.org/officeDocument/2006/relationships/notesMaster" Target="/ppt/notesMasters/notesMaster1.xml" Id="R25f3187f62344b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aecac379a04aef" /><Relationship Type="http://schemas.openxmlformats.org/officeDocument/2006/relationships/notesMaster" Target="/ppt/notesMasters/notesMaster1.xml" Id="Rf55b39360dcb43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ed28fffefd4887" /><Relationship Type="http://schemas.openxmlformats.org/officeDocument/2006/relationships/notesMaster" Target="/ppt/notesMasters/notesMaster1.xml" Id="R0cbf9a765f914f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10478693a248fc" /><Relationship Type="http://schemas.openxmlformats.org/officeDocument/2006/relationships/notesMaster" Target="/ppt/notesMasters/notesMaster1.xml" Id="R4c600b9f92a64d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89e3e81253b409a" /><Relationship Type="http://schemas.openxmlformats.org/officeDocument/2006/relationships/notesMaster" Target="/ppt/notesMasters/notesMaster1.xml" Id="R7afb582aa39446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f90c052186b429b" /><Relationship Type="http://schemas.openxmlformats.org/officeDocument/2006/relationships/notesMaster" Target="/ppt/notesMasters/notesMaster1.xml" Id="Rb5e062e77d704ae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65c2e32369e4bc8" /><Relationship Type="http://schemas.openxmlformats.org/officeDocument/2006/relationships/notesMaster" Target="/ppt/notesMasters/notesMaster1.xml" Id="R0569b2b32fed49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88120f958af43f1" /><Relationship Type="http://schemas.openxmlformats.org/officeDocument/2006/relationships/notesMaster" Target="/ppt/notesMasters/notesMaster1.xml" Id="R92ca25ed8ccf4b7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adc1c1ada5e45fa" /><Relationship Type="http://schemas.openxmlformats.org/officeDocument/2006/relationships/notesMaster" Target="/ppt/notesMasters/notesMaster1.xml" Id="Raa88efcda5844a4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864dfef4bae4a13" /><Relationship Type="http://schemas.openxmlformats.org/officeDocument/2006/relationships/notesMaster" Target="/ppt/notesMasters/notesMaster1.xml" Id="Rf5cb14863cdc419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030a470e84b482d" /><Relationship Type="http://schemas.openxmlformats.org/officeDocument/2006/relationships/notesMaster" Target="/ppt/notesMasters/notesMaster1.xml" Id="R8d694bd3cf3344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35 Sekunden.</a:t>
            </a:r>
          </a:p>
          <a:p xmlns:a="http://schemas.openxmlformats.org/drawingml/2006/main">
            <a:r>
              <a:t>MietCheck führt durch den vollständigen QUA³CK-Prozess. Die App wird in dieser Präsentation mit verifizierten Screenshots gezeigt; eine Live-Demo ist nicht erforderlich.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55 Sekunden.</a:t>
            </a:r>
          </a:p>
          <a:p xmlns:a="http://schemas.openxmlformats.org/drawingml/2006/main">
            <a:r>
              <a:t>Die Forschungsfrage trennt bewusst drei Messkonzepte. Der Umzugsaufschlag ist ein deskriptiver Vergleich und keine zulässige oder faire Miete.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55 Sekunden.</a:t>
            </a:r>
          </a:p>
          <a:p xmlns:a="http://schemas.openxmlformats.org/drawingml/2006/main">
            <a:r>
              <a:t>Der USP ist nicht ein weiterer Preisrechner. Die vier Go/No-Go-Regeln wurden vor dem finalen Test definiert, damit die Bewertung nicht nachträglich passend gemacht wird.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55 Sekunden.</a:t>
            </a:r>
          </a:p>
          <a:p xmlns:a="http://schemas.openxmlformats.org/drawingml/2006/main">
            <a:r>
              <a:t>Das Trainingsziel ist die Zensus-Bestandsmiete zum Stichtag 15. Mai 2022. GREIX aktualisiert nur die Marktseite der App und wird nicht fälschlich in das historische Trainingsziel gemischt.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StandardScaler nutzt ausschließlich Mittelwert und Standardabweichung des jeweiligen Trainingsfolds. Das ist für Ridge, SVM und MLP nötig. Entscheidungsbaum, Random Forest und HGB sind gegenüber monotoner Skalierung invariant; der HGB-Champion speichert deshalb bewusst keinen unnötigen Scaler.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65 Sekunden.</a:t>
            </a:r>
          </a:p>
          <a:p xmlns:a="http://schemas.openxmlformats.org/drawingml/2006/main">
            <a:r>
              <a:t>Ein Random Split würde räumliche Nachbarschaft in Train und Test verteilen. Die drei Hash-dokumentierten Blockmengen überschneiden sich nicht.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Sieben Kandidaten inklusive Baseline, LinearSVR und einzelner Decision Tree laufen auf denselben 600.000 Zeilen. Der RBF-SVR wird ergänzend auf 10.000 räumlich validierten Zeilen geprüft, weil exakte Kernel-SVR superlinear skaliert.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A² zeigt den inkrementellen Zusatznutzen der Feature-Gruppen. A³ vergleicht acht HGB-Konfigurationen ausschließlich auf Entwicklungsblöcken und berücksichtigt Mittelwert, Streuung und schlechtesten Fold.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80 Sekunden.</a:t>
            </a:r>
          </a:p>
          <a:p xmlns:a="http://schemas.openxmlformats.org/drawingml/2006/main">
            <a:r>
              <a:t>Der unangetastete Test umfasst 276.458 Zeilen aus 99 Raumblöcken. MAE 1,413 €/m², R² 0,584 und 38,3 Prozent Verbesserung. Die empirische Coverage liegt bei 86,8 statt nominal 90 Prozent und wird nicht versteckt.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Der Screenshot ersetzt die Live-Demo. Er zeigt das Berlin-Szenario, drei getrennte Mietwerte und den Umzugsaufschlag direkt am Ergebnis.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40 Sekunden.</a:t>
            </a:r>
          </a:p>
          <a:p xmlns:a="http://schemas.openxmlformats.org/drawingml/2006/main">
            <a:r>
              <a:t>Der zweite Screenshot zeigt, wie aktuelle GREIX-Quartale und der Markt-IQR die Angebotsseite erklären. Diese Streuung ist nicht dasselbe wie Modellunsicherheit.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Der Methodik-Screenshot belegt, dass die wissenschaftliche Nachweiskette in der App selbst sichtbar ist. Es gibt keine Live-Demo und damit kein Netzwerk- oder Login-Risiko.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55 Sekunden.</a:t>
            </a:r>
          </a:p>
          <a:p xmlns:a="http://schemas.openxmlformats.org/drawingml/2006/main">
            <a:r>
              <a:t>Nicht beobachtete Wohnungsmerkmale, Zeitversatz, begrenzte GREIX-Abdeckung und Coverage-Unterdeckung stehen sichtbar in App, Model Card und Risk Assessment.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Q definiert den Nutzen, U prüft Daten und Skalierung, A wählt und optimiert, C bewertet ehrlich, K überträgt das Wissen in die App. Genau diese geschlossene Kette ist das Ergebnis.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Backup-Folie für Quellen- und Reproduzierbarkeitsfragen. Die Primärquellen und der vollständige Laufweg sind im öffentlichen Repository dokumentiert.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f642f3eaec48d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fa4d36fb6a4958" /><Relationship Type="http://schemas.openxmlformats.org/officeDocument/2006/relationships/slideLayout" Target="/ppt/slideLayouts/slideLayout1.xml" Id="R164199c1b63e4d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4199c1b63e4d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67fca6a8e7469a" /><Relationship Type="http://schemas.openxmlformats.org/officeDocument/2006/relationships/image" Target="/ppt/media/image.png" Id="R4498b7bb4f214c20" /><Relationship Type="http://schemas.openxmlformats.org/officeDocument/2006/relationships/notesSlide" Target="/ppt/notesSlides/notesSlide1.xml" Id="R1db11375af684b4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a9a18e20e04d3e" /><Relationship Type="http://schemas.openxmlformats.org/officeDocument/2006/relationships/notesSlide" Target="/ppt/notesSlides/notesSlide2.xml" Id="R7d0607ee9d3041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d74cc22bc4e7e" /><Relationship Type="http://schemas.openxmlformats.org/officeDocument/2006/relationships/notesSlide" Target="/ppt/notesSlides/notesSlide3.xml" Id="Re121422ab64540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eb9b4bc88f45bb" /><Relationship Type="http://schemas.openxmlformats.org/officeDocument/2006/relationships/notesSlide" Target="/ppt/notesSlides/notesSlide4.xml" Id="R5f9ed93ddb074c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149a1981be493e" /><Relationship Type="http://schemas.openxmlformats.org/officeDocument/2006/relationships/notesSlide" Target="/ppt/notesSlides/notesSlide5.xml" Id="R1d74645c9a074e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222fd134314b07" /><Relationship Type="http://schemas.openxmlformats.org/officeDocument/2006/relationships/notesSlide" Target="/ppt/notesSlides/notesSlide6.xml" Id="R6a8c0b3176834c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afab028c0740c6" /><Relationship Type="http://schemas.openxmlformats.org/officeDocument/2006/relationships/chart" Target="/ppt/slides/charts/chart1.xml" Id="R5701dbc3da0640c0" /><Relationship Type="http://schemas.openxmlformats.org/officeDocument/2006/relationships/notesSlide" Target="/ppt/notesSlides/notesSlide7.xml" Id="R227437ddc93940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e7b1e25994df9" /><Relationship Type="http://schemas.openxmlformats.org/officeDocument/2006/relationships/chart" Target="/ppt/slides/charts/chart2.xml" Id="Rff0d65f5e92d4918" /><Relationship Type="http://schemas.openxmlformats.org/officeDocument/2006/relationships/notesSlide" Target="/ppt/notesSlides/notesSlide8.xml" Id="R0d0ee4ffbe2643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7b97a57084dbb" /><Relationship Type="http://schemas.openxmlformats.org/officeDocument/2006/relationships/chart" Target="/ppt/slides/charts/chart3.xml" Id="Re0b9e2f89c794bcb" /><Relationship Type="http://schemas.openxmlformats.org/officeDocument/2006/relationships/notesSlide" Target="/ppt/notesSlides/notesSlide9.xml" Id="Re95bdc4bbae041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d5c4561064f99" /><Relationship Type="http://schemas.openxmlformats.org/officeDocument/2006/relationships/image" Target="/ppt/media/image.jpeg" Id="R70b145f3195e4925" /><Relationship Type="http://schemas.openxmlformats.org/officeDocument/2006/relationships/notesSlide" Target="/ppt/notesSlides/notesSlide10.xml" Id="Rc4a6ec8f5c8247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0946066054a26" /><Relationship Type="http://schemas.openxmlformats.org/officeDocument/2006/relationships/image" Target="/ppt/media/image.jpeg" Id="R2216b5a7a3184ff2" /><Relationship Type="http://schemas.openxmlformats.org/officeDocument/2006/relationships/notesSlide" Target="/ppt/notesSlides/notesSlide11.xml" Id="R5a491581450d4d2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ea8fb5a9474c1e" /><Relationship Type="http://schemas.openxmlformats.org/officeDocument/2006/relationships/image" Target="/ppt/media/image.jpeg" Id="R43eb2a6d3d1e4257" /><Relationship Type="http://schemas.openxmlformats.org/officeDocument/2006/relationships/notesSlide" Target="/ppt/notesSlides/notesSlide12.xml" Id="R28cd8f0c278f496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f50b11d064995" /><Relationship Type="http://schemas.openxmlformats.org/officeDocument/2006/relationships/notesSlide" Target="/ppt/notesSlides/notesSlide13.xml" Id="R01f3256bbfa743b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2df45e6d1e4b11" /><Relationship Type="http://schemas.openxmlformats.org/officeDocument/2006/relationships/notesSlide" Target="/ppt/notesSlides/notesSlide14.xml" Id="Re362c72677f9489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2f25490e44dd2" /><Relationship Type="http://schemas.openxmlformats.org/officeDocument/2006/relationships/notesSlide" Target="/ppt/notesSlides/notesSlide15.xml" Id="Ra2dc87e8d95940e5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315CFF"/>
            </a:solidFill>
          </c:spPr>
          <c:dPt>
            <c:idx val="4"/>
            <c:spPr>
              <a:solidFill xmlns:a="http://schemas.openxmlformats.org/drawingml/2006/main">
                <a:srgbClr val="0F7B62"/>
              </a:solidFill>
            </c:spPr>
          </c:dPt>
          <c:cat>
            <c:strLit>
              <c:ptCount val="7"/>
              <c:pt idx="0">
                <c:v>Median</c:v>
              </c:pt>
              <c:pt idx="1">
                <c:v>Ridge</c:v>
              </c:pt>
              <c:pt idx="2">
                <c:v>LinearSVR</c:v>
              </c:pt>
              <c:pt idx="3">
                <c:v>Tree</c:v>
              </c:pt>
              <c:pt idx="4">
                <c:v>MLP</c:v>
              </c:pt>
              <c:pt idx="5">
                <c:v>RF</c:v>
              </c:pt>
              <c:pt idx="6">
                <c:v>HGB</c:v>
              </c:pt>
            </c:strLit>
          </c:cat>
          <c:val>
            <c:numLit>
              <c:formatCode>General</c:formatCode>
              <c:ptCount val="7"/>
              <c:pt idx="0">
                <c:v>1.7191110849380493</c:v>
              </c:pt>
              <c:pt idx="1">
                <c:v>1.632184624671936</c:v>
              </c:pt>
              <c:pt idx="2">
                <c:v>1.6346849997838337</c:v>
              </c:pt>
              <c:pt idx="3">
                <c:v>1.3927625020345051</c:v>
              </c:pt>
              <c:pt idx="4">
                <c:v>1.3965997695922852</c:v>
              </c:pt>
              <c:pt idx="5">
                <c:v>1.320151448249817</c:v>
              </c:pt>
              <c:pt idx="6">
                <c:v>1.3045032421747844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4213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D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587"/>
                    </a:solidFill>
                  </a:rPr>
                  <a:t>mittlerer 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587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13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7F9F8"/>
          </a:solidFill>
          <a:prstDash val="solid"/>
        </a:ln>
      </c:spPr>
    </c:plotArea>
    <c:plotVisOnly val="1"/>
  </c:chart>
  <c:spPr>
    <a:solidFill xmlns:a="http://schemas.openxmlformats.org/drawingml/2006/main">
      <a:srgbClr val="F7F9F8"/>
    </a:solidFill>
    <a:ln xmlns:a="http://schemas.openxmlformats.org/drawingml/2006/main" w="0">
      <a:solidFill>
        <a:srgbClr val="F7F9F8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667587"/>
            </a:solidFill>
          </c:spPr>
          <c:dPt>
            <c:idx val="1"/>
            <c:spPr>
              <a:solidFill xmlns:a="http://schemas.openxmlformats.org/drawingml/2006/main">
                <a:srgbClr val="0F7B62"/>
              </a:solidFill>
            </c:spPr>
          </c:dPt>
          <c:cat>
            <c:strLit>
              <c:ptCount val="4"/>
              <c:pt idx="0">
                <c:v>Kategorien</c:v>
              </c:pt>
              <c:pt idx="1">
                <c:v>+ Lage</c:v>
              </c:pt>
              <c:pt idx="2">
                <c:v>+ Umfeld</c:v>
              </c:pt>
              <c:pt idx="3">
                <c:v>+ Qualität</c:v>
              </c:pt>
            </c:strLit>
          </c:cat>
          <c:val>
            <c:numLit>
              <c:formatCode>General</c:formatCode>
              <c:ptCount val="4"/>
              <c:pt idx="0">
                <c:v>1.645225723584493</c:v>
              </c:pt>
              <c:pt idx="1">
                <c:v>1.3506381114323933</c:v>
              </c:pt>
              <c:pt idx="2">
                <c:v>1.315356691678365</c:v>
              </c:pt>
              <c:pt idx="3">
                <c:v>1.29402760664622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4213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138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D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587"/>
                    </a:solidFill>
                  </a:rPr>
                  <a:t>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587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50112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solidFill>
            <a:srgbClr val="F7F9F8"/>
          </a:solidFill>
          <a:prstDash val="solid"/>
        </a:ln>
      </c:spPr>
    </c:plotArea>
    <c:plotVisOnly val="1"/>
  </c:chart>
  <c:spPr>
    <a:solidFill xmlns:a="http://schemas.openxmlformats.org/drawingml/2006/main">
      <a:srgbClr val="F7F9F8"/>
    </a:solidFill>
    <a:ln xmlns:a="http://schemas.openxmlformats.org/drawingml/2006/main" w="0">
      <a:solidFill>
        <a:srgbClr val="F7F9F8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667587"/>
            </a:solidFill>
          </c:spPr>
          <c:dPt>
            <c:idx val="1"/>
            <c:spPr>
              <a:solidFill xmlns:a="http://schemas.openxmlformats.org/drawingml/2006/main">
                <a:srgbClr val="0F7B62"/>
              </a:solidFill>
            </c:spPr>
          </c:dPt>
          <c:cat>
            <c:strLit>
              <c:ptCount val="2"/>
              <c:pt idx="0">
                <c:v>Kategorie-Baseline</c:v>
              </c:pt>
              <c:pt idx="1">
                <c:v>MietCheck HGB</c:v>
              </c:pt>
            </c:strLit>
          </c:cat>
          <c:val>
            <c:numLit>
              <c:formatCode>General</c:formatCode>
              <c:ptCount val="2"/>
              <c:pt idx="0">
                <c:v>2.292</c:v>
              </c:pt>
              <c:pt idx="1">
                <c:v>1.413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021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D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138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DF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>
                    <a:solidFill>
                      <a:srgbClr val="667587"/>
                    </a:solidFill>
                  </a:rPr>
                  <a:t>MAE in €/m²</a:t>
                </a:r>
              </a:p>
            </c:rich>
          </c:tx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667587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587"/>
                </a:solidFill>
              </a:defRPr>
            </a:pPr>
          </a:p>
        </c:txPr>
        <c:crossAx val="48650112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solidFill>
            <a:srgbClr val="F7F9F8"/>
          </a:solidFill>
          <a:prstDash val="solid"/>
        </a:ln>
      </c:spPr>
    </c:plotArea>
    <c:plotVisOnly val="1"/>
  </c:chart>
  <c:spPr>
    <a:solidFill xmlns:a="http://schemas.openxmlformats.org/drawingml/2006/main">
      <a:srgbClr val="F7F9F8"/>
    </a:solidFill>
    <a:ln xmlns:a="http://schemas.openxmlformats.org/drawingml/2006/main" w="0">
      <a:solidFill>
        <a:srgbClr val="F7F9F8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dark-panel">
            <a:extLst xmlns:a="http://schemas.openxmlformats.org/drawingml/2006/main">
              <a:ext uri="{FF2B5EF4-FFF2-40B4-BE49-F238E27FC236}">
                <a16:creationId xmlns:a16="http://schemas.microsoft.com/office/drawing/2014/main" id="{F0331D25-56BB-47BA-BAD7-64B03E71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57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cover-teal-panel">
            <a:extLst xmlns:a="http://schemas.openxmlformats.org/drawingml/2006/main">
              <a:ext uri="{FF2B5EF4-FFF2-40B4-BE49-F238E27FC236}">
                <a16:creationId xmlns:a16="http://schemas.microsoft.com/office/drawing/2014/main" id="{4A4EBC25-239D-4843-841C-EA12904A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0"/>
            <a:ext cx="1295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12D0E047-3D79-4F46-8585-5C2E544F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cover-brand">
            <a:extLst xmlns:a="http://schemas.openxmlformats.org/drawingml/2006/main">
              <a:ext uri="{FF2B5EF4-FFF2-40B4-BE49-F238E27FC236}">
                <a16:creationId xmlns:a16="http://schemas.microsoft.com/office/drawing/2014/main" id="{874AF73B-78C5-4659-A16F-F40E8AF9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9C99A"/>
                </a:solidFill>
                <a:latin typeface="Arial"/>
                <a:ea typeface="Arial"/>
                <a:cs typeface="Arial"/>
              </a:defRPr>
            </a:pPr>
            <a:r>
              <a:t>MietCheck</a:t>
            </a:r>
          </a:p>
        </p:txBody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BA2825C0-0427-4D65-96F4-DCA33846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C8D3"/>
                </a:solidFill>
                <a:latin typeface="Arial"/>
                <a:ea typeface="Arial"/>
                <a:cs typeface="Arial"/>
              </a:defRPr>
            </a:pPr>
            <a:r>
              <a:t>Q → U → A¹/A²/A³ → C → K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EB848AE-5642-4170-A7A6-DCFFBBD8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4762500" cy="232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MietCheck.
Von Big Data
zur Entscheidung.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80D8A79-F642-4A3D-90D2-A6CAAD44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4762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DCE5EA"/>
                </a:solidFill>
                <a:latin typeface="Arial"/>
                <a:ea typeface="Arial"/>
                <a:cs typeface="Arial"/>
              </a:defRPr>
            </a:pPr>
            <a:r>
              <a:t>2,06 Mio. Zensuszeilen, räumlich validiertes Machine Learning und aktuelle GREIX-Angebotsmieten.</a:t>
            </a:r>
          </a:p>
        </p:txBody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E18D4F40-3608-4072-A4F4-D16EF7FB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5334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AFC0CB"/>
                </a:solidFill>
                <a:latin typeface="Arial"/>
                <a:ea typeface="Arial"/>
                <a:cs typeface="Arial"/>
              </a:defRPr>
            </a:pPr>
            <a:r>
              <a:t>Nele Knaak · Matrikel-Nr.: [EINTRAGEN]
Prüfer/in: [EINTRAGEN] · Abgabe: [TT.MM.JJJJ]</a:t>
            </a:r>
          </a:p>
        </p:txBody>
      </p:sp>
      <p:sp>
        <p:nvSpPr>
          <p:cNvPr id="9" name="cover-image-back">
            <a:extLst xmlns:a="http://schemas.openxmlformats.org/drawingml/2006/main">
              <a:ext uri="{FF2B5EF4-FFF2-40B4-BE49-F238E27FC236}">
                <a16:creationId xmlns:a16="http://schemas.microsoft.com/office/drawing/2014/main" id="{FDDDF729-7B0B-4E5F-8864-12CD015E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2900"/>
            <a:ext cx="5543550" cy="582930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98b7bb4f214c20"/>
          <a:srcRect xmlns:a="http://schemas.openxmlformats.org/drawingml/2006/main" l="13781" t="0" r="1378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343650" y="495300"/>
            <a:ext cx="5238750" cy="55245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733908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header-2">
            <a:extLst xmlns:a="http://schemas.openxmlformats.org/drawingml/2006/main">
              <a:ext uri="{FF2B5EF4-FFF2-40B4-BE49-F238E27FC236}">
                <a16:creationId xmlns:a16="http://schemas.microsoft.com/office/drawing/2014/main" id="{6EC10815-DE82-41D8-9CEA-D482296E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2">
            <a:extLst xmlns:a="http://schemas.openxmlformats.org/drawingml/2006/main">
              <a:ext uri="{FF2B5EF4-FFF2-40B4-BE49-F238E27FC236}">
                <a16:creationId xmlns:a16="http://schemas.microsoft.com/office/drawing/2014/main" id="{14AC3231-11AD-401F-A961-D4A2CCAD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2">
            <a:extLst xmlns:a="http://schemas.openxmlformats.org/drawingml/2006/main">
              <a:ext uri="{FF2B5EF4-FFF2-40B4-BE49-F238E27FC236}">
                <a16:creationId xmlns:a16="http://schemas.microsoft.com/office/drawing/2014/main" id="{1AD3A4EE-75FF-4FD0-B581-34DAD77B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2">
            <a:extLst xmlns:a="http://schemas.openxmlformats.org/drawingml/2006/main">
              <a:ext uri="{FF2B5EF4-FFF2-40B4-BE49-F238E27FC236}">
                <a16:creationId xmlns:a16="http://schemas.microsoft.com/office/drawing/2014/main" id="{8CD777A9-E967-4772-BF44-1D119A27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Q · Forschungsfrage: Was kostet ein Umzug wirklich?</a:t>
            </a:r>
          </a:p>
        </p:txBody>
      </p:sp>
      <p:sp>
        <p:nvSpPr>
          <p:cNvPr id="5" name="source-2">
            <a:extLst xmlns:a="http://schemas.openxmlformats.org/drawingml/2006/main">
              <a:ext uri="{FF2B5EF4-FFF2-40B4-BE49-F238E27FC236}">
                <a16:creationId xmlns:a16="http://schemas.microsoft.com/office/drawing/2014/main" id="{D53FF2FC-8014-4193-951D-3D269FA5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2">
            <a:extLst xmlns:a="http://schemas.openxmlformats.org/drawingml/2006/main">
              <a:ext uri="{FF2B5EF4-FFF2-40B4-BE49-F238E27FC236}">
                <a16:creationId xmlns:a16="http://schemas.microsoft.com/office/drawing/2014/main" id="{66CF1F9F-CA7B-4C5F-BA46-0048457A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7" name="three-lead">
            <a:extLst xmlns:a="http://schemas.openxmlformats.org/drawingml/2006/main">
              <a:ext uri="{FF2B5EF4-FFF2-40B4-BE49-F238E27FC236}">
                <a16:creationId xmlns:a16="http://schemas.microsoft.com/office/drawing/2014/main" id="{8636E47A-935C-4E78-A280-6615FCE6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Wie groß ist die Lücke zwischen lokalem Bestand, aktuellem Angebot und persönlicher Mietbelastung?</a:t>
            </a:r>
          </a:p>
        </p:txBody>
      </p:sp>
      <p:cxnSp>
        <p:nvCxnSpPr>
          <p:cNvPr id="49" name="sep-one"/>
          <p:cNvCxnSpPr/>
          <p:nvPr/>
        </p:nvCxnSpPr>
        <p:spPr>
          <a:xfrm xmlns:a="http://schemas.openxmlformats.org/drawingml/2006/main">
            <a:off x="4029075" y="2381250"/>
            <a:ext cx="286" cy="2571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cxnSp>
        <p:nvCxnSpPr>
          <p:cNvPr id="50" name="sep-two"/>
          <p:cNvCxnSpPr/>
          <p:nvPr/>
        </p:nvCxnSpPr>
        <p:spPr>
          <a:xfrm xmlns:a="http://schemas.openxmlformats.org/drawingml/2006/main">
            <a:off x="7829550" y="2381250"/>
            <a:ext cx="286" cy="2571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10" name="accent-0">
            <a:extLst xmlns:a="http://schemas.openxmlformats.org/drawingml/2006/main">
              <a:ext uri="{FF2B5EF4-FFF2-40B4-BE49-F238E27FC236}">
                <a16:creationId xmlns:a16="http://schemas.microsoft.com/office/drawing/2014/main" id="{BFE1C8DB-F5D8-44DE-BFDD-3E67F71C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1" name="reality-label-0">
            <a:extLst xmlns:a="http://schemas.openxmlformats.org/drawingml/2006/main">
              <a:ext uri="{FF2B5EF4-FFF2-40B4-BE49-F238E27FC236}">
                <a16:creationId xmlns:a16="http://schemas.microsoft.com/office/drawing/2014/main" id="{42FE8853-3980-4BBC-9B60-9CA9D925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BESTANDSANKER</a:t>
            </a:r>
          </a:p>
        </p:txBody>
      </p:sp>
      <p:sp>
        <p:nvSpPr>
          <p:cNvPr id="12" name="reality-stat-0">
            <a:extLst xmlns:a="http://schemas.openxmlformats.org/drawingml/2006/main">
              <a:ext uri="{FF2B5EF4-FFF2-40B4-BE49-F238E27FC236}">
                <a16:creationId xmlns:a16="http://schemas.microsoft.com/office/drawing/2014/main" id="{CC65C230-C40D-41C0-93C6-675ECD73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15.05.2022</a:t>
            </a:r>
          </a:p>
        </p:txBody>
      </p:sp>
      <p:sp>
        <p:nvSpPr>
          <p:cNvPr id="13" name="reality-body-0">
            <a:extLst xmlns:a="http://schemas.openxmlformats.org/drawingml/2006/main">
              <a:ext uri="{FF2B5EF4-FFF2-40B4-BE49-F238E27FC236}">
                <a16:creationId xmlns:a16="http://schemas.microsoft.com/office/drawing/2014/main" id="{691211E7-F0A6-4D5E-893B-8FEBCFA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ML-Schätzung im lokalen Zensus-Wohnungsbestand</a:t>
            </a:r>
          </a:p>
        </p:txBody>
      </p:sp>
      <p:sp>
        <p:nvSpPr>
          <p:cNvPr id="14" name="accent-1">
            <a:extLst xmlns:a="http://schemas.openxmlformats.org/drawingml/2006/main">
              <a:ext uri="{FF2B5EF4-FFF2-40B4-BE49-F238E27FC236}">
                <a16:creationId xmlns:a16="http://schemas.microsoft.com/office/drawing/2014/main" id="{1242E35F-4239-4B8F-92D0-BFAF72C4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</p:sp>
      <p:sp>
        <p:nvSpPr>
          <p:cNvPr id="15" name="reality-label-1">
            <a:extLst xmlns:a="http://schemas.openxmlformats.org/drawingml/2006/main">
              <a:ext uri="{FF2B5EF4-FFF2-40B4-BE49-F238E27FC236}">
                <a16:creationId xmlns:a16="http://schemas.microsoft.com/office/drawing/2014/main" id="{1760BCF2-67ED-4182-BD7A-BB9C6D83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ANGEBOTSMARKT</a:t>
            </a:r>
          </a:p>
        </p:txBody>
      </p:sp>
      <p:sp>
        <p:nvSpPr>
          <p:cNvPr id="16" name="reality-stat-1">
            <a:extLst xmlns:a="http://schemas.openxmlformats.org/drawingml/2006/main">
              <a:ext uri="{FF2B5EF4-FFF2-40B4-BE49-F238E27FC236}">
                <a16:creationId xmlns:a16="http://schemas.microsoft.com/office/drawing/2014/main" id="{28ACE1E8-FC3F-452A-9096-9EA211AE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2026-Q1</a:t>
            </a:r>
          </a:p>
        </p:txBody>
      </p:sp>
      <p:sp>
        <p:nvSpPr>
          <p:cNvPr id="17" name="reality-body-1">
            <a:extLst xmlns:a="http://schemas.openxmlformats.org/drawingml/2006/main">
              <a:ext uri="{FF2B5EF4-FFF2-40B4-BE49-F238E27FC236}">
                <a16:creationId xmlns:a16="http://schemas.microsoft.com/office/drawing/2014/main" id="{E4F69F57-42E1-434E-9743-45EDE7E2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GREIX-Median plus Marktstreuung heutiger Inserate</a:t>
            </a:r>
          </a:p>
        </p:txBody>
      </p:sp>
      <p:sp>
        <p:nvSpPr>
          <p:cNvPr id="18" name="accent-2">
            <a:extLst xmlns:a="http://schemas.openxmlformats.org/drawingml/2006/main">
              <a:ext uri="{FF2B5EF4-FFF2-40B4-BE49-F238E27FC236}">
                <a16:creationId xmlns:a16="http://schemas.microsoft.com/office/drawing/2014/main" id="{609D948D-D3A1-4A59-AD8C-20504F75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762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9" name="reality-label-2">
            <a:extLst xmlns:a="http://schemas.openxmlformats.org/drawingml/2006/main">
              <a:ext uri="{FF2B5EF4-FFF2-40B4-BE49-F238E27FC236}">
                <a16:creationId xmlns:a16="http://schemas.microsoft.com/office/drawing/2014/main" id="{87AE13FF-99B5-465B-ADF0-1372DDDA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PERSÖNLICH</a:t>
            </a:r>
          </a:p>
        </p:txBody>
      </p:sp>
      <p:sp>
        <p:nvSpPr>
          <p:cNvPr id="20" name="reality-stat-2">
            <a:extLst xmlns:a="http://schemas.openxmlformats.org/drawingml/2006/main">
              <a:ext uri="{FF2B5EF4-FFF2-40B4-BE49-F238E27FC236}">
                <a16:creationId xmlns:a16="http://schemas.microsoft.com/office/drawing/2014/main" id="{E49F3B35-4F8F-4587-819B-681D03E7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43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Deine Miete</a:t>
            </a:r>
          </a:p>
        </p:txBody>
      </p:sp>
      <p:sp>
        <p:nvSpPr>
          <p:cNvPr id="21" name="reality-body-2">
            <a:extLst xmlns:a="http://schemas.openxmlformats.org/drawingml/2006/main">
              <a:ext uri="{FF2B5EF4-FFF2-40B4-BE49-F238E27FC236}">
                <a16:creationId xmlns:a16="http://schemas.microsoft.com/office/drawing/2014/main" id="{1D749FD9-2126-4183-8B50-8943098F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05250"/>
            <a:ext cx="3095625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Vertragsmiete, Fläche und Haushaltsnettoeinkommen</a:t>
            </a:r>
          </a:p>
        </p:txBody>
      </p:sp>
      <p:sp>
        <p:nvSpPr>
          <p:cNvPr id="22" name="hook-band">
            <a:extLst xmlns:a="http://schemas.openxmlformats.org/drawingml/2006/main">
              <a:ext uri="{FF2B5EF4-FFF2-40B4-BE49-F238E27FC236}">
                <a16:creationId xmlns:a16="http://schemas.microsoft.com/office/drawing/2014/main" id="{68495040-5D02-4BA2-923C-006DC676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11049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23" name="hook-copy">
            <a:extLst xmlns:a="http://schemas.openxmlformats.org/drawingml/2006/main">
              <a:ext uri="{FF2B5EF4-FFF2-40B4-BE49-F238E27FC236}">
                <a16:creationId xmlns:a16="http://schemas.microsoft.com/office/drawing/2014/main" id="{71BAF13C-DBC0-4963-973E-66F0EC08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10572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USP: Der Umzugsaufschlag verbindet die drei Realitäten – mit Datenstand, Markt-IQR und Modellband.</a:t>
            </a:r>
          </a:p>
        </p:txBody>
      </p:sp>
    </p:spTree>
    <p:extLst>
      <p:ext uri="{BB962C8B-B14F-4D97-AF65-F5344CB8AC3E}">
        <p14:creationId xmlns:p14="http://schemas.microsoft.com/office/powerpoint/2010/main" val="8512704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header-3">
            <a:extLst xmlns:a="http://schemas.openxmlformats.org/drawingml/2006/main">
              <a:ext uri="{FF2B5EF4-FFF2-40B4-BE49-F238E27FC236}">
                <a16:creationId xmlns:a16="http://schemas.microsoft.com/office/drawing/2014/main" id="{3349ACC1-86AB-4260-802A-9D804214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3">
            <a:extLst xmlns:a="http://schemas.openxmlformats.org/drawingml/2006/main">
              <a:ext uri="{FF2B5EF4-FFF2-40B4-BE49-F238E27FC236}">
                <a16:creationId xmlns:a16="http://schemas.microsoft.com/office/drawing/2014/main" id="{43F911F0-300C-42A2-A31B-A9DB55AE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3">
            <a:extLst xmlns:a="http://schemas.openxmlformats.org/drawingml/2006/main">
              <a:ext uri="{FF2B5EF4-FFF2-40B4-BE49-F238E27FC236}">
                <a16:creationId xmlns:a16="http://schemas.microsoft.com/office/drawing/2014/main" id="{F2C4DF9A-DA9A-4B44-ACC7-8E11DD0D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D926BDD7-3534-460D-AA46-41C45CE8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Q · Der USP ist die Kombination – mit klaren Gates</a:t>
            </a:r>
          </a:p>
        </p:txBody>
      </p:sp>
      <p:sp>
        <p:nvSpPr>
          <p:cNvPr id="5" name="source-3">
            <a:extLst xmlns:a="http://schemas.openxmlformats.org/drawingml/2006/main">
              <a:ext uri="{FF2B5EF4-FFF2-40B4-BE49-F238E27FC236}">
                <a16:creationId xmlns:a16="http://schemas.microsoft.com/office/drawing/2014/main" id="{6D1E651A-8D24-4BDA-BAAE-7F7A733A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Q-Gates vor dem finalen Test: ≥2 Mio. Zeilen · ≥7 Kandidaten inkl. Baseline · Spatial Holdout · ≥15 % MAE-Gewinn.</a:t>
            </a:r>
          </a:p>
        </p:txBody>
      </p:sp>
      <p:sp>
        <p:nvSpPr>
          <p:cNvPr id="6" name="page-3">
            <a:extLst xmlns:a="http://schemas.openxmlformats.org/drawingml/2006/main">
              <a:ext uri="{FF2B5EF4-FFF2-40B4-BE49-F238E27FC236}">
                <a16:creationId xmlns:a16="http://schemas.microsoft.com/office/drawing/2014/main" id="{48F37945-AAEE-4074-A7DA-6720A7AE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7" name="competitor-lead">
            <a:extLst xmlns:a="http://schemas.openxmlformats.org/drawingml/2006/main">
              <a:ext uri="{FF2B5EF4-FFF2-40B4-BE49-F238E27FC236}">
                <a16:creationId xmlns:a16="http://schemas.microsoft.com/office/drawing/2014/main" id="{93A2B095-BBFF-4A39-A18E-4C4F2A54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1049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Kein geprüftes Angebot verbindet Bestand, aktuellen Markt, persönliche Belastung, Unsicherheit und offene ML-Methode.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457200" y="2133600"/>
          <a:ext xmlns:a="http://schemas.openxmlformats.org/drawingml/2006/main" cx="11049000" cy="35433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724150"/>
                <a:gridCol w="1333500"/>
                <a:gridCol w="1333500"/>
                <a:gridCol w="1485900"/>
                <a:gridCol w="1809750"/>
                <a:gridCol w="2362200"/>
              </a:tblGrid>
              <a:tr h="5905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Angebot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Bestand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aktuell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persönlich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Unsicherheit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offene ML-Methode</a:t>
                      </a:r>
                    </a:p>
                  </a:txBody>
                  <a:tcPr marL="95250" marR="95250" marT="95250" marB="95250">
                    <a:solidFill>
                      <a:srgbClr val="10213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Destatis-Vergleich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Immowelt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Immolyze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unklar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Teilweise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nicht offen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Kommunale Mietspiegel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Nein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Ja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138"/>
                          </a:solidFill>
                        </a:rPr>
                        <a:t>unterschiedlich</a:t>
                      </a:r>
                    </a:p>
                  </a:txBody>
                  <a:tcPr marL="95250" marR="9525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MietCheck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F7B62"/>
                          </a:solidFill>
                        </a:rPr>
                        <a:t>Ja</a:t>
                      </a:r>
                    </a:p>
                  </a:txBody>
                  <a:tcPr marL="95250" marR="95250" marT="95250" marB="95250">
                    <a:solidFill>
                      <a:srgbClr val="DDF5E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97479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header-4">
            <a:extLst xmlns:a="http://schemas.openxmlformats.org/drawingml/2006/main">
              <a:ext uri="{FF2B5EF4-FFF2-40B4-BE49-F238E27FC236}">
                <a16:creationId xmlns:a16="http://schemas.microsoft.com/office/drawing/2014/main" id="{FE2DFF40-1733-4D8F-BFFA-7CDFFE75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4">
            <a:extLst xmlns:a="http://schemas.openxmlformats.org/drawingml/2006/main">
              <a:ext uri="{FF2B5EF4-FFF2-40B4-BE49-F238E27FC236}">
                <a16:creationId xmlns:a16="http://schemas.microsoft.com/office/drawing/2014/main" id="{45B1232D-4AF4-4EB8-80EE-FE18AE03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4">
            <a:extLst xmlns:a="http://schemas.openxmlformats.org/drawingml/2006/main">
              <a:ext uri="{FF2B5EF4-FFF2-40B4-BE49-F238E27FC236}">
                <a16:creationId xmlns:a16="http://schemas.microsoft.com/office/drawing/2014/main" id="{6E886B2A-B946-49AB-BF05-FEF7E294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4">
            <a:extLst xmlns:a="http://schemas.openxmlformats.org/drawingml/2006/main">
              <a:ext uri="{FF2B5EF4-FFF2-40B4-BE49-F238E27FC236}">
                <a16:creationId xmlns:a16="http://schemas.microsoft.com/office/drawing/2014/main" id="{6A54FC6A-69C5-44E3-86AF-F350F72A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U · 2,06 Mio. Rasterwerte – mit prüfbarer Herkunft</a:t>
            </a:r>
          </a:p>
        </p:txBody>
      </p:sp>
      <p:sp>
        <p:nvSpPr>
          <p:cNvPr id="5" name="source-4">
            <a:extLst xmlns:a="http://schemas.openxmlformats.org/drawingml/2006/main">
              <a:ext uri="{FF2B5EF4-FFF2-40B4-BE49-F238E27FC236}">
                <a16:creationId xmlns:a16="http://schemas.microsoft.com/office/drawing/2014/main" id="{02A83C39-71E7-4AF8-820C-A1CEF461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Quellen: Statistische Ämter des Bundes und der Länder, Zensus 2022; Kiel Institut / VALUE; eigene Verarbeitung.</a:t>
            </a:r>
          </a:p>
        </p:txBody>
      </p:sp>
      <p:sp>
        <p:nvSpPr>
          <p:cNvPr id="6" name="page-4">
            <a:extLst xmlns:a="http://schemas.openxmlformats.org/drawingml/2006/main">
              <a:ext uri="{FF2B5EF4-FFF2-40B4-BE49-F238E27FC236}">
                <a16:creationId xmlns:a16="http://schemas.microsoft.com/office/drawing/2014/main" id="{F869F740-D3B4-4B97-9CB7-34817E90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7" name="data-lead">
            <a:extLst xmlns:a="http://schemas.openxmlformats.org/drawingml/2006/main">
              <a:ext uri="{FF2B5EF4-FFF2-40B4-BE49-F238E27FC236}">
                <a16:creationId xmlns:a16="http://schemas.microsoft.com/office/drawing/2014/main" id="{B4271CAE-9283-43AA-90A6-AB4A3297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1049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Sieben Zensusprodukte bilden die ML-Basis; GREIX bleibt zeitlich und methodisch getrennt.</a:t>
            </a:r>
          </a:p>
        </p:txBody>
      </p:sp>
      <p:sp>
        <p:nvSpPr>
          <p:cNvPr id="8" name="data-panel-0">
            <a:extLst xmlns:a="http://schemas.openxmlformats.org/drawingml/2006/main">
              <a:ext uri="{FF2B5EF4-FFF2-40B4-BE49-F238E27FC236}">
                <a16:creationId xmlns:a16="http://schemas.microsoft.com/office/drawing/2014/main" id="{1A7A264D-3017-4E57-A9D9-ED7AA064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data-stat-0">
            <a:extLst xmlns:a="http://schemas.openxmlformats.org/drawingml/2006/main">
              <a:ext uri="{FF2B5EF4-FFF2-40B4-BE49-F238E27FC236}">
                <a16:creationId xmlns:a16="http://schemas.microsoft.com/office/drawing/2014/main" id="{32587D6D-F09F-409E-9CA3-4E90B2EE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2,06 Mio.</a:t>
            </a:r>
          </a:p>
        </p:txBody>
      </p:sp>
      <p:sp>
        <p:nvSpPr>
          <p:cNvPr id="10" name="data-label-0">
            <a:extLst xmlns:a="http://schemas.openxmlformats.org/drawingml/2006/main">
              <a:ext uri="{FF2B5EF4-FFF2-40B4-BE49-F238E27FC236}">
                <a16:creationId xmlns:a16="http://schemas.microsoft.com/office/drawing/2014/main" id="{4A5682B2-8B7B-4D08-96C8-DD51B669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Modellzeilen</a:t>
            </a:r>
          </a:p>
        </p:txBody>
      </p:sp>
      <p:sp>
        <p:nvSpPr>
          <p:cNvPr id="11" name="data-detail-0">
            <a:extLst xmlns:a="http://schemas.openxmlformats.org/drawingml/2006/main">
              <a:ext uri="{FF2B5EF4-FFF2-40B4-BE49-F238E27FC236}">
                <a16:creationId xmlns:a16="http://schemas.microsoft.com/office/drawing/2014/main" id="{14D1CEDA-E73D-4630-9195-FA0745FD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Ziel × Baualter × Wohnungsgröße</a:t>
            </a:r>
          </a:p>
        </p:txBody>
      </p:sp>
      <p:sp>
        <p:nvSpPr>
          <p:cNvPr id="12" name="data-panel-1">
            <a:extLst xmlns:a="http://schemas.openxmlformats.org/drawingml/2006/main">
              <a:ext uri="{FF2B5EF4-FFF2-40B4-BE49-F238E27FC236}">
                <a16:creationId xmlns:a16="http://schemas.microsoft.com/office/drawing/2014/main" id="{F10AEE68-84F0-4365-9278-90327CB3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3" name="data-stat-1">
            <a:extLst xmlns:a="http://schemas.openxmlformats.org/drawingml/2006/main">
              <a:ext uri="{FF2B5EF4-FFF2-40B4-BE49-F238E27FC236}">
                <a16:creationId xmlns:a16="http://schemas.microsoft.com/office/drawing/2014/main" id="{A4A6871E-A7CB-4F82-81A4-A88742D1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1,18 Mio.</a:t>
            </a:r>
          </a:p>
        </p:txBody>
      </p:sp>
      <p:sp>
        <p:nvSpPr>
          <p:cNvPr id="14" name="data-label-1">
            <a:extLst xmlns:a="http://schemas.openxmlformats.org/drawingml/2006/main">
              <a:ext uri="{FF2B5EF4-FFF2-40B4-BE49-F238E27FC236}">
                <a16:creationId xmlns:a16="http://schemas.microsoft.com/office/drawing/2014/main" id="{3CF622A1-9CA1-4097-B131-8FBFA091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eindeutige Zellen</a:t>
            </a:r>
          </a:p>
        </p:txBody>
      </p:sp>
      <p:sp>
        <p:nvSpPr>
          <p:cNvPr id="15" name="data-detail-1">
            <a:extLst xmlns:a="http://schemas.openxmlformats.org/drawingml/2006/main">
              <a:ext uri="{FF2B5EF4-FFF2-40B4-BE49-F238E27FC236}">
                <a16:creationId xmlns:a16="http://schemas.microsoft.com/office/drawing/2014/main" id="{0FE048F3-49E8-4E3A-B46C-4BEC1355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100-m-Gitter mit räumlicher Struktur</a:t>
            </a:r>
          </a:p>
        </p:txBody>
      </p:sp>
      <p:sp>
        <p:nvSpPr>
          <p:cNvPr id="16" name="data-panel-2">
            <a:extLst xmlns:a="http://schemas.openxmlformats.org/drawingml/2006/main">
              <a:ext uri="{FF2B5EF4-FFF2-40B4-BE49-F238E27FC236}">
                <a16:creationId xmlns:a16="http://schemas.microsoft.com/office/drawing/2014/main" id="{BC04BDC7-A819-4F3B-93E9-3CF62223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34480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data-stat-2">
            <a:extLst xmlns:a="http://schemas.openxmlformats.org/drawingml/2006/main">
              <a:ext uri="{FF2B5EF4-FFF2-40B4-BE49-F238E27FC236}">
                <a16:creationId xmlns:a16="http://schemas.microsoft.com/office/drawing/2014/main" id="{9CF2B0B9-261F-4B0E-B36B-F5B96D49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7175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2026-Q1</a:t>
            </a:r>
          </a:p>
        </p:txBody>
      </p:sp>
      <p:sp>
        <p:nvSpPr>
          <p:cNvPr id="18" name="data-label-2">
            <a:extLst xmlns:a="http://schemas.openxmlformats.org/drawingml/2006/main">
              <a:ext uri="{FF2B5EF4-FFF2-40B4-BE49-F238E27FC236}">
                <a16:creationId xmlns:a16="http://schemas.microsoft.com/office/drawing/2014/main" id="{595E184D-7D4E-4DEC-B4F9-4D4FE44A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4805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aktuelle Referenz</a:t>
            </a:r>
          </a:p>
        </p:txBody>
      </p:sp>
      <p:sp>
        <p:nvSpPr>
          <p:cNvPr id="19" name="data-detail-2">
            <a:extLst xmlns:a="http://schemas.openxmlformats.org/drawingml/2006/main">
              <a:ext uri="{FF2B5EF4-FFF2-40B4-BE49-F238E27FC236}">
                <a16:creationId xmlns:a16="http://schemas.microsoft.com/office/drawing/2014/main" id="{3260DD6A-99B4-49F8-8ABF-D7A90246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05250"/>
            <a:ext cx="2952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37 lokale Märkte + Deutschland</a:t>
            </a:r>
          </a:p>
        </p:txBody>
      </p:sp>
      <p:cxnSp>
        <p:nvCxnSpPr>
          <p:cNvPr id="84" name="provenance-line"/>
          <p:cNvCxnSpPr/>
          <p:nvPr/>
        </p:nvCxnSpPr>
        <p:spPr>
          <a:xfrm xmlns:a="http://schemas.openxmlformats.org/drawingml/2006/main">
            <a:off x="704850" y="5391150"/>
            <a:ext cx="10287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21" name="prov-1">
            <a:extLst xmlns:a="http://schemas.openxmlformats.org/drawingml/2006/main">
              <a:ext uri="{FF2B5EF4-FFF2-40B4-BE49-F238E27FC236}">
                <a16:creationId xmlns:a16="http://schemas.microsoft.com/office/drawing/2014/main" id="{566414B1-3C05-424B-99DC-3135B03C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offizielle URLs</a:t>
            </a:r>
          </a:p>
        </p:txBody>
      </p:sp>
      <p:sp>
        <p:nvSpPr>
          <p:cNvPr id="22" name="prov-2">
            <a:extLst xmlns:a="http://schemas.openxmlformats.org/drawingml/2006/main">
              <a:ext uri="{FF2B5EF4-FFF2-40B4-BE49-F238E27FC236}">
                <a16:creationId xmlns:a16="http://schemas.microsoft.com/office/drawing/2014/main" id="{A95C49A8-946A-4AA7-908C-82A7832F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SHA-256-Hashes</a:t>
            </a:r>
          </a:p>
        </p:txBody>
      </p:sp>
      <p:sp>
        <p:nvSpPr>
          <p:cNvPr id="23" name="prov-3">
            <a:extLst xmlns:a="http://schemas.openxmlformats.org/drawingml/2006/main">
              <a:ext uri="{FF2B5EF4-FFF2-40B4-BE49-F238E27FC236}">
                <a16:creationId xmlns:a16="http://schemas.microsoft.com/office/drawing/2014/main" id="{18C1085D-0815-4AAD-BE1A-24882167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562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Missingness &lt; 1 %</a:t>
            </a:r>
          </a:p>
        </p:txBody>
      </p:sp>
      <p:sp>
        <p:nvSpPr>
          <p:cNvPr id="24" name="prov-4">
            <a:extLst xmlns:a="http://schemas.openxmlformats.org/drawingml/2006/main">
              <a:ext uri="{FF2B5EF4-FFF2-40B4-BE49-F238E27FC236}">
                <a16:creationId xmlns:a16="http://schemas.microsoft.com/office/drawing/2014/main" id="{C40CFC0B-EF10-4FF2-B860-6686B186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56260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reproduzierbarer Join</a:t>
            </a:r>
          </a:p>
        </p:txBody>
      </p:sp>
    </p:spTree>
    <p:extLst>
      <p:ext uri="{BB962C8B-B14F-4D97-AF65-F5344CB8AC3E}">
        <p14:creationId xmlns:p14="http://schemas.microsoft.com/office/powerpoint/2010/main" val="10109527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header-5">
            <a:extLst xmlns:a="http://schemas.openxmlformats.org/drawingml/2006/main">
              <a:ext uri="{FF2B5EF4-FFF2-40B4-BE49-F238E27FC236}">
                <a16:creationId xmlns:a16="http://schemas.microsoft.com/office/drawing/2014/main" id="{0982890D-C06F-4D1D-9BDF-2CB4C880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5">
            <a:extLst xmlns:a="http://schemas.openxmlformats.org/drawingml/2006/main">
              <a:ext uri="{FF2B5EF4-FFF2-40B4-BE49-F238E27FC236}">
                <a16:creationId xmlns:a16="http://schemas.microsoft.com/office/drawing/2014/main" id="{292AF08D-5ABF-4932-B5A6-AAC7FBE1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5">
            <a:extLst xmlns:a="http://schemas.openxmlformats.org/drawingml/2006/main">
              <a:ext uri="{FF2B5EF4-FFF2-40B4-BE49-F238E27FC236}">
                <a16:creationId xmlns:a16="http://schemas.microsoft.com/office/drawing/2014/main" id="{CBDE695F-2DBD-4E72-8DD3-75E98CD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5">
            <a:extLst xmlns:a="http://schemas.openxmlformats.org/drawingml/2006/main">
              <a:ext uri="{FF2B5EF4-FFF2-40B4-BE49-F238E27FC236}">
                <a16:creationId xmlns:a16="http://schemas.microsoft.com/office/drawing/2014/main" id="{F9602C05-8B21-4CCA-B177-DFDD9828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U · StandardScaler: fit nur im Trainingsfold</a:t>
            </a:r>
          </a:p>
        </p:txBody>
      </p:sp>
      <p:sp>
        <p:nvSpPr>
          <p:cNvPr id="5" name="source-5">
            <a:extLst xmlns:a="http://schemas.openxmlformats.org/drawingml/2006/main">
              <a:ext uri="{FF2B5EF4-FFF2-40B4-BE49-F238E27FC236}">
                <a16:creationId xmlns:a16="http://schemas.microsoft.com/office/drawing/2014/main" id="{23A5CF72-0F63-43FA-8320-B3E77875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5">
            <a:extLst xmlns:a="http://schemas.openxmlformats.org/drawingml/2006/main">
              <a:ext uri="{FF2B5EF4-FFF2-40B4-BE49-F238E27FC236}">
                <a16:creationId xmlns:a16="http://schemas.microsoft.com/office/drawing/2014/main" id="{257CDD34-AE7C-4E6E-8511-91959DE9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sp>
        <p:nvSpPr>
          <p:cNvPr id="7" name="qua-lead">
            <a:extLst xmlns:a="http://schemas.openxmlformats.org/drawingml/2006/main">
              <a:ext uri="{FF2B5EF4-FFF2-40B4-BE49-F238E27FC236}">
                <a16:creationId xmlns:a16="http://schemas.microsoft.com/office/drawing/2014/main" id="{119894A2-0B4E-45A3-B1FD-E4BAD4C2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Große Einheiten dürfen Ridge, SVM und MLP nicht dominieren – und der Scaler darf keine Testinformation sehen.</a:t>
            </a:r>
          </a:p>
        </p:txBody>
      </p:sp>
      <p:cxnSp>
        <p:nvCxnSpPr>
          <p:cNvPr id="62" name="qua-line"/>
          <p:cNvCxnSpPr/>
          <p:nvPr/>
        </p:nvCxnSpPr>
        <p:spPr>
          <a:xfrm xmlns:a="http://schemas.openxmlformats.org/drawingml/2006/main">
            <a:off x="819150" y="3105150"/>
            <a:ext cx="100012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6E1DF"/>
            </a:solidFill>
            <a:prstDash val="solid"/>
          </a:ln>
        </p:spPr>
      </p:cxnSp>
      <p:sp>
        <p:nvSpPr>
          <p:cNvPr id="9" name="qua-node-0">
            <a:extLst xmlns:a="http://schemas.openxmlformats.org/drawingml/2006/main">
              <a:ext uri="{FF2B5EF4-FFF2-40B4-BE49-F238E27FC236}">
                <a16:creationId xmlns:a16="http://schemas.microsoft.com/office/drawing/2014/main" id="{CCA637B2-C571-47AE-9FA1-5F46DE76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0" name="qua-code-0">
            <a:extLst xmlns:a="http://schemas.openxmlformats.org/drawingml/2006/main">
              <a:ext uri="{FF2B5EF4-FFF2-40B4-BE49-F238E27FC236}">
                <a16:creationId xmlns:a16="http://schemas.microsoft.com/office/drawing/2014/main" id="{386E887F-1A73-401C-8945-0A777034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RAW</a:t>
            </a:r>
          </a:p>
        </p:txBody>
      </p:sp>
      <p:sp>
        <p:nvSpPr>
          <p:cNvPr id="11" name="qua-title-0">
            <a:extLst xmlns:a="http://schemas.openxmlformats.org/drawingml/2006/main">
              <a:ext uri="{FF2B5EF4-FFF2-40B4-BE49-F238E27FC236}">
                <a16:creationId xmlns:a16="http://schemas.microsoft.com/office/drawing/2014/main" id="{E7DC3A47-9FF9-4A56-937E-4123E406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Rohdaten</a:t>
            </a:r>
          </a:p>
        </p:txBody>
      </p:sp>
      <p:sp>
        <p:nvSpPr>
          <p:cNvPr id="12" name="qua-body-0">
            <a:extLst xmlns:a="http://schemas.openxmlformats.org/drawingml/2006/main">
              <a:ext uri="{FF2B5EF4-FFF2-40B4-BE49-F238E27FC236}">
                <a16:creationId xmlns:a16="http://schemas.microsoft.com/office/drawing/2014/main" id="{24A5C344-F5B0-4C0D-8C6A-5F95E43E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Meter, Anzahl,
Prozent</a:t>
            </a:r>
          </a:p>
        </p:txBody>
      </p:sp>
      <p:sp>
        <p:nvSpPr>
          <p:cNvPr id="13" name="qua-node-1">
            <a:extLst xmlns:a="http://schemas.openxmlformats.org/drawingml/2006/main">
              <a:ext uri="{FF2B5EF4-FFF2-40B4-BE49-F238E27FC236}">
                <a16:creationId xmlns:a16="http://schemas.microsoft.com/office/drawing/2014/main" id="{83265EE9-2C6C-4EF5-AF65-9D05F0CC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4" name="qua-code-1">
            <a:extLst xmlns:a="http://schemas.openxmlformats.org/drawingml/2006/main">
              <a:ext uri="{FF2B5EF4-FFF2-40B4-BE49-F238E27FC236}">
                <a16:creationId xmlns:a16="http://schemas.microsoft.com/office/drawing/2014/main" id="{42C9F2BC-6922-499E-A9D2-A54B0308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I</a:t>
            </a:r>
          </a:p>
        </p:txBody>
      </p:sp>
      <p:sp>
        <p:nvSpPr>
          <p:cNvPr id="15" name="qua-title-1">
            <a:extLst xmlns:a="http://schemas.openxmlformats.org/drawingml/2006/main">
              <a:ext uri="{FF2B5EF4-FFF2-40B4-BE49-F238E27FC236}">
                <a16:creationId xmlns:a16="http://schemas.microsoft.com/office/drawing/2014/main" id="{B032892B-D912-45FF-A3E5-170EADC0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Imputation</a:t>
            </a:r>
          </a:p>
        </p:txBody>
      </p:sp>
      <p:sp>
        <p:nvSpPr>
          <p:cNvPr id="16" name="qua-body-1">
            <a:extLst xmlns:a="http://schemas.openxmlformats.org/drawingml/2006/main">
              <a:ext uri="{FF2B5EF4-FFF2-40B4-BE49-F238E27FC236}">
                <a16:creationId xmlns:a16="http://schemas.microsoft.com/office/drawing/2014/main" id="{626CD865-394D-4751-AD8D-EBE13C6B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Median nur im
Trainingsfold</a:t>
            </a:r>
          </a:p>
        </p:txBody>
      </p:sp>
      <p:sp>
        <p:nvSpPr>
          <p:cNvPr id="17" name="qua-node-2">
            <a:extLst xmlns:a="http://schemas.openxmlformats.org/drawingml/2006/main">
              <a:ext uri="{FF2B5EF4-FFF2-40B4-BE49-F238E27FC236}">
                <a16:creationId xmlns:a16="http://schemas.microsoft.com/office/drawing/2014/main" id="{9D292083-C59F-4B94-ACF0-4BD043D1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8" name="qua-code-2">
            <a:extLst xmlns:a="http://schemas.openxmlformats.org/drawingml/2006/main">
              <a:ext uri="{FF2B5EF4-FFF2-40B4-BE49-F238E27FC236}">
                <a16:creationId xmlns:a16="http://schemas.microsoft.com/office/drawing/2014/main" id="{E8F386BA-267D-4CC6-804C-013F0307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FIT</a:t>
            </a:r>
          </a:p>
        </p:txBody>
      </p:sp>
      <p:sp>
        <p:nvSpPr>
          <p:cNvPr id="19" name="qua-title-2">
            <a:extLst xmlns:a="http://schemas.openxmlformats.org/drawingml/2006/main">
              <a:ext uri="{FF2B5EF4-FFF2-40B4-BE49-F238E27FC236}">
                <a16:creationId xmlns:a16="http://schemas.microsoft.com/office/drawing/2014/main" id="{69AD4DC1-3330-4778-8F2B-21D382EF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Scaler fit</a:t>
            </a:r>
          </a:p>
        </p:txBody>
      </p:sp>
      <p:sp>
        <p:nvSpPr>
          <p:cNvPr id="20" name="qua-body-2">
            <a:extLst xmlns:a="http://schemas.openxmlformats.org/drawingml/2006/main">
              <a:ext uri="{FF2B5EF4-FFF2-40B4-BE49-F238E27FC236}">
                <a16:creationId xmlns:a16="http://schemas.microsoft.com/office/drawing/2014/main" id="{A6AEB6BC-6A4D-411B-9225-ADD3467D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μtrain und
σtrain</a:t>
            </a:r>
          </a:p>
        </p:txBody>
      </p:sp>
      <p:sp>
        <p:nvSpPr>
          <p:cNvPr id="21" name="qua-node-3">
            <a:extLst xmlns:a="http://schemas.openxmlformats.org/drawingml/2006/main">
              <a:ext uri="{FF2B5EF4-FFF2-40B4-BE49-F238E27FC236}">
                <a16:creationId xmlns:a16="http://schemas.microsoft.com/office/drawing/2014/main" id="{B6F042AD-C67E-4ED8-BE66-58CF9052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22" name="qua-code-3">
            <a:extLst xmlns:a="http://schemas.openxmlformats.org/drawingml/2006/main">
              <a:ext uri="{FF2B5EF4-FFF2-40B4-BE49-F238E27FC236}">
                <a16:creationId xmlns:a16="http://schemas.microsoft.com/office/drawing/2014/main" id="{F8113B7F-41C8-4441-A486-1F1E139F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z</a:t>
            </a:r>
          </a:p>
        </p:txBody>
      </p:sp>
      <p:sp>
        <p:nvSpPr>
          <p:cNvPr id="23" name="qua-title-3">
            <a:extLst xmlns:a="http://schemas.openxmlformats.org/drawingml/2006/main">
              <a:ext uri="{FF2B5EF4-FFF2-40B4-BE49-F238E27FC236}">
                <a16:creationId xmlns:a16="http://schemas.microsoft.com/office/drawing/2014/main" id="{7ADA6DC2-FCAC-46D4-AA40-F64FF016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Transformation</a:t>
            </a:r>
          </a:p>
        </p:txBody>
      </p:sp>
      <p:sp>
        <p:nvSpPr>
          <p:cNvPr id="24" name="qua-body-3">
            <a:extLst xmlns:a="http://schemas.openxmlformats.org/drawingml/2006/main">
              <a:ext uri="{FF2B5EF4-FFF2-40B4-BE49-F238E27FC236}">
                <a16:creationId xmlns:a16="http://schemas.microsoft.com/office/drawing/2014/main" id="{C1D2488C-2701-4595-BE73-43CDC6C3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z = (x−μ) / σ</a:t>
            </a:r>
          </a:p>
        </p:txBody>
      </p:sp>
      <p:sp>
        <p:nvSpPr>
          <p:cNvPr id="25" name="qua-node-4">
            <a:extLst xmlns:a="http://schemas.openxmlformats.org/drawingml/2006/main">
              <a:ext uri="{FF2B5EF4-FFF2-40B4-BE49-F238E27FC236}">
                <a16:creationId xmlns:a16="http://schemas.microsoft.com/office/drawing/2014/main" id="{4D0CE753-FC3D-4F0C-8600-F18BC022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26" name="qua-code-4">
            <a:extLst xmlns:a="http://schemas.openxmlformats.org/drawingml/2006/main">
              <a:ext uri="{FF2B5EF4-FFF2-40B4-BE49-F238E27FC236}">
                <a16:creationId xmlns:a16="http://schemas.microsoft.com/office/drawing/2014/main" id="{E683A53B-007D-462E-AC3E-DEE2EE01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≈0</a:t>
            </a:r>
          </a:p>
        </p:txBody>
      </p:sp>
      <p:sp>
        <p:nvSpPr>
          <p:cNvPr id="27" name="qua-title-4">
            <a:extLst xmlns:a="http://schemas.openxmlformats.org/drawingml/2006/main">
              <a:ext uri="{FF2B5EF4-FFF2-40B4-BE49-F238E27FC236}">
                <a16:creationId xmlns:a16="http://schemas.microsoft.com/office/drawing/2014/main" id="{38F3DB8E-4363-4379-B1CB-4E4E4341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Mittelwert</a:t>
            </a:r>
          </a:p>
        </p:txBody>
      </p:sp>
      <p:sp>
        <p:nvSpPr>
          <p:cNvPr id="28" name="qua-body-4">
            <a:extLst xmlns:a="http://schemas.openxmlformats.org/drawingml/2006/main">
              <a:ext uri="{FF2B5EF4-FFF2-40B4-BE49-F238E27FC236}">
                <a16:creationId xmlns:a16="http://schemas.microsoft.com/office/drawing/2014/main" id="{224AE07F-B093-490E-A948-39DB0E1B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skalierte Features
um 0</a:t>
            </a:r>
          </a:p>
        </p:txBody>
      </p:sp>
      <p:sp>
        <p:nvSpPr>
          <p:cNvPr id="29" name="qua-node-5">
            <a:extLst xmlns:a="http://schemas.openxmlformats.org/drawingml/2006/main">
              <a:ext uri="{FF2B5EF4-FFF2-40B4-BE49-F238E27FC236}">
                <a16:creationId xmlns:a16="http://schemas.microsoft.com/office/drawing/2014/main" id="{270C27A3-C902-4AFD-AAC2-5BDFEC15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</p:sp>
      <p:sp>
        <p:nvSpPr>
          <p:cNvPr id="30" name="qua-code-5">
            <a:extLst xmlns:a="http://schemas.openxmlformats.org/drawingml/2006/main">
              <a:ext uri="{FF2B5EF4-FFF2-40B4-BE49-F238E27FC236}">
                <a16:creationId xmlns:a16="http://schemas.microsoft.com/office/drawing/2014/main" id="{FCC4EF4A-8512-48A3-8831-9E061E81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≈1</a:t>
            </a:r>
          </a:p>
        </p:txBody>
      </p:sp>
      <p:sp>
        <p:nvSpPr>
          <p:cNvPr id="31" name="qua-title-5">
            <a:extLst xmlns:a="http://schemas.openxmlformats.org/drawingml/2006/main">
              <a:ext uri="{FF2B5EF4-FFF2-40B4-BE49-F238E27FC236}">
                <a16:creationId xmlns:a16="http://schemas.microsoft.com/office/drawing/2014/main" id="{36C77C3F-FA64-4A9B-9F9B-FFDC7A47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Streuung</a:t>
            </a:r>
          </a:p>
        </p:txBody>
      </p:sp>
      <p:sp>
        <p:nvSpPr>
          <p:cNvPr id="32" name="qua-body-5">
            <a:extLst xmlns:a="http://schemas.openxmlformats.org/drawingml/2006/main">
              <a:ext uri="{FF2B5EF4-FFF2-40B4-BE49-F238E27FC236}">
                <a16:creationId xmlns:a16="http://schemas.microsoft.com/office/drawing/2014/main" id="{4B36DA70-1D7C-4624-AE0C-28928805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Standardabw.
um 1</a:t>
            </a:r>
          </a:p>
        </p:txBody>
      </p:sp>
      <p:sp>
        <p:nvSpPr>
          <p:cNvPr id="33" name="qua-node-6">
            <a:extLst xmlns:a="http://schemas.openxmlformats.org/drawingml/2006/main">
              <a:ext uri="{FF2B5EF4-FFF2-40B4-BE49-F238E27FC236}">
                <a16:creationId xmlns:a16="http://schemas.microsoft.com/office/drawing/2014/main" id="{B9AD47CB-300D-4477-B3AF-1F1C6054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14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</p:sp>
      <p:sp>
        <p:nvSpPr>
          <p:cNvPr id="34" name="qua-code-6">
            <a:extLst xmlns:a="http://schemas.openxmlformats.org/drawingml/2006/main">
              <a:ext uri="{FF2B5EF4-FFF2-40B4-BE49-F238E27FC236}">
                <a16:creationId xmlns:a16="http://schemas.microsoft.com/office/drawing/2014/main" id="{38370EE2-D8F6-4F77-B860-D5C69DA3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81325"/>
            <a:ext cx="381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TREE</a:t>
            </a:r>
          </a:p>
        </p:txBody>
      </p:sp>
      <p:sp>
        <p:nvSpPr>
          <p:cNvPr id="35" name="qua-title-6">
            <a:extLst xmlns:a="http://schemas.openxmlformats.org/drawingml/2006/main">
              <a:ext uri="{FF2B5EF4-FFF2-40B4-BE49-F238E27FC236}">
                <a16:creationId xmlns:a16="http://schemas.microsoft.com/office/drawing/2014/main" id="{431DEE9C-2598-4628-9CF7-2B9455C7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37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Ausnahme</a:t>
            </a:r>
          </a:p>
        </p:txBody>
      </p:sp>
      <p:sp>
        <p:nvSpPr>
          <p:cNvPr id="36" name="qua-body-6">
            <a:extLst xmlns:a="http://schemas.openxmlformats.org/drawingml/2006/main">
              <a:ext uri="{FF2B5EF4-FFF2-40B4-BE49-F238E27FC236}">
                <a16:creationId xmlns:a16="http://schemas.microsoft.com/office/drawing/2014/main" id="{F46B16DE-5F66-4D44-8247-94C25B9D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38600"/>
            <a:ext cx="1485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Bäume brauchen
keinen Scaler</a:t>
            </a:r>
          </a:p>
        </p:txBody>
      </p:sp>
      <p:sp>
        <p:nvSpPr>
          <p:cNvPr id="37" name="qua-proof">
            <a:extLst xmlns:a="http://schemas.openxmlformats.org/drawingml/2006/main">
              <a:ext uri="{FF2B5EF4-FFF2-40B4-BE49-F238E27FC236}">
                <a16:creationId xmlns:a16="http://schemas.microsoft.com/office/drawing/2014/main" id="{79C01114-5798-4A12-A02C-0B4D3007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F"/>
          </a:solidFill>
          <a:ln xmlns:a="http://schemas.openxmlformats.org/drawingml/2006/main" w="0">
            <a:solidFill>
              <a:srgbClr val="E8EDFF"/>
            </a:solidFill>
            <a:prstDash val="solid"/>
          </a:ln>
        </p:spPr>
      </p:sp>
      <p:sp>
        <p:nvSpPr>
          <p:cNvPr id="38" name="qua-proof-text">
            <a:extLst xmlns:a="http://schemas.openxmlformats.org/drawingml/2006/main">
              <a:ext uri="{FF2B5EF4-FFF2-40B4-BE49-F238E27FC236}">
                <a16:creationId xmlns:a16="http://schemas.microsoft.com/office/drawing/2014/main" id="{BCC6D296-7FE5-4A6A-B02E-6CF0F2B1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19725"/>
            <a:ext cx="8801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Pipeline: Imputer → StandardScaler → Ridge / LinearSVR / RBF-SVR / MLP · kein Leakage</a:t>
            </a:r>
          </a:p>
        </p:txBody>
      </p:sp>
    </p:spTree>
    <p:extLst>
      <p:ext uri="{BB962C8B-B14F-4D97-AF65-F5344CB8AC3E}">
        <p14:creationId xmlns:p14="http://schemas.microsoft.com/office/powerpoint/2010/main" val="11237052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header-6">
            <a:extLst xmlns:a="http://schemas.openxmlformats.org/drawingml/2006/main">
              <a:ext uri="{FF2B5EF4-FFF2-40B4-BE49-F238E27FC236}">
                <a16:creationId xmlns:a16="http://schemas.microsoft.com/office/drawing/2014/main" id="{0201AF3F-D560-434C-B5E1-22BF718D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6">
            <a:extLst xmlns:a="http://schemas.openxmlformats.org/drawingml/2006/main">
              <a:ext uri="{FF2B5EF4-FFF2-40B4-BE49-F238E27FC236}">
                <a16:creationId xmlns:a16="http://schemas.microsoft.com/office/drawing/2014/main" id="{CBDCB447-4CC3-4C6C-8CAB-DF21C980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6">
            <a:extLst xmlns:a="http://schemas.openxmlformats.org/drawingml/2006/main">
              <a:ext uri="{FF2B5EF4-FFF2-40B4-BE49-F238E27FC236}">
                <a16:creationId xmlns:a16="http://schemas.microsoft.com/office/drawing/2014/main" id="{8F3C3909-1F9E-49BE-A431-2F4553A8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6">
            <a:extLst xmlns:a="http://schemas.openxmlformats.org/drawingml/2006/main">
              <a:ext uri="{FF2B5EF4-FFF2-40B4-BE49-F238E27FC236}">
                <a16:creationId xmlns:a16="http://schemas.microsoft.com/office/drawing/2014/main" id="{3DDA1986-F268-47C3-8586-BB7BE1AB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 · Räumliche Blöcke verhindern Daten-Leakage</a:t>
            </a:r>
          </a:p>
        </p:txBody>
      </p:sp>
      <p:sp>
        <p:nvSpPr>
          <p:cNvPr id="5" name="source-6">
            <a:extLst xmlns:a="http://schemas.openxmlformats.org/drawingml/2006/main">
              <a:ext uri="{FF2B5EF4-FFF2-40B4-BE49-F238E27FC236}">
                <a16:creationId xmlns:a16="http://schemas.microsoft.com/office/drawing/2014/main" id="{1E6449F9-59C4-4B5A-AC95-A6CB5FDF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6">
            <a:extLst xmlns:a="http://schemas.openxmlformats.org/drawingml/2006/main">
              <a:ext uri="{FF2B5EF4-FFF2-40B4-BE49-F238E27FC236}">
                <a16:creationId xmlns:a16="http://schemas.microsoft.com/office/drawing/2014/main" id="{777CDC41-6C7C-4BA3-AD0E-F3625389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6</a:t>
            </a:r>
          </a:p>
        </p:txBody>
      </p:sp>
      <p:sp>
        <p:nvSpPr>
          <p:cNvPr id="7" name="spatial-lead">
            <a:extLst xmlns:a="http://schemas.openxmlformats.org/drawingml/2006/main">
              <a:ext uri="{FF2B5EF4-FFF2-40B4-BE49-F238E27FC236}">
                <a16:creationId xmlns:a16="http://schemas.microsoft.com/office/drawing/2014/main" id="{213AF970-1361-40B0-A0B4-8138761E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Benachbarte 100-m-Zellen sind ähnlich: MietCheck trennt deshalb ganze 25-km-Räume.</a:t>
            </a:r>
          </a:p>
        </p:txBody>
      </p:sp>
      <p:cxnSp>
        <p:nvCxnSpPr>
          <p:cNvPr id="52" name="spatial-connector"/>
          <p:cNvCxnSpPr/>
          <p:nvPr/>
        </p:nvCxnSpPr>
        <p:spPr>
          <a:xfrm xmlns:a="http://schemas.openxmlformats.org/drawingml/2006/main">
            <a:off x="2266950" y="3867150"/>
            <a:ext cx="7658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6E1DF"/>
            </a:solidFill>
            <a:prstDash val="solid"/>
          </a:ln>
        </p:spPr>
      </p:cxnSp>
      <p:sp>
        <p:nvSpPr>
          <p:cNvPr id="9" name="spatial-panel-0">
            <a:extLst xmlns:a="http://schemas.openxmlformats.org/drawingml/2006/main">
              <a:ext uri="{FF2B5EF4-FFF2-40B4-BE49-F238E27FC236}">
                <a16:creationId xmlns:a16="http://schemas.microsoft.com/office/drawing/2014/main" id="{DCB50187-0190-4652-BA6D-76E3B6FD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10" name="spatial-bar-0">
            <a:extLst xmlns:a="http://schemas.openxmlformats.org/drawingml/2006/main">
              <a:ext uri="{FF2B5EF4-FFF2-40B4-BE49-F238E27FC236}">
                <a16:creationId xmlns:a16="http://schemas.microsoft.com/office/drawing/2014/main" id="{1081FAAC-6AAA-41F9-996F-093250EE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1" name="spatial-title-0">
            <a:extLst xmlns:a="http://schemas.openxmlformats.org/drawingml/2006/main">
              <a:ext uri="{FF2B5EF4-FFF2-40B4-BE49-F238E27FC236}">
                <a16:creationId xmlns:a16="http://schemas.microsoft.com/office/drawing/2014/main" id="{67BF5BF0-395A-44A8-8587-A5F6C2FF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Entwicklung</a:t>
            </a:r>
          </a:p>
        </p:txBody>
      </p:sp>
      <p:sp>
        <p:nvSpPr>
          <p:cNvPr id="12" name="spatial-rows-0">
            <a:extLst xmlns:a="http://schemas.openxmlformats.org/drawingml/2006/main">
              <a:ext uri="{FF2B5EF4-FFF2-40B4-BE49-F238E27FC236}">
                <a16:creationId xmlns:a16="http://schemas.microsoft.com/office/drawing/2014/main" id="{2C2287B0-50FA-4531-9371-1B0FB9B1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1.518.322</a:t>
            </a:r>
          </a:p>
        </p:txBody>
      </p:sp>
      <p:sp>
        <p:nvSpPr>
          <p:cNvPr id="13" name="spatial-blocks-0">
            <a:extLst xmlns:a="http://schemas.openxmlformats.org/drawingml/2006/main">
              <a:ext uri="{FF2B5EF4-FFF2-40B4-BE49-F238E27FC236}">
                <a16:creationId xmlns:a16="http://schemas.microsoft.com/office/drawing/2014/main" id="{FE5339B7-BD13-4B02-B461-B393DAC1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465 Raumblöcke</a:t>
            </a:r>
          </a:p>
        </p:txBody>
      </p:sp>
      <p:sp>
        <p:nvSpPr>
          <p:cNvPr id="14" name="spatial-body-0">
            <a:extLst xmlns:a="http://schemas.openxmlformats.org/drawingml/2006/main">
              <a:ext uri="{FF2B5EF4-FFF2-40B4-BE49-F238E27FC236}">
                <a16:creationId xmlns:a16="http://schemas.microsoft.com/office/drawing/2014/main" id="{2C76E826-F38F-4390-86A8-2916B97F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A¹ Auswahl, A² Features und A³ Tuning</a:t>
            </a:r>
          </a:p>
        </p:txBody>
      </p:sp>
      <p:sp>
        <p:nvSpPr>
          <p:cNvPr id="15" name="spatial-panel-1">
            <a:extLst xmlns:a="http://schemas.openxmlformats.org/drawingml/2006/main">
              <a:ext uri="{FF2B5EF4-FFF2-40B4-BE49-F238E27FC236}">
                <a16:creationId xmlns:a16="http://schemas.microsoft.com/office/drawing/2014/main" id="{9C02D8D4-A6E5-4866-AD69-2663679E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16" name="spatial-bar-1">
            <a:extLst xmlns:a="http://schemas.openxmlformats.org/drawingml/2006/main">
              <a:ext uri="{FF2B5EF4-FFF2-40B4-BE49-F238E27FC236}">
                <a16:creationId xmlns:a16="http://schemas.microsoft.com/office/drawing/2014/main" id="{FCD9105A-E7EE-44AF-93E9-2D7CAE93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FF"/>
          </a:solidFill>
          <a:ln xmlns:a="http://schemas.openxmlformats.org/drawingml/2006/main" w="0">
            <a:solidFill>
              <a:srgbClr val="315CFF"/>
            </a:solidFill>
            <a:prstDash val="solid"/>
          </a:ln>
        </p:spPr>
      </p:sp>
      <p:sp>
        <p:nvSpPr>
          <p:cNvPr id="17" name="spatial-title-1">
            <a:extLst xmlns:a="http://schemas.openxmlformats.org/drawingml/2006/main">
              <a:ext uri="{FF2B5EF4-FFF2-40B4-BE49-F238E27FC236}">
                <a16:creationId xmlns:a16="http://schemas.microsoft.com/office/drawing/2014/main" id="{6AC30D47-9034-49E0-940D-C67EB125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Kalibrierung</a:t>
            </a:r>
          </a:p>
        </p:txBody>
      </p:sp>
      <p:sp>
        <p:nvSpPr>
          <p:cNvPr id="18" name="spatial-rows-1">
            <a:extLst xmlns:a="http://schemas.openxmlformats.org/drawingml/2006/main">
              <a:ext uri="{FF2B5EF4-FFF2-40B4-BE49-F238E27FC236}">
                <a16:creationId xmlns:a16="http://schemas.microsoft.com/office/drawing/2014/main" id="{48F0DAA8-F354-41E6-8A71-B1F4516D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263.789</a:t>
            </a:r>
          </a:p>
        </p:txBody>
      </p:sp>
      <p:sp>
        <p:nvSpPr>
          <p:cNvPr id="19" name="spatial-blocks-1">
            <a:extLst xmlns:a="http://schemas.openxmlformats.org/drawingml/2006/main">
              <a:ext uri="{FF2B5EF4-FFF2-40B4-BE49-F238E27FC236}">
                <a16:creationId xmlns:a16="http://schemas.microsoft.com/office/drawing/2014/main" id="{13713357-3205-4BD2-B48F-8C944BCC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99 Raumblöcke</a:t>
            </a:r>
          </a:p>
        </p:txBody>
      </p:sp>
      <p:sp>
        <p:nvSpPr>
          <p:cNvPr id="20" name="spatial-body-1">
            <a:extLst xmlns:a="http://schemas.openxmlformats.org/drawingml/2006/main">
              <a:ext uri="{FF2B5EF4-FFF2-40B4-BE49-F238E27FC236}">
                <a16:creationId xmlns:a16="http://schemas.microsoft.com/office/drawing/2014/main" id="{1569CEF8-E865-4749-A9C7-E5CE015E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nur für conformale Modellbänder</a:t>
            </a:r>
          </a:p>
        </p:txBody>
      </p:sp>
      <p:sp>
        <p:nvSpPr>
          <p:cNvPr id="21" name="spatial-panel-2">
            <a:extLst xmlns:a="http://schemas.openxmlformats.org/drawingml/2006/main">
              <a:ext uri="{FF2B5EF4-FFF2-40B4-BE49-F238E27FC236}">
                <a16:creationId xmlns:a16="http://schemas.microsoft.com/office/drawing/2014/main" id="{FF77BA2D-8132-4C64-8BE8-6B53A665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22" name="spatial-bar-2">
            <a:extLst xmlns:a="http://schemas.openxmlformats.org/drawingml/2006/main">
              <a:ext uri="{FF2B5EF4-FFF2-40B4-BE49-F238E27FC236}">
                <a16:creationId xmlns:a16="http://schemas.microsoft.com/office/drawing/2014/main" id="{2C676B79-32DD-458F-B6EC-514D4B38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3" name="spatial-title-2">
            <a:extLst xmlns:a="http://schemas.openxmlformats.org/drawingml/2006/main">
              <a:ext uri="{FF2B5EF4-FFF2-40B4-BE49-F238E27FC236}">
                <a16:creationId xmlns:a16="http://schemas.microsoft.com/office/drawing/2014/main" id="{729C706C-3A98-45E9-A9A1-46605B04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38400"/>
            <a:ext cx="2952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Finaler Test</a:t>
            </a:r>
          </a:p>
        </p:txBody>
      </p:sp>
      <p:sp>
        <p:nvSpPr>
          <p:cNvPr id="24" name="spatial-rows-2">
            <a:extLst xmlns:a="http://schemas.openxmlformats.org/drawingml/2006/main">
              <a:ext uri="{FF2B5EF4-FFF2-40B4-BE49-F238E27FC236}">
                <a16:creationId xmlns:a16="http://schemas.microsoft.com/office/drawing/2014/main" id="{67152874-8548-4E21-8C7B-DE48C86B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52750"/>
            <a:ext cx="2952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276.458</a:t>
            </a:r>
          </a:p>
        </p:txBody>
      </p:sp>
      <p:sp>
        <p:nvSpPr>
          <p:cNvPr id="25" name="spatial-blocks-2">
            <a:extLst xmlns:a="http://schemas.openxmlformats.org/drawingml/2006/main">
              <a:ext uri="{FF2B5EF4-FFF2-40B4-BE49-F238E27FC236}">
                <a16:creationId xmlns:a16="http://schemas.microsoft.com/office/drawing/2014/main" id="{04422683-002C-4877-9D27-0FF3D0CD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76650"/>
            <a:ext cx="295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99 Raumblöcke</a:t>
            </a:r>
          </a:p>
        </p:txBody>
      </p:sp>
      <p:sp>
        <p:nvSpPr>
          <p:cNvPr id="26" name="spatial-body-2">
            <a:extLst xmlns:a="http://schemas.openxmlformats.org/drawingml/2006/main">
              <a:ext uri="{FF2B5EF4-FFF2-40B4-BE49-F238E27FC236}">
                <a16:creationId xmlns:a16="http://schemas.microsoft.com/office/drawing/2014/main" id="{F5D1CF9B-6E5E-4137-86D1-BF94BE77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67200"/>
            <a:ext cx="295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genau einmal für C ausgewertet</a:t>
            </a:r>
          </a:p>
        </p:txBody>
      </p:sp>
      <p:sp>
        <p:nvSpPr>
          <p:cNvPr id="27" name="zero-overlap">
            <a:extLst xmlns:a="http://schemas.openxmlformats.org/drawingml/2006/main">
              <a:ext uri="{FF2B5EF4-FFF2-40B4-BE49-F238E27FC236}">
                <a16:creationId xmlns:a16="http://schemas.microsoft.com/office/drawing/2014/main" id="{CD6B495C-95A3-4DAA-8BDB-AB29D353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61975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28" name="zero-overlap-text">
            <a:extLst xmlns:a="http://schemas.openxmlformats.org/drawingml/2006/main">
              <a:ext uri="{FF2B5EF4-FFF2-40B4-BE49-F238E27FC236}">
                <a16:creationId xmlns:a16="http://schemas.microsoft.com/office/drawing/2014/main" id="{B224B00C-1173-4B29-B66B-EB2B77A8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753100"/>
            <a:ext cx="5638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0 gemeinsame 25-km-Blöcke zwischen den drei Teilmengen</a:t>
            </a:r>
          </a:p>
        </p:txBody>
      </p:sp>
    </p:spTree>
    <p:extLst>
      <p:ext uri="{BB962C8B-B14F-4D97-AF65-F5344CB8AC3E}">
        <p14:creationId xmlns:p14="http://schemas.microsoft.com/office/powerpoint/2010/main" val="19470863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7">
            <a:extLst xmlns:a="http://schemas.openxmlformats.org/drawingml/2006/main">
              <a:ext uri="{FF2B5EF4-FFF2-40B4-BE49-F238E27FC236}">
                <a16:creationId xmlns:a16="http://schemas.microsoft.com/office/drawing/2014/main" id="{A2EF4C0C-351A-415D-BBF0-F68FE628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7">
            <a:extLst xmlns:a="http://schemas.openxmlformats.org/drawingml/2006/main">
              <a:ext uri="{FF2B5EF4-FFF2-40B4-BE49-F238E27FC236}">
                <a16:creationId xmlns:a16="http://schemas.microsoft.com/office/drawing/2014/main" id="{D9811E14-6FCB-4A5A-8D85-95995D74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7">
            <a:extLst xmlns:a="http://schemas.openxmlformats.org/drawingml/2006/main">
              <a:ext uri="{FF2B5EF4-FFF2-40B4-BE49-F238E27FC236}">
                <a16:creationId xmlns:a16="http://schemas.microsoft.com/office/drawing/2014/main" id="{5132B435-1949-48CF-BEFC-28A89C71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7">
            <a:extLst xmlns:a="http://schemas.openxmlformats.org/drawingml/2006/main">
              <a:ext uri="{FF2B5EF4-FFF2-40B4-BE49-F238E27FC236}">
                <a16:creationId xmlns:a16="http://schemas.microsoft.com/office/drawing/2014/main" id="{331EC3CF-0C9C-41F6-927B-B760D098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A¹ · Sieben Kandidaten auf identischen Spatial Folds</a:t>
            </a:r>
          </a:p>
        </p:txBody>
      </p:sp>
      <p:sp>
        <p:nvSpPr>
          <p:cNvPr id="5" name="source-7">
            <a:extLst xmlns:a="http://schemas.openxmlformats.org/drawingml/2006/main">
              <a:ext uri="{FF2B5EF4-FFF2-40B4-BE49-F238E27FC236}">
                <a16:creationId xmlns:a16="http://schemas.microsoft.com/office/drawing/2014/main" id="{C844D5A3-8CD2-4757-9DD4-A52A6A1D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600.000 Zeilen · 3-Fold GroupKFold · gleicher Sample/gleiche Raumblöcke · reports/algorithm_benchmark.json.</a:t>
            </a:r>
          </a:p>
        </p:txBody>
      </p:sp>
      <p:sp>
        <p:nvSpPr>
          <p:cNvPr id="6" name="page-7">
            <a:extLst xmlns:a="http://schemas.openxmlformats.org/drawingml/2006/main">
              <a:ext uri="{FF2B5EF4-FFF2-40B4-BE49-F238E27FC236}">
                <a16:creationId xmlns:a16="http://schemas.microsoft.com/office/drawing/2014/main" id="{E16D482B-C207-4EA4-991D-82C3EAAA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  <p:sp>
        <p:nvSpPr>
          <p:cNvPr id="7" name="benchmark-callout-one">
            <a:extLst xmlns:a="http://schemas.openxmlformats.org/drawingml/2006/main">
              <a:ext uri="{FF2B5EF4-FFF2-40B4-BE49-F238E27FC236}">
                <a16:creationId xmlns:a16="http://schemas.microsoft.com/office/drawing/2014/main" id="{30138196-B0BC-49E9-AB97-6D06F0BE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71650"/>
            <a:ext cx="401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8" name="benchmark-callout-one-title">
            <a:extLst xmlns:a="http://schemas.openxmlformats.org/drawingml/2006/main">
              <a:ext uri="{FF2B5EF4-FFF2-40B4-BE49-F238E27FC236}">
                <a16:creationId xmlns:a16="http://schemas.microsoft.com/office/drawing/2014/main" id="{19CF8CF1-DDC9-4F98-A796-ED58F48A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00250"/>
            <a:ext cx="342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1,305 €/m²</a:t>
            </a:r>
          </a:p>
        </p:txBody>
      </p:sp>
      <p:sp>
        <p:nvSpPr>
          <p:cNvPr id="9" name="benchmark-callout-one-body">
            <a:extLst xmlns:a="http://schemas.openxmlformats.org/drawingml/2006/main">
              <a:ext uri="{FF2B5EF4-FFF2-40B4-BE49-F238E27FC236}">
                <a16:creationId xmlns:a16="http://schemas.microsoft.com/office/drawing/2014/main" id="{79441BFC-EBEF-4CCE-A893-4A57CA97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908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HGB: niedrigster mittlerer CV-MAE</a:t>
            </a:r>
          </a:p>
        </p:txBody>
      </p:sp>
      <p:sp>
        <p:nvSpPr>
          <p:cNvPr id="10" name="benchmark-callout-two">
            <a:extLst xmlns:a="http://schemas.openxmlformats.org/drawingml/2006/main">
              <a:ext uri="{FF2B5EF4-FFF2-40B4-BE49-F238E27FC236}">
                <a16:creationId xmlns:a16="http://schemas.microsoft.com/office/drawing/2014/main" id="{65D5071D-164F-4B9D-BE7F-8B16D333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257550"/>
            <a:ext cx="401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1" name="benchmark-callout-two-title">
            <a:extLst xmlns:a="http://schemas.openxmlformats.org/drawingml/2006/main">
              <a:ext uri="{FF2B5EF4-FFF2-40B4-BE49-F238E27FC236}">
                <a16:creationId xmlns:a16="http://schemas.microsoft.com/office/drawing/2014/main" id="{65B8FDAB-DC22-4EF5-B32C-E7155AFF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86150"/>
            <a:ext cx="342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SVM + Baum</a:t>
            </a:r>
          </a:p>
        </p:txBody>
      </p:sp>
      <p:sp>
        <p:nvSpPr>
          <p:cNvPr id="12" name="benchmark-callout-two-body">
            <a:extLst xmlns:a="http://schemas.openxmlformats.org/drawingml/2006/main">
              <a:ext uri="{FF2B5EF4-FFF2-40B4-BE49-F238E27FC236}">
                <a16:creationId xmlns:a16="http://schemas.microsoft.com/office/drawing/2014/main" id="{0BDBB343-017D-4A5A-8CB7-17A11D75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767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klassische Verfahren explizit geprüft</a:t>
            </a:r>
          </a:p>
        </p:txBody>
      </p:sp>
      <p:sp>
        <p:nvSpPr>
          <p:cNvPr id="13" name="benchmark-interpretation">
            <a:extLst xmlns:a="http://schemas.openxmlformats.org/drawingml/2006/main">
              <a:ext uri="{FF2B5EF4-FFF2-40B4-BE49-F238E27FC236}">
                <a16:creationId xmlns:a16="http://schemas.microsoft.com/office/drawing/2014/main" id="{BAFFB62E-1B94-491C-9465-2928E7F6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339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HGB gewinnt. Random Forest bleibt Challenger; exakter RBF-SVR ist bei 600k nicht skalierbar.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457200" y="1524000"/>
          <a:ext xmlns:a="http://schemas.openxmlformats.org/drawingml/2006/main" cx="657225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01dbc3da0640c0"/>
          </a:graphicData>
        </a:graphic>
      </p:graphicFrame>
    </p:spTree>
    <p:extLst>
      <p:ext uri="{BB962C8B-B14F-4D97-AF65-F5344CB8AC3E}">
        <p14:creationId xmlns:p14="http://schemas.microsoft.com/office/powerpoint/2010/main" val="20731337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header-8">
            <a:extLst xmlns:a="http://schemas.openxmlformats.org/drawingml/2006/main">
              <a:ext uri="{FF2B5EF4-FFF2-40B4-BE49-F238E27FC236}">
                <a16:creationId xmlns:a16="http://schemas.microsoft.com/office/drawing/2014/main" id="{0043B925-52F2-46FF-B342-5E250D7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8">
            <a:extLst xmlns:a="http://schemas.openxmlformats.org/drawingml/2006/main">
              <a:ext uri="{FF2B5EF4-FFF2-40B4-BE49-F238E27FC236}">
                <a16:creationId xmlns:a16="http://schemas.microsoft.com/office/drawing/2014/main" id="{F8D1534A-FC57-47E8-90E5-EBAD9227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8">
            <a:extLst xmlns:a="http://schemas.openxmlformats.org/drawingml/2006/main">
              <a:ext uri="{FF2B5EF4-FFF2-40B4-BE49-F238E27FC236}">
                <a16:creationId xmlns:a16="http://schemas.microsoft.com/office/drawing/2014/main" id="{FE687181-EAE2-4DA5-8600-ABBFE0F8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8">
            <a:extLst xmlns:a="http://schemas.openxmlformats.org/drawingml/2006/main">
              <a:ext uri="{FF2B5EF4-FFF2-40B4-BE49-F238E27FC236}">
                <a16:creationId xmlns:a16="http://schemas.microsoft.com/office/drawing/2014/main" id="{C995891B-A9CE-414E-AFD6-416072A2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A²/A³ · Features anpassen, acht HGB-Varianten tunen</a:t>
            </a:r>
          </a:p>
        </p:txBody>
      </p:sp>
      <p:sp>
        <p:nvSpPr>
          <p:cNvPr id="5" name="source-8">
            <a:extLst xmlns:a="http://schemas.openxmlformats.org/drawingml/2006/main">
              <a:ext uri="{FF2B5EF4-FFF2-40B4-BE49-F238E27FC236}">
                <a16:creationId xmlns:a16="http://schemas.microsoft.com/office/drawing/2014/main" id="{75360F69-A311-4496-8FF7-65B06D20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Eigene Berechnung: reports/feature_ablation.json und reports/hgb_tuning.json.</a:t>
            </a:r>
          </a:p>
        </p:txBody>
      </p:sp>
      <p:sp>
        <p:nvSpPr>
          <p:cNvPr id="6" name="page-8">
            <a:extLst xmlns:a="http://schemas.openxmlformats.org/drawingml/2006/main">
              <a:ext uri="{FF2B5EF4-FFF2-40B4-BE49-F238E27FC236}">
                <a16:creationId xmlns:a16="http://schemas.microsoft.com/office/drawing/2014/main" id="{A79F5593-D33E-4449-A496-515624B2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8</a:t>
            </a:r>
          </a:p>
        </p:txBody>
      </p:sp>
      <p:sp>
        <p:nvSpPr>
          <p:cNvPr id="7" name="final-lead">
            <a:extLst xmlns:a="http://schemas.openxmlformats.org/drawingml/2006/main">
              <a:ext uri="{FF2B5EF4-FFF2-40B4-BE49-F238E27FC236}">
                <a16:creationId xmlns:a16="http://schemas.microsoft.com/office/drawing/2014/main" id="{DFA9B1AA-C9AB-4E86-B9A1-422FA255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Lage liefert den größten Zusatznutzen; Kalibrierung und Test bleiben während des Tunings gesperrt.</a:t>
            </a:r>
          </a:p>
        </p:txBody>
      </p:sp>
      <p:sp>
        <p:nvSpPr>
          <p:cNvPr id="8" name="final-chart-title">
            <a:extLst xmlns:a="http://schemas.openxmlformats.org/drawingml/2006/main">
              <a:ext uri="{FF2B5EF4-FFF2-40B4-BE49-F238E27FC236}">
                <a16:creationId xmlns:a16="http://schemas.microsoft.com/office/drawing/2014/main" id="{0C5F1998-5D54-4725-A9C4-7B962D9B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5810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MAE der vier Feature-Stufen</a:t>
            </a:r>
          </a:p>
        </p:txBody>
      </p:sp>
      <p:sp>
        <p:nvSpPr>
          <p:cNvPr id="9" name="final-metric-one">
            <a:extLst xmlns:a="http://schemas.openxmlformats.org/drawingml/2006/main">
              <a:ext uri="{FF2B5EF4-FFF2-40B4-BE49-F238E27FC236}">
                <a16:creationId xmlns:a16="http://schemas.microsoft.com/office/drawing/2014/main" id="{DF0A22F3-CDF1-4530-8EA8-75B5204F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7640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10" name="final-metric-one-stat">
            <a:extLst xmlns:a="http://schemas.openxmlformats.org/drawingml/2006/main">
              <a:ext uri="{FF2B5EF4-FFF2-40B4-BE49-F238E27FC236}">
                <a16:creationId xmlns:a16="http://schemas.microsoft.com/office/drawing/2014/main" id="{0AEC8CE9-09CB-4CB8-AD3B-54199BB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2405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4 Stufen</a:t>
            </a:r>
          </a:p>
        </p:txBody>
      </p:sp>
      <p:sp>
        <p:nvSpPr>
          <p:cNvPr id="11" name="final-metric-one-body">
            <a:extLst xmlns:a="http://schemas.openxmlformats.org/drawingml/2006/main">
              <a:ext uri="{FF2B5EF4-FFF2-40B4-BE49-F238E27FC236}">
                <a16:creationId xmlns:a16="http://schemas.microsoft.com/office/drawing/2014/main" id="{87112F32-9566-4332-8B1C-A6626572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714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Kategorien → Lage → Umfeld → Qualität</a:t>
            </a:r>
          </a:p>
        </p:txBody>
      </p:sp>
      <p:sp>
        <p:nvSpPr>
          <p:cNvPr id="12" name="final-metric-two">
            <a:extLst xmlns:a="http://schemas.openxmlformats.org/drawingml/2006/main">
              <a:ext uri="{FF2B5EF4-FFF2-40B4-BE49-F238E27FC236}">
                <a16:creationId xmlns:a16="http://schemas.microsoft.com/office/drawing/2014/main" id="{ACDCE033-3ABF-4FA0-AB47-28B9CA80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6235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F"/>
          </a:solidFill>
          <a:ln xmlns:a="http://schemas.openxmlformats.org/drawingml/2006/main" w="0">
            <a:solidFill>
              <a:srgbClr val="E8EDFF"/>
            </a:solidFill>
            <a:prstDash val="solid"/>
          </a:ln>
        </p:spPr>
      </p:sp>
      <p:sp>
        <p:nvSpPr>
          <p:cNvPr id="13" name="final-metric-two-stat">
            <a:extLst xmlns:a="http://schemas.openxmlformats.org/drawingml/2006/main">
              <a:ext uri="{FF2B5EF4-FFF2-40B4-BE49-F238E27FC236}">
                <a16:creationId xmlns:a16="http://schemas.microsoft.com/office/drawing/2014/main" id="{4E3B9EA6-7721-4C36-A597-158EE100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1000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8 Tunings</a:t>
            </a:r>
          </a:p>
        </p:txBody>
      </p:sp>
      <p:sp>
        <p:nvSpPr>
          <p:cNvPr id="14" name="final-metric-two-body">
            <a:extLst xmlns:a="http://schemas.openxmlformats.org/drawingml/2006/main">
              <a:ext uri="{FF2B5EF4-FFF2-40B4-BE49-F238E27FC236}">
                <a16:creationId xmlns:a16="http://schemas.microsoft.com/office/drawing/2014/main" id="{31A8896C-2820-412E-931B-55193BA0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10100"/>
            <a:ext cx="3714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automatisierte, reproduzierbare HGB-Suche</a:t>
            </a:r>
          </a:p>
        </p:txBody>
      </p:sp>
      <p:sp>
        <p:nvSpPr>
          <p:cNvPr id="15" name="final-warning">
            <a:extLst xmlns:a="http://schemas.openxmlformats.org/drawingml/2006/main">
              <a:ext uri="{FF2B5EF4-FFF2-40B4-BE49-F238E27FC236}">
                <a16:creationId xmlns:a16="http://schemas.microsoft.com/office/drawing/2014/main" id="{C506B9EE-CB35-4185-90D8-D1FB0836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486400"/>
            <a:ext cx="4362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t>Gewählt: Kandidat 6 · 127 Blätter · learning_rate 0,06 · L2 = 5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57200" y="2171700"/>
          <a:ext xmlns:a="http://schemas.openxmlformats.org/drawingml/2006/main" cx="5810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0d65f5e92d4918"/>
          </a:graphicData>
        </a:graphic>
      </p:graphicFrame>
    </p:spTree>
    <p:extLst>
      <p:ext uri="{BB962C8B-B14F-4D97-AF65-F5344CB8AC3E}">
        <p14:creationId xmlns:p14="http://schemas.microsoft.com/office/powerpoint/2010/main" val="2929951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header-8">
            <a:extLst xmlns:a="http://schemas.openxmlformats.org/drawingml/2006/main">
              <a:ext uri="{FF2B5EF4-FFF2-40B4-BE49-F238E27FC236}">
                <a16:creationId xmlns:a16="http://schemas.microsoft.com/office/drawing/2014/main" id="{0043B925-52F2-46FF-B342-5E250D7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8">
            <a:extLst xmlns:a="http://schemas.openxmlformats.org/drawingml/2006/main">
              <a:ext uri="{FF2B5EF4-FFF2-40B4-BE49-F238E27FC236}">
                <a16:creationId xmlns:a16="http://schemas.microsoft.com/office/drawing/2014/main" id="{F8D1534A-FC57-47E8-90E5-EBAD9227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8">
            <a:extLst xmlns:a="http://schemas.openxmlformats.org/drawingml/2006/main">
              <a:ext uri="{FF2B5EF4-FFF2-40B4-BE49-F238E27FC236}">
                <a16:creationId xmlns:a16="http://schemas.microsoft.com/office/drawing/2014/main" id="{FE687181-EAE2-4DA5-8600-ABBFE0F8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8">
            <a:extLst xmlns:a="http://schemas.openxmlformats.org/drawingml/2006/main">
              <a:ext uri="{FF2B5EF4-FFF2-40B4-BE49-F238E27FC236}">
                <a16:creationId xmlns:a16="http://schemas.microsoft.com/office/drawing/2014/main" id="{C995891B-A9CE-414E-AFD6-416072A2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 · Finaler Test: 38,3 % weniger Fehler</a:t>
            </a:r>
          </a:p>
        </p:txBody>
      </p:sp>
      <p:sp>
        <p:nvSpPr>
          <p:cNvPr id="5" name="source-8">
            <a:extLst xmlns:a="http://schemas.openxmlformats.org/drawingml/2006/main">
              <a:ext uri="{FF2B5EF4-FFF2-40B4-BE49-F238E27FC236}">
                <a16:creationId xmlns:a16="http://schemas.microsoft.com/office/drawing/2014/main" id="{75360F69-A311-4496-8FF7-65B06D20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Eigene Berechnung auf 276.458 Zeilen aus 99 gesperrten Raumblöcken; reports/final_model_evaluation.json.</a:t>
            </a:r>
          </a:p>
        </p:txBody>
      </p:sp>
      <p:sp>
        <p:nvSpPr>
          <p:cNvPr id="6" name="page-8">
            <a:extLst xmlns:a="http://schemas.openxmlformats.org/drawingml/2006/main">
              <a:ext uri="{FF2B5EF4-FFF2-40B4-BE49-F238E27FC236}">
                <a16:creationId xmlns:a16="http://schemas.microsoft.com/office/drawing/2014/main" id="{A79F5593-D33E-4449-A496-515624B2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9</a:t>
            </a:r>
          </a:p>
        </p:txBody>
      </p:sp>
      <p:sp>
        <p:nvSpPr>
          <p:cNvPr id="7" name="final-lead">
            <a:extLst xmlns:a="http://schemas.openxmlformats.org/drawingml/2006/main">
              <a:ext uri="{FF2B5EF4-FFF2-40B4-BE49-F238E27FC236}">
                <a16:creationId xmlns:a16="http://schemas.microsoft.com/office/drawing/2014/main" id="{DFA9B1AA-C9AB-4E86-B9A1-422FA255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Das nominale 90-%-Intervall erreicht räumlich 86,8 % – und genau das zeigt die App.</a:t>
            </a:r>
          </a:p>
        </p:txBody>
      </p:sp>
      <p:sp>
        <p:nvSpPr>
          <p:cNvPr id="8" name="final-chart-title">
            <a:extLst xmlns:a="http://schemas.openxmlformats.org/drawingml/2006/main">
              <a:ext uri="{FF2B5EF4-FFF2-40B4-BE49-F238E27FC236}">
                <a16:creationId xmlns:a16="http://schemas.microsoft.com/office/drawing/2014/main" id="{0C5F1998-5D54-4725-A9C4-7B962D9B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5810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MAE auf dem finalen Test</a:t>
            </a:r>
          </a:p>
        </p:txBody>
      </p:sp>
      <p:sp>
        <p:nvSpPr>
          <p:cNvPr id="9" name="final-metric-one">
            <a:extLst xmlns:a="http://schemas.openxmlformats.org/drawingml/2006/main">
              <a:ext uri="{FF2B5EF4-FFF2-40B4-BE49-F238E27FC236}">
                <a16:creationId xmlns:a16="http://schemas.microsoft.com/office/drawing/2014/main" id="{DF0A22F3-CDF1-4530-8EA8-75B5204F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7640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5ED"/>
          </a:solidFill>
          <a:ln xmlns:a="http://schemas.openxmlformats.org/drawingml/2006/main" w="0">
            <a:solidFill>
              <a:srgbClr val="DDF5ED"/>
            </a:solidFill>
            <a:prstDash val="solid"/>
          </a:ln>
        </p:spPr>
      </p:sp>
      <p:sp>
        <p:nvSpPr>
          <p:cNvPr id="10" name="final-metric-one-stat">
            <a:extLst xmlns:a="http://schemas.openxmlformats.org/drawingml/2006/main">
              <a:ext uri="{FF2B5EF4-FFF2-40B4-BE49-F238E27FC236}">
                <a16:creationId xmlns:a16="http://schemas.microsoft.com/office/drawing/2014/main" id="{0AEC8CE9-09CB-4CB8-AD3B-54199BB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2405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38,3 %</a:t>
            </a:r>
          </a:p>
        </p:txBody>
      </p:sp>
      <p:sp>
        <p:nvSpPr>
          <p:cNvPr id="11" name="final-metric-one-body">
            <a:extLst xmlns:a="http://schemas.openxmlformats.org/drawingml/2006/main">
              <a:ext uri="{FF2B5EF4-FFF2-40B4-BE49-F238E27FC236}">
                <a16:creationId xmlns:a16="http://schemas.microsoft.com/office/drawing/2014/main" id="{87112F32-9566-4332-8B1C-A6626572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714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weniger MAE als die Kategorie-Baseline</a:t>
            </a:r>
          </a:p>
        </p:txBody>
      </p:sp>
      <p:sp>
        <p:nvSpPr>
          <p:cNvPr id="12" name="final-metric-two">
            <a:extLst xmlns:a="http://schemas.openxmlformats.org/drawingml/2006/main">
              <a:ext uri="{FF2B5EF4-FFF2-40B4-BE49-F238E27FC236}">
                <a16:creationId xmlns:a16="http://schemas.microsoft.com/office/drawing/2014/main" id="{ACDCE033-3ABF-4FA0-AB47-28B9CA80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62350"/>
            <a:ext cx="43624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F"/>
          </a:solidFill>
          <a:ln xmlns:a="http://schemas.openxmlformats.org/drawingml/2006/main" w="0">
            <a:solidFill>
              <a:srgbClr val="E8EDFF"/>
            </a:solidFill>
            <a:prstDash val="solid"/>
          </a:ln>
        </p:spPr>
      </p:sp>
      <p:sp>
        <p:nvSpPr>
          <p:cNvPr id="13" name="final-metric-two-stat">
            <a:extLst xmlns:a="http://schemas.openxmlformats.org/drawingml/2006/main">
              <a:ext uri="{FF2B5EF4-FFF2-40B4-BE49-F238E27FC236}">
                <a16:creationId xmlns:a16="http://schemas.microsoft.com/office/drawing/2014/main" id="{4E3B9EA6-7721-4C36-A597-158EE100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10000"/>
            <a:ext cx="3714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86,8 %</a:t>
            </a:r>
          </a:p>
        </p:txBody>
      </p:sp>
      <p:sp>
        <p:nvSpPr>
          <p:cNvPr id="14" name="final-metric-two-body">
            <a:extLst xmlns:a="http://schemas.openxmlformats.org/drawingml/2006/main">
              <a:ext uri="{FF2B5EF4-FFF2-40B4-BE49-F238E27FC236}">
                <a16:creationId xmlns:a16="http://schemas.microsoft.com/office/drawing/2014/main" id="{31A8896C-2820-412E-931B-55193BA0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10100"/>
            <a:ext cx="3714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empirische Coverage des nominalen 90-%-Bands</a:t>
            </a:r>
          </a:p>
        </p:txBody>
      </p:sp>
      <p:sp>
        <p:nvSpPr>
          <p:cNvPr id="15" name="final-warning">
            <a:extLst xmlns:a="http://schemas.openxmlformats.org/drawingml/2006/main">
              <a:ext uri="{FF2B5EF4-FFF2-40B4-BE49-F238E27FC236}">
                <a16:creationId xmlns:a16="http://schemas.microsoft.com/office/drawing/2014/main" id="{C506B9EE-CB35-4185-90D8-D1FB0836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486400"/>
            <a:ext cx="4362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t>Keine 90-%-Garantie: räumlicher Verteilungswechsel verletzt perfekte Austauschbarkeit.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57200" y="2171700"/>
          <a:ext xmlns:a="http://schemas.openxmlformats.org/drawingml/2006/main" cx="5810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b9e2f89c794bcb"/>
          </a:graphicData>
        </a:graphic>
      </p:graphicFrame>
    </p:spTree>
    <p:extLst>
      <p:ext uri="{BB962C8B-B14F-4D97-AF65-F5344CB8AC3E}">
        <p14:creationId xmlns:p14="http://schemas.microsoft.com/office/powerpoint/2010/main" val="2929951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10">
            <a:extLst xmlns:a="http://schemas.openxmlformats.org/drawingml/2006/main">
              <a:ext uri="{FF2B5EF4-FFF2-40B4-BE49-F238E27FC236}">
                <a16:creationId xmlns:a16="http://schemas.microsoft.com/office/drawing/2014/main" id="{82D220AE-A37C-40D3-B430-DD3AC33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0">
            <a:extLst xmlns:a="http://schemas.openxmlformats.org/drawingml/2006/main">
              <a:ext uri="{FF2B5EF4-FFF2-40B4-BE49-F238E27FC236}">
                <a16:creationId xmlns:a16="http://schemas.microsoft.com/office/drawing/2014/main" id="{DAC24D5E-7B44-43F7-8880-EC321B1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0">
            <a:extLst xmlns:a="http://schemas.openxmlformats.org/drawingml/2006/main">
              <a:ext uri="{FF2B5EF4-FFF2-40B4-BE49-F238E27FC236}">
                <a16:creationId xmlns:a16="http://schemas.microsoft.com/office/drawing/2014/main" id="{208A45C7-8610-4AC5-AD07-61D42845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0">
            <a:extLst xmlns:a="http://schemas.openxmlformats.org/drawingml/2006/main">
              <a:ext uri="{FF2B5EF4-FFF2-40B4-BE49-F238E27FC236}">
                <a16:creationId xmlns:a16="http://schemas.microsoft.com/office/drawing/2014/main" id="{0B954E67-B918-4E55-A44B-D12546C1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 · Dein Mietbild: drei Werte bleiben getrennt</a:t>
            </a:r>
          </a:p>
        </p:txBody>
      </p:sp>
      <p:sp>
        <p:nvSpPr>
          <p:cNvPr id="5" name="source-10">
            <a:extLst xmlns:a="http://schemas.openxmlformats.org/drawingml/2006/main">
              <a:ext uri="{FF2B5EF4-FFF2-40B4-BE49-F238E27FC236}">
                <a16:creationId xmlns:a16="http://schemas.microsoft.com/office/drawing/2014/main" id="{BBBFC246-79F3-405A-A68B-D1C942FE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4B68A03E-D847-40FB-9609-DF5775C6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7" name="screenshot-back">
            <a:extLst xmlns:a="http://schemas.openxmlformats.org/drawingml/2006/main">
              <a:ext uri="{FF2B5EF4-FFF2-40B4-BE49-F238E27FC236}">
                <a16:creationId xmlns:a16="http://schemas.microsoft.com/office/drawing/2014/main" id="{4BDF2DE0-9C75-4F74-A351-FC51D854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8" name="product-one">
            <a:extLst xmlns:a="http://schemas.openxmlformats.org/drawingml/2006/main">
              <a:ext uri="{FF2B5EF4-FFF2-40B4-BE49-F238E27FC236}">
                <a16:creationId xmlns:a16="http://schemas.microsoft.com/office/drawing/2014/main" id="{09F5E031-EF10-4D41-8CE7-40317B2F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 · Szenario eingeben</a:t>
            </a:r>
          </a:p>
        </p:txBody>
      </p:sp>
      <p:sp>
        <p:nvSpPr>
          <p:cNvPr id="9" name="product-two">
            <a:extLst xmlns:a="http://schemas.openxmlformats.org/drawingml/2006/main">
              <a:ext uri="{FF2B5EF4-FFF2-40B4-BE49-F238E27FC236}">
                <a16:creationId xmlns:a16="http://schemas.microsoft.com/office/drawing/2014/main" id="{70FFCED3-3BF4-498D-86F4-E2F7EBDF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2 · drei Mietrealitäten</a:t>
            </a:r>
          </a:p>
        </p:txBody>
      </p:sp>
      <p:sp>
        <p:nvSpPr>
          <p:cNvPr id="10" name="product-three">
            <a:extLst xmlns:a="http://schemas.openxmlformats.org/drawingml/2006/main">
              <a:ext uri="{FF2B5EF4-FFF2-40B4-BE49-F238E27FC236}">
                <a16:creationId xmlns:a16="http://schemas.microsoft.com/office/drawing/2014/main" id="{A29F6F45-2617-4455-A0D0-91E3DBEC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3 · Umzugsaufschlag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145f3195e4925"/>
          <a:srcRect xmlns:a="http://schemas.openxmlformats.org/drawingml/2006/main" l="0" t="24967" r="0" b="2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  <p:sp>
        <p:nvSpPr>
          <p:cNvPr id="12" name="product-mask">
            <a:extLst xmlns:a="http://schemas.openxmlformats.org/drawingml/2006/main">
              <a:ext uri="{FF2B5EF4-FFF2-40B4-BE49-F238E27FC236}">
                <a16:creationId xmlns:a16="http://schemas.microsoft.com/office/drawing/2014/main" id="{62E760CC-F31B-42B2-ABD3-B8E6D68F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485900"/>
            <a:ext cx="79914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138"/>
          </a:solidFill>
          <a:ln xmlns:a="http://schemas.openxmlformats.org/drawingml/2006/main" w="0">
            <a:solidFill>
              <a:srgbClr val="102138"/>
            </a:solidFill>
            <a:prstDash val="solid"/>
          </a:ln>
        </p:spPr>
      </p:sp>
      <p:sp>
        <p:nvSpPr>
          <p:cNvPr id="13" name="product-mask-copy">
            <a:extLst xmlns:a="http://schemas.openxmlformats.org/drawingml/2006/main">
              <a:ext uri="{FF2B5EF4-FFF2-40B4-BE49-F238E27FC236}">
                <a16:creationId xmlns:a16="http://schemas.microsoft.com/office/drawing/2014/main" id="{0A346937-0234-4B35-9F4B-D02F8DE2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7334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Ergebnis statt Scheingenauigkeit</a:t>
            </a:r>
          </a:p>
        </p:txBody>
      </p:sp>
      <p:sp>
        <p:nvSpPr>
          <p:cNvPr id="14" name="product-mask-subcopy">
            <a:extLst xmlns:a="http://schemas.openxmlformats.org/drawingml/2006/main">
              <a:ext uri="{FF2B5EF4-FFF2-40B4-BE49-F238E27FC236}">
                <a16:creationId xmlns:a16="http://schemas.microsoft.com/office/drawing/2014/main" id="{8843F53C-923D-460A-B35A-EB8DD0FB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733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CFE8DF"/>
                </a:solidFill>
                <a:latin typeface="Arial"/>
                <a:ea typeface="Arial"/>
                <a:cs typeface="Arial"/>
              </a:defRPr>
            </a:pPr>
            <a:r>
              <a:t>Bestandsanker, Angebot und persönliche Belastung mit klarer Zeitreferenz.</a:t>
            </a:r>
          </a:p>
        </p:txBody>
      </p:sp>
    </p:spTree>
    <p:extLst>
      <p:ext uri="{BB962C8B-B14F-4D97-AF65-F5344CB8AC3E}">
        <p14:creationId xmlns:p14="http://schemas.microsoft.com/office/powerpoint/2010/main" val="1400451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10">
            <a:extLst xmlns:a="http://schemas.openxmlformats.org/drawingml/2006/main">
              <a:ext uri="{FF2B5EF4-FFF2-40B4-BE49-F238E27FC236}">
                <a16:creationId xmlns:a16="http://schemas.microsoft.com/office/drawing/2014/main" id="{82D220AE-A37C-40D3-B430-DD3AC33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0">
            <a:extLst xmlns:a="http://schemas.openxmlformats.org/drawingml/2006/main">
              <a:ext uri="{FF2B5EF4-FFF2-40B4-BE49-F238E27FC236}">
                <a16:creationId xmlns:a16="http://schemas.microsoft.com/office/drawing/2014/main" id="{DAC24D5E-7B44-43F7-8880-EC321B1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0">
            <a:extLst xmlns:a="http://schemas.openxmlformats.org/drawingml/2006/main">
              <a:ext uri="{FF2B5EF4-FFF2-40B4-BE49-F238E27FC236}">
                <a16:creationId xmlns:a16="http://schemas.microsoft.com/office/drawing/2014/main" id="{208A45C7-8610-4AC5-AD07-61D42845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0">
            <a:extLst xmlns:a="http://schemas.openxmlformats.org/drawingml/2006/main">
              <a:ext uri="{FF2B5EF4-FFF2-40B4-BE49-F238E27FC236}">
                <a16:creationId xmlns:a16="http://schemas.microsoft.com/office/drawing/2014/main" id="{0B954E67-B918-4E55-A44B-D12546C1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 · Marktverlauf: Aktualität und Streuung sichtbar</a:t>
            </a:r>
          </a:p>
        </p:txBody>
      </p:sp>
      <p:sp>
        <p:nvSpPr>
          <p:cNvPr id="5" name="source-10">
            <a:extLst xmlns:a="http://schemas.openxmlformats.org/drawingml/2006/main">
              <a:ext uri="{FF2B5EF4-FFF2-40B4-BE49-F238E27FC236}">
                <a16:creationId xmlns:a16="http://schemas.microsoft.com/office/drawing/2014/main" id="{BBBFC246-79F3-405A-A68B-D1C942FE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4B68A03E-D847-40FB-9609-DF5775C6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11</a:t>
            </a:r>
          </a:p>
        </p:txBody>
      </p:sp>
      <p:sp>
        <p:nvSpPr>
          <p:cNvPr id="7" name="screenshot-back">
            <a:extLst xmlns:a="http://schemas.openxmlformats.org/drawingml/2006/main">
              <a:ext uri="{FF2B5EF4-FFF2-40B4-BE49-F238E27FC236}">
                <a16:creationId xmlns:a16="http://schemas.microsoft.com/office/drawing/2014/main" id="{4BDF2DE0-9C75-4F74-A351-FC51D854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8" name="product-one">
            <a:extLst xmlns:a="http://schemas.openxmlformats.org/drawingml/2006/main">
              <a:ext uri="{FF2B5EF4-FFF2-40B4-BE49-F238E27FC236}">
                <a16:creationId xmlns:a16="http://schemas.microsoft.com/office/drawing/2014/main" id="{09F5E031-EF10-4D41-8CE7-40317B2F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 · Region wählen</a:t>
            </a:r>
          </a:p>
        </p:txBody>
      </p:sp>
      <p:sp>
        <p:nvSpPr>
          <p:cNvPr id="9" name="product-two">
            <a:extLst xmlns:a="http://schemas.openxmlformats.org/drawingml/2006/main">
              <a:ext uri="{FF2B5EF4-FFF2-40B4-BE49-F238E27FC236}">
                <a16:creationId xmlns:a16="http://schemas.microsoft.com/office/drawing/2014/main" id="{70FFCED3-3BF4-498D-86F4-E2F7EBDF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2 · Quartalsverlauf</a:t>
            </a:r>
          </a:p>
        </p:txBody>
      </p:sp>
      <p:sp>
        <p:nvSpPr>
          <p:cNvPr id="10" name="product-three">
            <a:extLst xmlns:a="http://schemas.openxmlformats.org/drawingml/2006/main">
              <a:ext uri="{FF2B5EF4-FFF2-40B4-BE49-F238E27FC236}">
                <a16:creationId xmlns:a16="http://schemas.microsoft.com/office/drawing/2014/main" id="{A29F6F45-2617-4455-A0D0-91E3DBEC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3 · Markt-IQR lesen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6b5a7a3184ff2"/>
          <a:srcRect xmlns:a="http://schemas.openxmlformats.org/drawingml/2006/main" l="0" t="24967" r="0" b="2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  <p:sp>
        <p:nvSpPr>
          <p:cNvPr id="12" name="product-mask">
            <a:extLst xmlns:a="http://schemas.openxmlformats.org/drawingml/2006/main">
              <a:ext uri="{FF2B5EF4-FFF2-40B4-BE49-F238E27FC236}">
                <a16:creationId xmlns:a16="http://schemas.microsoft.com/office/drawing/2014/main" id="{62E760CC-F31B-42B2-ABD3-B8E6D68F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485900"/>
            <a:ext cx="79914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138"/>
          </a:solidFill>
          <a:ln xmlns:a="http://schemas.openxmlformats.org/drawingml/2006/main" w="0">
            <a:solidFill>
              <a:srgbClr val="102138"/>
            </a:solidFill>
            <a:prstDash val="solid"/>
          </a:ln>
        </p:spPr>
      </p:sp>
      <p:sp>
        <p:nvSpPr>
          <p:cNvPr id="13" name="product-mask-copy">
            <a:extLst xmlns:a="http://schemas.openxmlformats.org/drawingml/2006/main">
              <a:ext uri="{FF2B5EF4-FFF2-40B4-BE49-F238E27FC236}">
                <a16:creationId xmlns:a16="http://schemas.microsoft.com/office/drawing/2014/main" id="{0A346937-0234-4B35-9F4B-D02F8DE2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7334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GREIX 2026-Q1 · unabhängig vom ML-Ziel</a:t>
            </a:r>
          </a:p>
        </p:txBody>
      </p:sp>
      <p:sp>
        <p:nvSpPr>
          <p:cNvPr id="14" name="product-mask-subcopy">
            <a:extLst xmlns:a="http://schemas.openxmlformats.org/drawingml/2006/main">
              <a:ext uri="{FF2B5EF4-FFF2-40B4-BE49-F238E27FC236}">
                <a16:creationId xmlns:a16="http://schemas.microsoft.com/office/drawing/2014/main" id="{8843F53C-923D-460A-B35A-EB8DD0FB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733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CFE8DF"/>
                </a:solidFill>
                <a:latin typeface="Arial"/>
                <a:ea typeface="Arial"/>
                <a:cs typeface="Arial"/>
              </a:defRPr>
            </a:pPr>
            <a:r>
              <a:t>Der Angebotsmarkt aktualisiert die App, ohne den Zensus 2022 umzudeuten.</a:t>
            </a:r>
          </a:p>
        </p:txBody>
      </p:sp>
    </p:spTree>
    <p:extLst>
      <p:ext uri="{BB962C8B-B14F-4D97-AF65-F5344CB8AC3E}">
        <p14:creationId xmlns:p14="http://schemas.microsoft.com/office/powerpoint/2010/main" val="1400451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header-10">
            <a:extLst xmlns:a="http://schemas.openxmlformats.org/drawingml/2006/main">
              <a:ext uri="{FF2B5EF4-FFF2-40B4-BE49-F238E27FC236}">
                <a16:creationId xmlns:a16="http://schemas.microsoft.com/office/drawing/2014/main" id="{82D220AE-A37C-40D3-B430-DD3AC338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0">
            <a:extLst xmlns:a="http://schemas.openxmlformats.org/drawingml/2006/main">
              <a:ext uri="{FF2B5EF4-FFF2-40B4-BE49-F238E27FC236}">
                <a16:creationId xmlns:a16="http://schemas.microsoft.com/office/drawing/2014/main" id="{DAC24D5E-7B44-43F7-8880-EC321B1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0">
            <a:extLst xmlns:a="http://schemas.openxmlformats.org/drawingml/2006/main">
              <a:ext uri="{FF2B5EF4-FFF2-40B4-BE49-F238E27FC236}">
                <a16:creationId xmlns:a16="http://schemas.microsoft.com/office/drawing/2014/main" id="{208A45C7-8610-4AC5-AD07-61D42845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0">
            <a:extLst xmlns:a="http://schemas.openxmlformats.org/drawingml/2006/main">
              <a:ext uri="{FF2B5EF4-FFF2-40B4-BE49-F238E27FC236}">
                <a16:creationId xmlns:a16="http://schemas.microsoft.com/office/drawing/2014/main" id="{0B954E67-B918-4E55-A44B-D12546C1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K · Methodik: Modellgüte, Quellen und Grenzen</a:t>
            </a:r>
          </a:p>
        </p:txBody>
      </p:sp>
      <p:sp>
        <p:nvSpPr>
          <p:cNvPr id="5" name="source-10">
            <a:extLst xmlns:a="http://schemas.openxmlformats.org/drawingml/2006/main">
              <a:ext uri="{FF2B5EF4-FFF2-40B4-BE49-F238E27FC236}">
                <a16:creationId xmlns:a16="http://schemas.microsoft.com/office/drawing/2014/main" id="{BBBFC246-79F3-405A-A68B-D1C942FE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4B68A03E-D847-40FB-9609-DF5775C6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12</a:t>
            </a:r>
          </a:p>
        </p:txBody>
      </p:sp>
      <p:sp>
        <p:nvSpPr>
          <p:cNvPr id="7" name="screenshot-back">
            <a:extLst xmlns:a="http://schemas.openxmlformats.org/drawingml/2006/main">
              <a:ext uri="{FF2B5EF4-FFF2-40B4-BE49-F238E27FC236}">
                <a16:creationId xmlns:a16="http://schemas.microsoft.com/office/drawing/2014/main" id="{4BDF2DE0-9C75-4F74-A351-FC51D854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104900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DF"/>
            </a:solidFill>
            <a:prstDash val="solid"/>
          </a:ln>
        </p:spPr>
      </p:sp>
      <p:sp>
        <p:nvSpPr>
          <p:cNvPr id="8" name="product-one">
            <a:extLst xmlns:a="http://schemas.openxmlformats.org/drawingml/2006/main">
              <a:ext uri="{FF2B5EF4-FFF2-40B4-BE49-F238E27FC236}">
                <a16:creationId xmlns:a16="http://schemas.microsoft.com/office/drawing/2014/main" id="{09F5E031-EF10-4D41-8CE7-40317B2F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1 · Datenstand</a:t>
            </a:r>
          </a:p>
        </p:txBody>
      </p:sp>
      <p:sp>
        <p:nvSpPr>
          <p:cNvPr id="9" name="product-two">
            <a:extLst xmlns:a="http://schemas.openxmlformats.org/drawingml/2006/main">
              <a:ext uri="{FF2B5EF4-FFF2-40B4-BE49-F238E27FC236}">
                <a16:creationId xmlns:a16="http://schemas.microsoft.com/office/drawing/2014/main" id="{70FFCED3-3BF4-498D-86F4-E2F7EBDF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2 · Spatial Holdout</a:t>
            </a:r>
          </a:p>
        </p:txBody>
      </p:sp>
      <p:sp>
        <p:nvSpPr>
          <p:cNvPr id="10" name="product-three">
            <a:extLst xmlns:a="http://schemas.openxmlformats.org/drawingml/2006/main">
              <a:ext uri="{FF2B5EF4-FFF2-40B4-BE49-F238E27FC236}">
                <a16:creationId xmlns:a16="http://schemas.microsoft.com/office/drawing/2014/main" id="{A29F6F45-2617-4455-A0D0-91E3DBEC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436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t>3 · Coverage &amp; Disclaimer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eb2a6d3d1e4257"/>
          <a:srcRect xmlns:a="http://schemas.openxmlformats.org/drawingml/2006/main" l="0" t="24967" r="0" b="2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52450" y="1485900"/>
            <a:ext cx="10858500" cy="4152900"/>
          </a:xfrm>
          <a:prstGeom xmlns:a="http://schemas.openxmlformats.org/drawingml/2006/main" prst="rect">
            <a:avLst/>
          </a:prstGeom>
        </p:spPr>
      </p:pic>
      <p:sp>
        <p:nvSpPr>
          <p:cNvPr id="12" name="product-mask">
            <a:extLst xmlns:a="http://schemas.openxmlformats.org/drawingml/2006/main">
              <a:ext uri="{FF2B5EF4-FFF2-40B4-BE49-F238E27FC236}">
                <a16:creationId xmlns:a16="http://schemas.microsoft.com/office/drawing/2014/main" id="{62E760CC-F31B-42B2-ABD3-B8E6D68F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485900"/>
            <a:ext cx="79914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138"/>
          </a:solidFill>
          <a:ln xmlns:a="http://schemas.openxmlformats.org/drawingml/2006/main" w="0">
            <a:solidFill>
              <a:srgbClr val="102138"/>
            </a:solidFill>
            <a:prstDash val="solid"/>
          </a:ln>
        </p:spPr>
      </p:sp>
      <p:sp>
        <p:nvSpPr>
          <p:cNvPr id="13" name="product-mask-copy">
            <a:extLst xmlns:a="http://schemas.openxmlformats.org/drawingml/2006/main">
              <a:ext uri="{FF2B5EF4-FFF2-40B4-BE49-F238E27FC236}">
                <a16:creationId xmlns:a16="http://schemas.microsoft.com/office/drawing/2014/main" id="{0A346937-0234-4B35-9F4B-D02F8DE2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7334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Transparenz ist Teil des Produkts</a:t>
            </a:r>
          </a:p>
        </p:txBody>
      </p:sp>
      <p:sp>
        <p:nvSpPr>
          <p:cNvPr id="14" name="product-mask-subcopy">
            <a:extLst xmlns:a="http://schemas.openxmlformats.org/drawingml/2006/main">
              <a:ext uri="{FF2B5EF4-FFF2-40B4-BE49-F238E27FC236}">
                <a16:creationId xmlns:a16="http://schemas.microsoft.com/office/drawing/2014/main" id="{8843F53C-923D-460A-B35A-EB8DD0FB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733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CFE8DF"/>
                </a:solidFill>
                <a:latin typeface="Arial"/>
                <a:ea typeface="Arial"/>
                <a:cs typeface="Arial"/>
              </a:defRPr>
            </a:pPr>
            <a:r>
              <a:t>Nutzer sehen Datenquellen, 7-Kandidaten-Vergleich, Testgüte und 86,8 % Coverage.</a:t>
            </a:r>
          </a:p>
        </p:txBody>
      </p:sp>
    </p:spTree>
    <p:extLst>
      <p:ext uri="{BB962C8B-B14F-4D97-AF65-F5344CB8AC3E}">
        <p14:creationId xmlns:p14="http://schemas.microsoft.com/office/powerpoint/2010/main" val="1400451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header-11">
            <a:extLst xmlns:a="http://schemas.openxmlformats.org/drawingml/2006/main">
              <a:ext uri="{FF2B5EF4-FFF2-40B4-BE49-F238E27FC236}">
                <a16:creationId xmlns:a16="http://schemas.microsoft.com/office/drawing/2014/main" id="{69C0D3BE-8666-42D8-A511-6D32A785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1">
            <a:extLst xmlns:a="http://schemas.openxmlformats.org/drawingml/2006/main">
              <a:ext uri="{FF2B5EF4-FFF2-40B4-BE49-F238E27FC236}">
                <a16:creationId xmlns:a16="http://schemas.microsoft.com/office/drawing/2014/main" id="{2241EBF9-3B9C-45FA-BF42-71FDB3E5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1">
            <a:extLst xmlns:a="http://schemas.openxmlformats.org/drawingml/2006/main">
              <a:ext uri="{FF2B5EF4-FFF2-40B4-BE49-F238E27FC236}">
                <a16:creationId xmlns:a16="http://schemas.microsoft.com/office/drawing/2014/main" id="{4545EEF1-C021-4BA2-9408-E9F43FE8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1">
            <a:extLst xmlns:a="http://schemas.openxmlformats.org/drawingml/2006/main">
              <a:ext uri="{FF2B5EF4-FFF2-40B4-BE49-F238E27FC236}">
                <a16:creationId xmlns:a16="http://schemas.microsoft.com/office/drawing/2014/main" id="{6F7FA0BD-7285-4198-90B3-A6B9DEBF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C/K · Ein gutes Modell kennt seine Einsatzgrenze</a:t>
            </a:r>
          </a:p>
        </p:txBody>
      </p:sp>
      <p:sp>
        <p:nvSpPr>
          <p:cNvPr id="5" name="source-11">
            <a:extLst xmlns:a="http://schemas.openxmlformats.org/drawingml/2006/main">
              <a:ext uri="{FF2B5EF4-FFF2-40B4-BE49-F238E27FC236}">
                <a16:creationId xmlns:a16="http://schemas.microsoft.com/office/drawing/2014/main" id="{960D00F3-3CAE-4A61-B148-62C5D45D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1">
            <a:extLst xmlns:a="http://schemas.openxmlformats.org/drawingml/2006/main">
              <a:ext uri="{FF2B5EF4-FFF2-40B4-BE49-F238E27FC236}">
                <a16:creationId xmlns:a16="http://schemas.microsoft.com/office/drawing/2014/main" id="{E79274EB-7947-41C3-8A02-3F03F433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13</a:t>
            </a:r>
          </a:p>
        </p:txBody>
      </p:sp>
      <p:sp>
        <p:nvSpPr>
          <p:cNvPr id="7" name="limits-lead">
            <a:extLst xmlns:a="http://schemas.openxmlformats.org/drawingml/2006/main">
              <a:ext uri="{FF2B5EF4-FFF2-40B4-BE49-F238E27FC236}">
                <a16:creationId xmlns:a16="http://schemas.microsoft.com/office/drawing/2014/main" id="{A2974C9F-7C28-4462-8412-716EF764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049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MietCheck unterstützt Exploration und Umzugsentscheidungen – keine rechtliche Preisfeststellung.</a:t>
            </a:r>
          </a:p>
        </p:txBody>
      </p:sp>
      <p:cxnSp>
        <p:nvCxnSpPr>
          <p:cNvPr id="52" name="limits-sep"/>
          <p:cNvCxnSpPr/>
          <p:nvPr/>
        </p:nvCxnSpPr>
        <p:spPr>
          <a:xfrm xmlns:a="http://schemas.openxmlformats.org/drawingml/2006/main">
            <a:off x="6096000" y="2133600"/>
            <a:ext cx="286" cy="3486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9" name="limits-left-title">
            <a:extLst xmlns:a="http://schemas.openxmlformats.org/drawingml/2006/main">
              <a:ext uri="{FF2B5EF4-FFF2-40B4-BE49-F238E27FC236}">
                <a16:creationId xmlns:a16="http://schemas.microsoft.com/office/drawing/2014/main" id="{032A934B-C847-40C6-A537-458E8AE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495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Was fehlt?</a:t>
            </a:r>
          </a:p>
        </p:txBody>
      </p:sp>
      <p:sp>
        <p:nvSpPr>
          <p:cNvPr id="10" name="limits-right-title">
            <a:extLst xmlns:a="http://schemas.openxmlformats.org/drawingml/2006/main">
              <a:ext uri="{FF2B5EF4-FFF2-40B4-BE49-F238E27FC236}">
                <a16:creationId xmlns:a16="http://schemas.microsoft.com/office/drawing/2014/main" id="{8BF5A322-F572-4231-8032-AE559B81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8387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Wie wird das abgefedert?</a:t>
            </a:r>
          </a:p>
        </p:txBody>
      </p:sp>
      <p:sp>
        <p:nvSpPr>
          <p:cNvPr id="11" name="limit-dot-0">
            <a:extLst xmlns:a="http://schemas.openxmlformats.org/drawingml/2006/main">
              <a:ext uri="{FF2B5EF4-FFF2-40B4-BE49-F238E27FC236}">
                <a16:creationId xmlns:a16="http://schemas.microsoft.com/office/drawing/2014/main" id="{DDD37B09-8035-4B89-B47E-734E7790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2" name="limit-copy-0">
            <a:extLst xmlns:a="http://schemas.openxmlformats.org/drawingml/2006/main">
              <a:ext uri="{FF2B5EF4-FFF2-40B4-BE49-F238E27FC236}">
                <a16:creationId xmlns:a16="http://schemas.microsoft.com/office/drawing/2014/main" id="{4AC89F28-5CCE-4F3A-AA44-5D84CBE3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Ausstattung, Energiezustand, Etage und Mikrolage</a:t>
            </a:r>
          </a:p>
        </p:txBody>
      </p:sp>
      <p:sp>
        <p:nvSpPr>
          <p:cNvPr id="13" name="mit-dot-0">
            <a:extLst xmlns:a="http://schemas.openxmlformats.org/drawingml/2006/main">
              <a:ext uri="{FF2B5EF4-FFF2-40B4-BE49-F238E27FC236}">
                <a16:creationId xmlns:a16="http://schemas.microsoft.com/office/drawing/2014/main" id="{E4713A01-42DB-4F73-AA07-658794D1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4" name="mit-copy-0">
            <a:extLst xmlns:a="http://schemas.openxmlformats.org/drawingml/2006/main">
              <a:ext uri="{FF2B5EF4-FFF2-40B4-BE49-F238E27FC236}">
                <a16:creationId xmlns:a16="http://schemas.microsoft.com/office/drawing/2014/main" id="{CBE6039B-582C-46A1-A37C-8BA5B2B8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575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keine adressgenaue oder rechtliche Behauptung</a:t>
            </a:r>
          </a:p>
        </p:txBody>
      </p:sp>
      <p:sp>
        <p:nvSpPr>
          <p:cNvPr id="15" name="limit-dot-1">
            <a:extLst xmlns:a="http://schemas.openxmlformats.org/drawingml/2006/main">
              <a:ext uri="{FF2B5EF4-FFF2-40B4-BE49-F238E27FC236}">
                <a16:creationId xmlns:a16="http://schemas.microsoft.com/office/drawing/2014/main" id="{735C978F-BD3A-4A2F-9F0A-51736733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16" name="limit-copy-1">
            <a:extLst xmlns:a="http://schemas.openxmlformats.org/drawingml/2006/main">
              <a:ext uri="{FF2B5EF4-FFF2-40B4-BE49-F238E27FC236}">
                <a16:creationId xmlns:a16="http://schemas.microsoft.com/office/drawing/2014/main" id="{D421D142-943C-4107-972A-97DC39AA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Zensus-Stichtag 2022 und räumlicher Shift</a:t>
            </a:r>
          </a:p>
        </p:txBody>
      </p:sp>
      <p:sp>
        <p:nvSpPr>
          <p:cNvPr id="17" name="mit-dot-1">
            <a:extLst xmlns:a="http://schemas.openxmlformats.org/drawingml/2006/main">
              <a:ext uri="{FF2B5EF4-FFF2-40B4-BE49-F238E27FC236}">
                <a16:creationId xmlns:a16="http://schemas.microsoft.com/office/drawing/2014/main" id="{67B7C1AB-9E09-4067-89BC-3ED8B760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18" name="mit-copy-1">
            <a:extLst xmlns:a="http://schemas.openxmlformats.org/drawingml/2006/main">
              <a:ext uri="{FF2B5EF4-FFF2-40B4-BE49-F238E27FC236}">
                <a16:creationId xmlns:a16="http://schemas.microsoft.com/office/drawing/2014/main" id="{F8644C7B-BF1E-48BC-B788-FD05FE1D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433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aktuellen GREIX-Markt separat ausweisen</a:t>
            </a:r>
          </a:p>
        </p:txBody>
      </p:sp>
      <p:sp>
        <p:nvSpPr>
          <p:cNvPr id="19" name="limit-dot-2">
            <a:extLst xmlns:a="http://schemas.openxmlformats.org/drawingml/2006/main">
              <a:ext uri="{FF2B5EF4-FFF2-40B4-BE49-F238E27FC236}">
                <a16:creationId xmlns:a16="http://schemas.microsoft.com/office/drawing/2014/main" id="{B72C6549-DA74-4AA6-9F21-90E3D430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0" name="limit-copy-2">
            <a:extLst xmlns:a="http://schemas.openxmlformats.org/drawingml/2006/main">
              <a:ext uri="{FF2B5EF4-FFF2-40B4-BE49-F238E27FC236}">
                <a16:creationId xmlns:a16="http://schemas.microsoft.com/office/drawing/2014/main" id="{FD9A2864-D2E7-4D66-A7E6-A1733FD4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Angebotsdaten außerhalb der GREIX-Märkte</a:t>
            </a:r>
          </a:p>
        </p:txBody>
      </p:sp>
      <p:sp>
        <p:nvSpPr>
          <p:cNvPr id="21" name="mit-dot-2">
            <a:extLst xmlns:a="http://schemas.openxmlformats.org/drawingml/2006/main">
              <a:ext uri="{FF2B5EF4-FFF2-40B4-BE49-F238E27FC236}">
                <a16:creationId xmlns:a16="http://schemas.microsoft.com/office/drawing/2014/main" id="{DBB39BF6-D06F-4604-9961-5696EB5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05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22" name="mit-copy-2">
            <a:extLst xmlns:a="http://schemas.openxmlformats.org/drawingml/2006/main">
              <a:ext uri="{FF2B5EF4-FFF2-40B4-BE49-F238E27FC236}">
                <a16:creationId xmlns:a16="http://schemas.microsoft.com/office/drawing/2014/main" id="{DEA41A41-08DC-484A-B0EF-4580F664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291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keine fehlenden Regionen erfinden</a:t>
            </a:r>
          </a:p>
        </p:txBody>
      </p:sp>
      <p:sp>
        <p:nvSpPr>
          <p:cNvPr id="23" name="limit-dot-3">
            <a:extLst xmlns:a="http://schemas.openxmlformats.org/drawingml/2006/main">
              <a:ext uri="{FF2B5EF4-FFF2-40B4-BE49-F238E27FC236}">
                <a16:creationId xmlns:a16="http://schemas.microsoft.com/office/drawing/2014/main" id="{E1065956-2E0E-4DBC-BD7C-899E8FCD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solidFill>
              <a:srgbClr val="E85D3F"/>
            </a:solidFill>
            <a:prstDash val="solid"/>
          </a:ln>
        </p:spPr>
      </p:sp>
      <p:sp>
        <p:nvSpPr>
          <p:cNvPr id="24" name="limit-copy-3">
            <a:extLst xmlns:a="http://schemas.openxmlformats.org/drawingml/2006/main">
              <a:ext uri="{FF2B5EF4-FFF2-40B4-BE49-F238E27FC236}">
                <a16:creationId xmlns:a16="http://schemas.microsoft.com/office/drawing/2014/main" id="{4AF22B09-425D-4468-B63E-058F57B6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4857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nominale 90-%-Coverage nicht erreicht</a:t>
            </a:r>
          </a:p>
        </p:txBody>
      </p:sp>
      <p:sp>
        <p:nvSpPr>
          <p:cNvPr id="25" name="mit-dot-3">
            <a:extLst xmlns:a="http://schemas.openxmlformats.org/drawingml/2006/main">
              <a:ext uri="{FF2B5EF4-FFF2-40B4-BE49-F238E27FC236}">
                <a16:creationId xmlns:a16="http://schemas.microsoft.com/office/drawing/2014/main" id="{D1BA2AFD-3626-4EBE-AA4E-4B1BEF48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91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B62"/>
          </a:solidFill>
          <a:ln xmlns:a="http://schemas.openxmlformats.org/drawingml/2006/main" w="0">
            <a:solidFill>
              <a:srgbClr val="0F7B62"/>
            </a:solidFill>
            <a:prstDash val="solid"/>
          </a:ln>
        </p:spPr>
      </p:sp>
      <p:sp>
        <p:nvSpPr>
          <p:cNvPr id="26" name="mit-copy-3">
            <a:extLst xmlns:a="http://schemas.openxmlformats.org/drawingml/2006/main">
              <a:ext uri="{FF2B5EF4-FFF2-40B4-BE49-F238E27FC236}">
                <a16:creationId xmlns:a16="http://schemas.microsoft.com/office/drawing/2014/main" id="{D17182A3-0D2D-4DF2-A106-4F150423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149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empirische 86,8 % offen kommunizieren</a:t>
            </a:r>
          </a:p>
        </p:txBody>
      </p:sp>
      <p:sp>
        <p:nvSpPr>
          <p:cNvPr id="27" name="not-advice">
            <a:extLst xmlns:a="http://schemas.openxmlformats.org/drawingml/2006/main">
              <a:ext uri="{FF2B5EF4-FFF2-40B4-BE49-F238E27FC236}">
                <a16:creationId xmlns:a16="http://schemas.microsoft.com/office/drawing/2014/main" id="{D8247965-B413-4039-8BA9-83240F17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8" name="not-advice-text">
            <a:extLst xmlns:a="http://schemas.openxmlformats.org/drawingml/2006/main">
              <a:ext uri="{FF2B5EF4-FFF2-40B4-BE49-F238E27FC236}">
                <a16:creationId xmlns:a16="http://schemas.microsoft.com/office/drawing/2014/main" id="{DD9BC2A2-4C9F-4C0A-B305-B70F79A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106299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Kein amtlicher Mietspiegel · keine Rechtsberatung · keine Bonitäts- oder Vermieterentscheidung</a:t>
            </a:r>
          </a:p>
        </p:txBody>
      </p:sp>
    </p:spTree>
    <p:extLst>
      <p:ext uri="{BB962C8B-B14F-4D97-AF65-F5344CB8AC3E}">
        <p14:creationId xmlns:p14="http://schemas.microsoft.com/office/powerpoint/2010/main" val="5418921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1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clusion-kicker">
            <a:extLst xmlns:a="http://schemas.openxmlformats.org/drawingml/2006/main">
              <a:ext uri="{FF2B5EF4-FFF2-40B4-BE49-F238E27FC236}">
                <a16:creationId xmlns:a16="http://schemas.microsoft.com/office/drawing/2014/main" id="{A9783E21-7A02-4E63-BEE7-7D97DBAC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90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71E2B7"/>
                </a:solidFill>
                <a:latin typeface="Arial"/>
                <a:ea typeface="Arial"/>
                <a:cs typeface="Arial"/>
              </a:defRPr>
            </a:pPr>
            <a:r>
              <a:t>FAZIT · QUA³CK GESCHLOSSEN</a:t>
            </a:r>
          </a:p>
        </p:txBody>
      </p:sp>
      <p:sp>
        <p:nvSpPr>
          <p:cNvPr id="2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12A9F7B3-107F-4DA8-BA91-CF1A9429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43050"/>
            <a:ext cx="1066800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Nicht eine „faire“ Miete.
Eine nachvollziehbare Umzugsentscheidung.</a:t>
            </a:r>
          </a:p>
        </p:txBody>
      </p:sp>
      <p:sp>
        <p:nvSpPr>
          <p:cNvPr id="3" name="conclusion-proof">
            <a:extLst xmlns:a="http://schemas.openxmlformats.org/drawingml/2006/main">
              <a:ext uri="{FF2B5EF4-FFF2-40B4-BE49-F238E27FC236}">
                <a16:creationId xmlns:a16="http://schemas.microsoft.com/office/drawing/2014/main" id="{426EFC8B-986D-4707-814A-5F17FA45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D7DEE8"/>
                </a:solidFill>
                <a:latin typeface="Arial"/>
                <a:ea typeface="Arial"/>
                <a:cs typeface="Arial"/>
              </a:defRPr>
            </a:pPr>
            <a:r>
              <a:t>2,06 Mio. Zeilen · StandardScaler verstanden · 7 Kandidaten · Spatial Holdout · 38,3 % Gewinn · 86,8 % Coverage</a:t>
            </a:r>
          </a:p>
        </p:txBody>
      </p:sp>
      <p:cxnSp>
        <p:nvCxnSpPr>
          <p:cNvPr id="18" name="conclusion-rule"/>
          <p:cNvCxnSpPr/>
          <p:nvPr/>
        </p:nvCxnSpPr>
        <p:spPr>
          <a:xfrm xmlns:a="http://schemas.openxmlformats.org/drawingml/2006/main">
            <a:off x="533400" y="5295900"/>
            <a:ext cx="10668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B4B60"/>
            </a:solidFill>
            <a:prstDash val="solid"/>
          </a:ln>
        </p:spPr>
      </p:cxnSp>
      <p:sp>
        <p:nvSpPr>
          <p:cNvPr id="5" name="conclusion-close">
            <a:extLst xmlns:a="http://schemas.openxmlformats.org/drawingml/2006/main">
              <a:ext uri="{FF2B5EF4-FFF2-40B4-BE49-F238E27FC236}">
                <a16:creationId xmlns:a16="http://schemas.microsoft.com/office/drawing/2014/main" id="{8B624221-185C-4722-8C76-79EA142D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9906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71E2B7"/>
                </a:solidFill>
                <a:latin typeface="Arial"/>
                <a:ea typeface="Arial"/>
                <a:cs typeface="Arial"/>
              </a:defRPr>
            </a:pPr>
            <a:r>
              <a:t>MietCheck übersetzt Big Data und ehrliches Machine Learning in einen echten persönlichen Mehrwert.</a:t>
            </a:r>
          </a:p>
        </p:txBody>
      </p:sp>
      <p:sp>
        <p:nvSpPr>
          <p:cNvPr id="6" name="conclusion-page">
            <a:extLst xmlns:a="http://schemas.openxmlformats.org/drawingml/2006/main">
              <a:ext uri="{FF2B5EF4-FFF2-40B4-BE49-F238E27FC236}">
                <a16:creationId xmlns:a16="http://schemas.microsoft.com/office/drawing/2014/main" id="{FD6BCA4C-6701-4E94-94B4-47B92254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457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AAB5C3"/>
                </a:solidFill>
                <a:latin typeface="Arial"/>
                <a:ea typeface="Arial"/>
                <a:cs typeface="Arial"/>
              </a:defRPr>
            </a:pPr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5170386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header-13">
            <a:extLst xmlns:a="http://schemas.openxmlformats.org/drawingml/2006/main">
              <a:ext uri="{FF2B5EF4-FFF2-40B4-BE49-F238E27FC236}">
                <a16:creationId xmlns:a16="http://schemas.microsoft.com/office/drawing/2014/main" id="{2CD076FD-D4E2-433F-B474-C7867F3D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4"/>
          </a:solidFill>
          <a:ln xmlns:a="http://schemas.openxmlformats.org/drawingml/2006/main" w="0">
            <a:solidFill>
              <a:srgbClr val="0F2134"/>
            </a:solidFill>
            <a:prstDash val="solid"/>
          </a:ln>
        </p:spPr>
      </p:sp>
      <p:sp>
        <p:nvSpPr>
          <p:cNvPr id="2" name="header-teal-13">
            <a:extLst xmlns:a="http://schemas.openxmlformats.org/drawingml/2006/main">
              <a:ext uri="{FF2B5EF4-FFF2-40B4-BE49-F238E27FC236}">
                <a16:creationId xmlns:a16="http://schemas.microsoft.com/office/drawing/2014/main" id="{6E18CD19-21E4-4971-B783-F35A938F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F50"/>
          </a:solidFill>
          <a:ln xmlns:a="http://schemas.openxmlformats.org/drawingml/2006/main" w="0">
            <a:solidFill>
              <a:srgbClr val="174F50"/>
            </a:solidFill>
            <a:prstDash val="solid"/>
          </a:ln>
        </p:spPr>
      </p:sp>
      <p:sp>
        <p:nvSpPr>
          <p:cNvPr id="3" name="header-accent-13">
            <a:extLst xmlns:a="http://schemas.openxmlformats.org/drawingml/2006/main">
              <a:ext uri="{FF2B5EF4-FFF2-40B4-BE49-F238E27FC236}">
                <a16:creationId xmlns:a16="http://schemas.microsoft.com/office/drawing/2014/main" id="{CCF94777-7A5C-4147-B3E4-A13E01D3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C99A"/>
          </a:solidFill>
          <a:ln xmlns:a="http://schemas.openxmlformats.org/drawingml/2006/main" w="0">
            <a:solidFill>
              <a:srgbClr val="19C99A"/>
            </a:solidFill>
            <a:prstDash val="solid"/>
          </a:ln>
        </p:spPr>
      </p:sp>
      <p:sp>
        <p:nvSpPr>
          <p:cNvPr id="4" name="title-13">
            <a:extLst xmlns:a="http://schemas.openxmlformats.org/drawingml/2006/main">
              <a:ext uri="{FF2B5EF4-FFF2-40B4-BE49-F238E27FC236}">
                <a16:creationId xmlns:a16="http://schemas.microsoft.com/office/drawing/2014/main" id="{E920D481-0D5D-4D08-BDF4-AF2BE302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076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Backup · Quellen und Reproduzierbarkeit</a:t>
            </a:r>
          </a:p>
        </p:txBody>
      </p:sp>
      <p:sp>
        <p:nvSpPr>
          <p:cNvPr id="5" name="source-13">
            <a:extLst xmlns:a="http://schemas.openxmlformats.org/drawingml/2006/main">
              <a:ext uri="{FF2B5EF4-FFF2-40B4-BE49-F238E27FC236}">
                <a16:creationId xmlns:a16="http://schemas.microsoft.com/office/drawing/2014/main" id="{22EF8BF9-60F6-4D2D-BF33-19F40312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6" name="page-13">
            <a:extLst xmlns:a="http://schemas.openxmlformats.org/drawingml/2006/main">
              <a:ext uri="{FF2B5EF4-FFF2-40B4-BE49-F238E27FC236}">
                <a16:creationId xmlns:a16="http://schemas.microsoft.com/office/drawing/2014/main" id="{6530395F-337D-4405-9E2C-F25840B6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15</a:t>
            </a:r>
          </a:p>
        </p:txBody>
      </p:sp>
      <p:sp>
        <p:nvSpPr>
          <p:cNvPr id="7" name="sources-one-title">
            <a:extLst xmlns:a="http://schemas.openxmlformats.org/drawingml/2006/main">
              <a:ext uri="{FF2B5EF4-FFF2-40B4-BE49-F238E27FC236}">
                <a16:creationId xmlns:a16="http://schemas.microsoft.com/office/drawing/2014/main" id="{B47C0066-7B17-4687-B334-E76AEA45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F7B62"/>
                </a:solidFill>
                <a:latin typeface="Arial"/>
                <a:ea typeface="Arial"/>
                <a:cs typeface="Arial"/>
              </a:defRPr>
            </a:pPr>
            <a:r>
              <a:t>Zensus 2022</a:t>
            </a:r>
          </a:p>
        </p:txBody>
      </p:sp>
      <p:sp>
        <p:nvSpPr>
          <p:cNvPr id="8" name="sources-one-body">
            <a:extLst xmlns:a="http://schemas.openxmlformats.org/drawingml/2006/main">
              <a:ext uri="{FF2B5EF4-FFF2-40B4-BE49-F238E27FC236}">
                <a16:creationId xmlns:a16="http://schemas.microsoft.com/office/drawing/2014/main" id="{52420C3A-CEA9-4C96-B15D-52FA05D2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49530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Statistische Ämter des Bundes und der Länder
100-m-Gitterdaten · Datenlizenz Deutschland – Namensnennung 2.0
Stichtag: 15.05.2022 · Veröffentlichung 2025</a:t>
            </a:r>
          </a:p>
        </p:txBody>
      </p:sp>
      <p:sp>
        <p:nvSpPr>
          <p:cNvPr id="9" name="sources-two-title">
            <a:extLst xmlns:a="http://schemas.openxmlformats.org/drawingml/2006/main">
              <a:ext uri="{FF2B5EF4-FFF2-40B4-BE49-F238E27FC236}">
                <a16:creationId xmlns:a16="http://schemas.microsoft.com/office/drawing/2014/main" id="{73B91E00-1407-4856-8C68-6E11CE87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2400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315CFF"/>
                </a:solidFill>
                <a:latin typeface="Arial"/>
                <a:ea typeface="Arial"/>
                <a:cs typeface="Arial"/>
              </a:defRPr>
            </a:pPr>
            <a:r>
              <a:t>GREIX Mietpreisindex</a:t>
            </a:r>
          </a:p>
        </p:txBody>
      </p:sp>
      <p:sp>
        <p:nvSpPr>
          <p:cNvPr id="10" name="sources-two-body">
            <a:extLst xmlns:a="http://schemas.openxmlformats.org/drawingml/2006/main">
              <a:ext uri="{FF2B5EF4-FFF2-40B4-BE49-F238E27FC236}">
                <a16:creationId xmlns:a16="http://schemas.microsoft.com/office/drawing/2014/main" id="{07CB8445-206B-4569-8FB3-E385D5A6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2197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Kiel Institut für Weltwirtschaft auf Basis der VALUE Marktdatenbank
Nominale Quartalswerte 2012-Q1 bis 2026-Q1
37 lokale Märkte plus Deutschlandreferenz</a:t>
            </a:r>
          </a:p>
        </p:txBody>
      </p:sp>
      <p:cxnSp>
        <p:nvCxnSpPr>
          <p:cNvPr id="48" name="sources-divider"/>
          <p:cNvCxnSpPr/>
          <p:nvPr/>
        </p:nvCxnSpPr>
        <p:spPr>
          <a:xfrm xmlns:a="http://schemas.openxmlformats.org/drawingml/2006/main">
            <a:off x="457200" y="3543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6E1DF"/>
            </a:solidFill>
            <a:prstDash val="solid"/>
          </a:ln>
        </p:spPr>
      </p:cxnSp>
      <p:sp>
        <p:nvSpPr>
          <p:cNvPr id="12" name="sources-repro-title">
            <a:extLst xmlns:a="http://schemas.openxmlformats.org/drawingml/2006/main">
              <a:ext uri="{FF2B5EF4-FFF2-40B4-BE49-F238E27FC236}">
                <a16:creationId xmlns:a16="http://schemas.microsoft.com/office/drawing/2014/main" id="{F8D67AEF-8165-4356-B8ED-2A174E8A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Reproduzierbar im Repository</a:t>
            </a:r>
          </a:p>
        </p:txBody>
      </p:sp>
      <p:sp>
        <p:nvSpPr>
          <p:cNvPr id="13" name="sources-repro-body">
            <a:extLst xmlns:a="http://schemas.openxmlformats.org/drawingml/2006/main">
              <a:ext uri="{FF2B5EF4-FFF2-40B4-BE49-F238E27FC236}">
                <a16:creationId xmlns:a16="http://schemas.microsoft.com/office/drawing/2014/main" id="{74CED86B-6349-4E4D-996A-92AAF05E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9600"/>
            <a:ext cx="1104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587"/>
                </a:solidFill>
                <a:latin typeface="Arial"/>
                <a:ea typeface="Arial"/>
                <a:cs typeface="Arial"/>
              </a:defRPr>
            </a:pPr>
            <a:r>
              <a:t>Q-, U-, A- und C-Phase als ausgeführte Notebooks
K-Phase als Knowledge-Transfer-Dokument
24/24 Codezellen ohne Fehler · JSON-Reports · GitHub Actions
Model/Data/Risk Cards · MLflow Registry · Docker</a:t>
            </a:r>
          </a:p>
        </p:txBody>
      </p:sp>
      <p:sp>
        <p:nvSpPr>
          <p:cNvPr id="14" name="sources-code">
            <a:extLst xmlns:a="http://schemas.openxmlformats.org/drawingml/2006/main">
              <a:ext uri="{FF2B5EF4-FFF2-40B4-BE49-F238E27FC236}">
                <a16:creationId xmlns:a16="http://schemas.microsoft.com/office/drawing/2014/main" id="{A6283417-4B44-4B98-BB27-C7DA65AD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1104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sources-code-text">
            <a:extLst xmlns:a="http://schemas.openxmlformats.org/drawingml/2006/main">
              <a:ext uri="{FF2B5EF4-FFF2-40B4-BE49-F238E27FC236}">
                <a16:creationId xmlns:a16="http://schemas.microsoft.com/office/drawing/2014/main" id="{F34B8F02-9BD0-4C66-B679-6A54855A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591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138"/>
                </a:solidFill>
                <a:latin typeface="Arial"/>
                <a:ea typeface="Arial"/>
                <a:cs typeface="Arial"/>
              </a:defRPr>
            </a:pPr>
            <a:r>
              <a:t>scripts/ · notebooks/ · reports/ · models/ · tests/ · docs/DATA_CARD.md · docs/MODEL_CARD.md</a:t>
            </a:r>
          </a:p>
        </p:txBody>
      </p:sp>
    </p:spTree>
    <p:extLst>
      <p:ext uri="{BB962C8B-B14F-4D97-AF65-F5344CB8AC3E}">
        <p14:creationId xmlns:p14="http://schemas.microsoft.com/office/powerpoint/2010/main" val="8150193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2026-07-19T11:47:20.6430000Z</dcterms:created>
  <dcterms:modified xsi:type="dcterms:W3CDTF">2026-07-19T11:47:20.6430000Z</dcterms:modified>
</coreProperties>
</file>