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2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3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ede4a3df59443ce" /><Relationship Type="http://schemas.openxmlformats.org/officeDocument/2006/relationships/extended-properties" Target="/docProps/app.xml" Id="R8d21663bdc0a4812" /><Relationship Type="http://schemas.openxmlformats.org/officeDocument/2006/relationships/officeDocument" Target="/ppt/presentation.xml" Id="Raeaa2513f3b9456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7033de2805e4e86"/>
  </p:sldMasterIdLst>
  <p:notesMasterIdLst>
    <p:notesMasterId xmlns:r="http://schemas.openxmlformats.org/officeDocument/2006/relationships" r:id="R68cdf93425874aec"/>
  </p:notesMasterIdLst>
  <p:sldIdLst>
    <p:sldId xmlns:r="http://schemas.openxmlformats.org/officeDocument/2006/relationships" id="256" r:id="R352f34d02ec74d85"/>
    <p:sldId xmlns:r="http://schemas.openxmlformats.org/officeDocument/2006/relationships" id="257" r:id="Ra1240c7bddc6412e"/>
    <p:sldId xmlns:r="http://schemas.openxmlformats.org/officeDocument/2006/relationships" id="258" r:id="Rc31fc35cde394625"/>
    <p:sldId xmlns:r="http://schemas.openxmlformats.org/officeDocument/2006/relationships" id="259" r:id="R68af630028fd4141"/>
    <p:sldId xmlns:r="http://schemas.openxmlformats.org/officeDocument/2006/relationships" id="260" r:id="R72ec798dd6d24236"/>
    <p:sldId xmlns:r="http://schemas.openxmlformats.org/officeDocument/2006/relationships" id="261" r:id="R0e993c5bfecd4b5d"/>
    <p:sldId xmlns:r="http://schemas.openxmlformats.org/officeDocument/2006/relationships" id="262" r:id="R28923ee6dbb74a84"/>
    <p:sldId xmlns:r="http://schemas.openxmlformats.org/officeDocument/2006/relationships" id="263" r:id="R6cea39de38a24bf2"/>
    <p:sldId xmlns:r="http://schemas.openxmlformats.org/officeDocument/2006/relationships" id="264" r:id="R3ccbef653795475a"/>
    <p:sldId xmlns:r="http://schemas.openxmlformats.org/officeDocument/2006/relationships" id="265" r:id="R915f25b11eb943d1"/>
    <p:sldId xmlns:r="http://schemas.openxmlformats.org/officeDocument/2006/relationships" id="266" r:id="Rfcb7b62eaef843f6"/>
    <p:sldId xmlns:r="http://schemas.openxmlformats.org/officeDocument/2006/relationships" id="267" r:id="R3519b03896d34720"/>
    <p:sldId xmlns:r="http://schemas.openxmlformats.org/officeDocument/2006/relationships" id="268" r:id="Rf74e57f78eb1483b"/>
    <p:sldId xmlns:r="http://schemas.openxmlformats.org/officeDocument/2006/relationships" id="269" r:id="R388337ec100a4c0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ffcdd05ee314950" /><Relationship Type="http://schemas.openxmlformats.org/officeDocument/2006/relationships/slideMaster" Target="/ppt/slideMasters/slideMaster1.xml" Id="R57033de2805e4e86" /><Relationship Type="http://schemas.openxmlformats.org/officeDocument/2006/relationships/notesMaster" Target="/ppt/notesMasters/notesMaster1.xml" Id="R68cdf93425874aec" /><Relationship Type="http://schemas.openxmlformats.org/officeDocument/2006/relationships/presProps" Target="/ppt/presProps.xml" Id="Rf962c3604e5c4e07" /><Relationship Type="http://schemas.openxmlformats.org/officeDocument/2006/relationships/tableStyles" Target="/ppt/tableStyles.xml" Id="R00486b1b541e4522" /><Relationship Type="http://schemas.openxmlformats.org/officeDocument/2006/relationships/slide" Target="/ppt/slides/slide1.xml" Id="R352f34d02ec74d85" /><Relationship Type="http://schemas.openxmlformats.org/officeDocument/2006/relationships/slide" Target="/ppt/slides/slide2.xml" Id="Ra1240c7bddc6412e" /><Relationship Type="http://schemas.openxmlformats.org/officeDocument/2006/relationships/slide" Target="/ppt/slides/slide3.xml" Id="Rc31fc35cde394625" /><Relationship Type="http://schemas.openxmlformats.org/officeDocument/2006/relationships/slide" Target="/ppt/slides/slide4.xml" Id="R68af630028fd4141" /><Relationship Type="http://schemas.openxmlformats.org/officeDocument/2006/relationships/slide" Target="/ppt/slides/slide5.xml" Id="R72ec798dd6d24236" /><Relationship Type="http://schemas.openxmlformats.org/officeDocument/2006/relationships/slide" Target="/ppt/slides/slide6.xml" Id="R0e993c5bfecd4b5d" /><Relationship Type="http://schemas.openxmlformats.org/officeDocument/2006/relationships/slide" Target="/ppt/slides/slide7.xml" Id="R28923ee6dbb74a84" /><Relationship Type="http://schemas.openxmlformats.org/officeDocument/2006/relationships/slide" Target="/ppt/slides/slide8.xml" Id="R6cea39de38a24bf2" /><Relationship Type="http://schemas.openxmlformats.org/officeDocument/2006/relationships/slide" Target="/ppt/slides/slide9.xml" Id="R3ccbef653795475a" /><Relationship Type="http://schemas.openxmlformats.org/officeDocument/2006/relationships/slide" Target="/ppt/slides/slide10.xml" Id="R915f25b11eb943d1" /><Relationship Type="http://schemas.openxmlformats.org/officeDocument/2006/relationships/slide" Target="/ppt/slides/slide11.xml" Id="Rfcb7b62eaef843f6" /><Relationship Type="http://schemas.openxmlformats.org/officeDocument/2006/relationships/slide" Target="/ppt/slides/slide12.xml" Id="R3519b03896d34720" /><Relationship Type="http://schemas.openxmlformats.org/officeDocument/2006/relationships/slide" Target="/ppt/slides/slide13.xml" Id="Rf74e57f78eb1483b" /><Relationship Type="http://schemas.openxmlformats.org/officeDocument/2006/relationships/slide" Target="/ppt/slides/slide14.xml" Id="R388337ec100a4c0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4983611d52e403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892de4e560140df" /><Relationship Type="http://schemas.openxmlformats.org/officeDocument/2006/relationships/notesMaster" Target="/ppt/notesMasters/notesMaster1.xml" Id="R40577790b0784d8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eaf2e10deee4bf4" /><Relationship Type="http://schemas.openxmlformats.org/officeDocument/2006/relationships/notesMaster" Target="/ppt/notesMasters/notesMaster1.xml" Id="Rc8ec3c8b44a14ee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2c9d3054bae451d" /><Relationship Type="http://schemas.openxmlformats.org/officeDocument/2006/relationships/notesMaster" Target="/ppt/notesMasters/notesMaster1.xml" Id="R67e6245ceffa494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e9346071b7c4be8" /><Relationship Type="http://schemas.openxmlformats.org/officeDocument/2006/relationships/notesMaster" Target="/ppt/notesMasters/notesMaster1.xml" Id="R17e9d08e8fe44b2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8971b9aa73047ea" /><Relationship Type="http://schemas.openxmlformats.org/officeDocument/2006/relationships/notesMaster" Target="/ppt/notesMasters/notesMaster1.xml" Id="R1f72ddd2d6484bf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a51bd9b15cd4265" /><Relationship Type="http://schemas.openxmlformats.org/officeDocument/2006/relationships/notesMaster" Target="/ppt/notesMasters/notesMaster1.xml" Id="Rad843f3d0eeb46e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b5e9dce7e944c9d" /><Relationship Type="http://schemas.openxmlformats.org/officeDocument/2006/relationships/notesMaster" Target="/ppt/notesMasters/notesMaster1.xml" Id="Rce851de7eb41497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aac4f7ee09a40de" /><Relationship Type="http://schemas.openxmlformats.org/officeDocument/2006/relationships/notesMaster" Target="/ppt/notesMasters/notesMaster1.xml" Id="R47c99d9bb1df446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a47534e3fa54731" /><Relationship Type="http://schemas.openxmlformats.org/officeDocument/2006/relationships/notesMaster" Target="/ppt/notesMasters/notesMaster1.xml" Id="R2f724b9c09fc420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6cbb33d0cb842f7" /><Relationship Type="http://schemas.openxmlformats.org/officeDocument/2006/relationships/notesMaster" Target="/ppt/notesMasters/notesMaster1.xml" Id="Rf9e217810b30439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1130610a7d447e3" /><Relationship Type="http://schemas.openxmlformats.org/officeDocument/2006/relationships/notesMaster" Target="/ppt/notesMasters/notesMaster1.xml" Id="R0205640b1cb441a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261c19c94de4018" /><Relationship Type="http://schemas.openxmlformats.org/officeDocument/2006/relationships/notesMaster" Target="/ppt/notesMasters/notesMaster1.xml" Id="Ref641f30416a4e0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3cd3f586f1446d1" /><Relationship Type="http://schemas.openxmlformats.org/officeDocument/2006/relationships/notesMaster" Target="/ppt/notesMasters/notesMaster1.xml" Id="R1d31e9c236c941a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ace07d3b97445a9" /><Relationship Type="http://schemas.openxmlformats.org/officeDocument/2006/relationships/notesMaster" Target="/ppt/notesMasters/notesMaster1.xml" Id="Re6da64a39eda42b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40 Sekunden.</a:t>
            </a:r>
          </a:p>
          <a:p xmlns:a="http://schemas.openxmlformats.org/drawingml/2006/main">
            <a:r>
              <a:t>Einstieg: Ein Mietrechner suggeriert oft, es gebe genau eine faire Miete. Das ist fachlich problematisch.</a:t>
            </a:r>
          </a:p>
          <a:p xmlns:a="http://schemas.openxmlformats.org/drawingml/2006/main">
            <a:r>
              <a:t>MietCheck trennt deshalb drei Messkonzepte und macht ihren Unterschied zur eigentlichen Entscheidungshilfe.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65 Sekunden.</a:t>
            </a:r>
          </a:p>
          <a:p xmlns:a="http://schemas.openxmlformats.org/drawingml/2006/main">
            <a:r>
              <a:t>Bestandsmiete ist ein historischer Vertragsbestand, Angebotsmiete ein aktueller Suchmarkt. Beides darf nicht als rechtlich zulässige Miete gelesen werden.</a:t>
            </a:r>
          </a:p>
          <a:p xmlns:a="http://schemas.openxmlformats.org/drawingml/2006/main">
            <a:r>
              <a:t>Die persönliche Miete ergänzt den eigentlichen Nutzen: Was würde ein Umzug monatlich verändern?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60 Sekunden.</a:t>
            </a:r>
          </a:p>
          <a:p xmlns:a="http://schemas.openxmlformats.org/drawingml/2006/main">
            <a:r>
              <a:t>Die Matrix ist bewusst vorsichtig formuliert. 'Nicht offen' bedeutet: auf der geprüften öffentlichen Produktseite war die Information nicht belastbar dokumentiert.</a:t>
            </a:r>
          </a:p>
          <a:p xmlns:a="http://schemas.openxmlformats.org/drawingml/2006/main">
            <a:r>
              <a:t>Der USP ist also eine nachgewiesene Kombination, keine absolute Weltneuheitsbehauptung.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70 Sekunden.</a:t>
            </a:r>
          </a:p>
          <a:p xmlns:a="http://schemas.openxmlformats.org/drawingml/2006/main">
            <a:r>
              <a:t>Der alte Kaggle-Datensatz von 2018/2019 wurde verworfen: zu alt und lizenzrechtlich weniger sauber für ein öffentliches Produkt.</a:t>
            </a:r>
          </a:p>
          <a:p xmlns:a="http://schemas.openxmlformats.org/drawingml/2006/main">
            <a:r>
              <a:t>Der neue Download protokolliert URL, Abrufzeitpunkt, Dateigröße und SHA-256. Die Rohdaten bleiben außerhalb von Git.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70 Sekunden.</a:t>
            </a:r>
          </a:p>
          <a:p xmlns:a="http://schemas.openxmlformats.org/drawingml/2006/main">
            <a:r>
              <a:t>Die rechenintensiven Schritte liegen in getesteten Skripten. Die Notebooks lesen dieselben versionierten Reports und können nicht unbemerkt andere Zahlen zeigen.</a:t>
            </a:r>
          </a:p>
          <a:p xmlns:a="http://schemas.openxmlformats.org/drawingml/2006/main">
            <a:r>
              <a:t>Das ist wichtig für Reproduzierbarkeit und verhindert Notebook-Drift.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75 Sekunden.</a:t>
            </a:r>
          </a:p>
          <a:p xmlns:a="http://schemas.openxmlformats.org/drawingml/2006/main">
            <a:r>
              <a:t>Das ist die wichtigste methodische Entscheidung. Bei einem zufälligen Split wären nahe Zellen mit fast identischem Umfeld in Training und Test.</a:t>
            </a:r>
          </a:p>
          <a:p xmlns:a="http://schemas.openxmlformats.org/drawingml/2006/main">
            <a:r>
              <a:t>Die räumliche Trennung misst Generalisierung auf neue Gebiete und erklärt, warum das finale Ergebnis strenger ausfällt als frühere Prototypwerte.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80 Sekunden.</a:t>
            </a:r>
          </a:p>
          <a:p xmlns:a="http://schemas.openxmlformats.org/drawingml/2006/main">
            <a:r>
              <a:t>Fünf Modellfamilien laufen auf exakt denselben räumlichen Folds. So ist der Vergleich fair.</a:t>
            </a:r>
          </a:p>
          <a:p xmlns:a="http://schemas.openxmlformats.org/drawingml/2006/main">
            <a:r>
              <a:t>HGB gewinnt knapp vor Random Forest. Die Wahl beruht zusätzlich auf Laufzeit, Modellgröße und Deployment-Eignung – nicht nur auf der dritten Nachkommastelle.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90 Sekunden.</a:t>
            </a:r>
          </a:p>
          <a:p xmlns:a="http://schemas.openxmlformats.org/drawingml/2006/main">
            <a:r>
              <a:t>Das finale Modell erreicht MAE 1,413 Euro pro Quadratmeter, Median-AE 0,956 und R² 0,584.</a:t>
            </a:r>
          </a:p>
          <a:p xmlns:a="http://schemas.openxmlformats.org/drawingml/2006/main">
            <a:r>
              <a:t>Die Intervalle wurden separat kalibriert. Nominal waren 90 Prozent geplant, auf neuen Raumblöcken sind es 86,8 Prozent.</a:t>
            </a:r>
          </a:p>
          <a:p xmlns:a="http://schemas.openxmlformats.org/drawingml/2006/main">
            <a:r>
              <a:t>Genau diese Abweichung zeigt die App offen. Das ist wissenschaftlich stärker als eine falsche Garantie.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80 Sekunden.</a:t>
            </a:r>
          </a:p>
          <a:p xmlns:a="http://schemas.openxmlformats.org/drawingml/2006/main">
            <a:r>
              <a:t>Der Verlauf ist der aktuelle Angebotsmarkt. Der grüne Bestandsanker ist bewusst nicht auf 2026 hochgerechnet.</a:t>
            </a:r>
          </a:p>
          <a:p xmlns:a="http://schemas.openxmlformats.org/drawingml/2006/main">
            <a:r>
              <a:t>Die 113 Prozent sind daher ein deskriptiver Umzugsaufschlag, keine Mietpreisbremse- oder Fairnessaussage.</a:t>
            </a:r>
          </a:p>
          <a:p xmlns:a="http://schemas.openxmlformats.org/drawingml/2006/main">
            <a:r>
              <a:t>Genau diese saubere Trennung ist der Kern der App.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90 Sekunden plus kurze Live-Demo.</a:t>
            </a:r>
          </a:p>
          <a:p xmlns:a="http://schemas.openxmlformats.org/drawingml/2006/main">
            <a:r>
              <a:t>Demo: Region Berlin, 70 Quadratmeter, Baujahr 1985, aktuelle Kaltmiete 850 Euro, Einkommen 3.200 Euro.</a:t>
            </a:r>
          </a:p>
          <a:p xmlns:a="http://schemas.openxmlformats.org/drawingml/2006/main">
            <a:r>
              <a:t>Dann Region wechseln oder Wohnfläche auf 90 Quadratmeter setzen und zeigen, dass Werte und Belastung sofort neu berechnet werden.</a:t>
            </a:r>
          </a:p>
          <a:p xmlns:a="http://schemas.openxmlformats.org/drawingml/2006/main">
            <a:r>
              <a:t>Zum Schluss Methodik-Tab öffnen: Quellen, Modellvergleich und 86,8-Prozent-Coverage sind direkt im Produkt sichtbar.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65 Sekunden.</a:t>
            </a:r>
          </a:p>
          <a:p xmlns:a="http://schemas.openxmlformats.org/drawingml/2006/main">
            <a:r>
              <a:t>Räumliche und sozioökonomische Merkmale können bestehende Ungleichheiten abbilden. Eine gute Prognose legitimiert deshalb keine Miete.</a:t>
            </a:r>
          </a:p>
          <a:p xmlns:a="http://schemas.openxmlformats.org/drawingml/2006/main">
            <a:r>
              <a:t>Das System ist ausdrücklich nicht für Vermieterpreisoptimierung, Bonität oder Rechtsentscheidungen vorgesehen.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45 Sekunden.</a:t>
            </a:r>
          </a:p>
          <a:p xmlns:a="http://schemas.openxmlformats.org/drawingml/2006/main">
            <a:r>
              <a:t>Rückbezug auf die Eröffnung: Das Projekt ersetzt eine Scheingenauigkeit durch drei verständliche, belegte Realitäten.</a:t>
            </a:r>
          </a:p>
          <a:p xmlns:a="http://schemas.openxmlformats.org/drawingml/2006/main">
            <a:r>
              <a:t>Schluss: Ich zeige damit nicht nur ein Modell, sondern eine vollständige Nachweiskette vom öffentlichen Download bis zur getesteten App.</a:t>
            </a:r>
          </a:p>
          <a:p xmlns:a="http://schemas.openxmlformats.org/drawingml/2006/main">
            <a:r>
              <a:t>Danach Fragen oder bei Bedarf direkt zur Live-Demo wechseln.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Appendix / Quellenfolie. Bei Fragen zur Datenlizenz oder Reproduzierbarkeit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Appendix / methodische Detailfolie. Bei Fragen zu Parametern, Subgruppen oder Neubaufehlern verwenden.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fc78c54c6547b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dc2128a8b7943de" /><Relationship Type="http://schemas.openxmlformats.org/officeDocument/2006/relationships/slideLayout" Target="/ppt/slideLayouts/slideLayout1.xml" Id="R980d8eb8cfb8489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80d8eb8cfb8489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5127b1251d4cb0" /><Relationship Type="http://schemas.openxmlformats.org/officeDocument/2006/relationships/image" Target="/ppt/media/image.png" Id="R03fbe7f6399741d8" /><Relationship Type="http://schemas.openxmlformats.org/officeDocument/2006/relationships/notesSlide" Target="/ppt/notesSlides/notesSlide1.xml" Id="R7a83d9853ea04f4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8be48172da4cbf" /><Relationship Type="http://schemas.openxmlformats.org/officeDocument/2006/relationships/notesSlide" Target="/ppt/notesSlides/notesSlide2.xml" Id="Rcb9edbdaf21543f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f65cb0789447b1" /><Relationship Type="http://schemas.openxmlformats.org/officeDocument/2006/relationships/notesSlide" Target="/ppt/notesSlides/notesSlide3.xml" Id="Rfb026faf264d45c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3d053235c24f98" /><Relationship Type="http://schemas.openxmlformats.org/officeDocument/2006/relationships/notesSlide" Target="/ppt/notesSlides/notesSlide4.xml" Id="R9a8dfba7ae77430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5f730c94734f6a" /><Relationship Type="http://schemas.openxmlformats.org/officeDocument/2006/relationships/notesSlide" Target="/ppt/notesSlides/notesSlide5.xml" Id="R07ac2604ea864b0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9a6fc7dc0b4dcc" /><Relationship Type="http://schemas.openxmlformats.org/officeDocument/2006/relationships/notesSlide" Target="/ppt/notesSlides/notesSlide6.xml" Id="R60cc5938b37b4a7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dfc2fd88214683" /><Relationship Type="http://schemas.openxmlformats.org/officeDocument/2006/relationships/chart" Target="/ppt/slides/charts/chart1.xml" Id="R717e8e0011c34b19" /><Relationship Type="http://schemas.openxmlformats.org/officeDocument/2006/relationships/notesSlide" Target="/ppt/notesSlides/notesSlide7.xml" Id="Ref1c399e382743e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5e163149754919" /><Relationship Type="http://schemas.openxmlformats.org/officeDocument/2006/relationships/chart" Target="/ppt/slides/charts/chart2.xml" Id="R1e8e9e8242374c1c" /><Relationship Type="http://schemas.openxmlformats.org/officeDocument/2006/relationships/notesSlide" Target="/ppt/notesSlides/notesSlide8.xml" Id="R0c706e2f69eb434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9df355785445c2" /><Relationship Type="http://schemas.openxmlformats.org/officeDocument/2006/relationships/chart" Target="/ppt/slides/charts/chart3.xml" Id="R33a248e451ce4ac8" /><Relationship Type="http://schemas.openxmlformats.org/officeDocument/2006/relationships/notesSlide" Target="/ppt/notesSlides/notesSlide9.xml" Id="Rb26f0ebefb1549f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04e84ae0af46e9" /><Relationship Type="http://schemas.openxmlformats.org/officeDocument/2006/relationships/image" Target="/ppt/media/image2.png" Id="R794b35af55b44f9f" /><Relationship Type="http://schemas.openxmlformats.org/officeDocument/2006/relationships/notesSlide" Target="/ppt/notesSlides/notesSlide10.xml" Id="Rae6c9165149643a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19b9caee1b4d02" /><Relationship Type="http://schemas.openxmlformats.org/officeDocument/2006/relationships/notesSlide" Target="/ppt/notesSlides/notesSlide11.xml" Id="R114c66728bff445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616912fb3d4c0a" /><Relationship Type="http://schemas.openxmlformats.org/officeDocument/2006/relationships/notesSlide" Target="/ppt/notesSlides/notesSlide12.xml" Id="R7061d33ca7e841a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8dbb268e5046bf" /><Relationship Type="http://schemas.openxmlformats.org/officeDocument/2006/relationships/notesSlide" Target="/ppt/notesSlides/notesSlide13.xml" Id="Rc07cc00b945b40b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e192936a5e4f0e" /><Relationship Type="http://schemas.openxmlformats.org/officeDocument/2006/relationships/notesSlide" Target="/ppt/notesSlides/notesSlide14.xml" Id="R10d3f8983fb54acc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MAE</c:v>
          </c:tx>
          <c:spPr>
            <a:solidFill xmlns:a="http://schemas.openxmlformats.org/drawingml/2006/main">
              <a:srgbClr val="315CFF"/>
            </a:solidFill>
          </c:spPr>
          <c:dPt>
            <c:idx val="4"/>
            <c:spPr>
              <a:solidFill xmlns:a="http://schemas.openxmlformats.org/drawingml/2006/main">
                <a:srgbClr val="0F7B62"/>
              </a:solidFill>
            </c:spPr>
          </c:dPt>
          <c:cat>
            <c:strLit>
              <c:ptCount val="5"/>
              <c:pt idx="0">
                <c:v>Kategorie-Median</c:v>
              </c:pt>
              <c:pt idx="1">
                <c:v>Ridge</c:v>
              </c:pt>
              <c:pt idx="2">
                <c:v>MLP</c:v>
              </c:pt>
              <c:pt idx="3">
                <c:v>Random Forest</c:v>
              </c:pt>
              <c:pt idx="4">
                <c:v>HGB</c:v>
              </c:pt>
            </c:strLit>
          </c:cat>
          <c:val>
            <c:numLit>
              <c:formatCode>General</c:formatCode>
              <c:ptCount val="5"/>
              <c:pt idx="0">
                <c:v>1.719</c:v>
              </c:pt>
              <c:pt idx="1">
                <c:v>1.632</c:v>
              </c:pt>
              <c:pt idx="2">
                <c:v>1.397</c:v>
              </c:pt>
              <c:pt idx="3">
                <c:v>1.32</c:v>
              </c:pt>
              <c:pt idx="4">
                <c:v>1.305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021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1DF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00">
                    <a:solidFill>
                      <a:srgbClr val="667587"/>
                    </a:solidFill>
                  </a:rPr>
                  <a:t>mittlerer MAE in €/m²</a:t>
                </a:r>
              </a:p>
            </c:rich>
          </c:tx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667587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E1D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587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E1D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138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7F9F8"/>
          </a:solidFill>
          <a:prstDash val="solid"/>
        </a:ln>
      </c:spPr>
    </c:plotArea>
    <c:plotVisOnly val="1"/>
  </c:chart>
  <c:spPr>
    <a:solidFill xmlns:a="http://schemas.openxmlformats.org/drawingml/2006/main">
      <a:srgbClr val="F7F9F8"/>
    </a:solidFill>
    <a:ln xmlns:a="http://schemas.openxmlformats.org/drawingml/2006/main" w="0">
      <a:solidFill>
        <a:srgbClr val="F7F9F8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MAE</c:v>
          </c:tx>
          <c:spPr>
            <a:solidFill xmlns:a="http://schemas.openxmlformats.org/drawingml/2006/main">
              <a:srgbClr val="667587"/>
            </a:solidFill>
          </c:spPr>
          <c:dPt>
            <c:idx val="1"/>
            <c:spPr>
              <a:solidFill xmlns:a="http://schemas.openxmlformats.org/drawingml/2006/main">
                <a:srgbClr val="0F7B62"/>
              </a:solidFill>
            </c:spPr>
          </c:dPt>
          <c:cat>
            <c:strLit>
              <c:ptCount val="2"/>
              <c:pt idx="0">
                <c:v>Kategorie-Baseline</c:v>
              </c:pt>
              <c:pt idx="1">
                <c:v>MietCheck HGB</c:v>
              </c:pt>
            </c:strLit>
          </c:cat>
          <c:val>
            <c:numLit>
              <c:formatCode>General</c:formatCode>
              <c:ptCount val="2"/>
              <c:pt idx="0">
                <c:v>2.292</c:v>
              </c:pt>
              <c:pt idx="1">
                <c:v>1.413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 b="1">
                  <a:solidFill>
                    <a:srgbClr val="1021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E1D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138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2.6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1DF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00">
                    <a:solidFill>
                      <a:srgbClr val="667587"/>
                    </a:solidFill>
                  </a:rPr>
                  <a:t>MAE in €/m²</a:t>
                </a:r>
              </a:p>
            </c:rich>
          </c:tx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667587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587"/>
                </a:solidFill>
              </a:defRPr>
            </a:pPr>
          </a:p>
        </c:txPr>
        <c:crossAx val="48650112"/>
        <c:crossBetween val="between"/>
        <c:majorUnit val="0.5"/>
      </c:valAx>
      <c:spPr>
        <a:noFill xmlns:a="http://schemas.openxmlformats.org/drawingml/2006/main"/>
        <a:ln xmlns:a="http://schemas.openxmlformats.org/drawingml/2006/main" w="0">
          <a:solidFill>
            <a:srgbClr val="F7F9F8"/>
          </a:solidFill>
          <a:prstDash val="solid"/>
        </a:ln>
      </c:spPr>
    </c:plotArea>
    <c:plotVisOnly val="1"/>
  </c:chart>
  <c:spPr>
    <a:solidFill xmlns:a="http://schemas.openxmlformats.org/drawingml/2006/main">
      <a:srgbClr val="F7F9F8"/>
    </a:solidFill>
    <a:ln xmlns:a="http://schemas.openxmlformats.org/drawingml/2006/main" w="0">
      <a:solidFill>
        <a:srgbClr val="F7F9F8"/>
      </a:solidFill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Median</c:v>
          </c:tx>
          <c:spPr>
            <a:ln xmlns:a="http://schemas.openxmlformats.org/drawingml/2006/main" w="38100">
              <a:solidFill>
                <a:srgbClr val="315CFF"/>
              </a:solidFill>
              <a:prstDash val="solid"/>
            </a:ln>
          </c:spPr>
          <c:marker>
            <c:symbol val="circle"/>
            <c:size val="7"/>
          </c:marker>
          <c:cat>
            <c:numLit>
              <c:formatCode>General</c:formatCode>
              <c:ptCount val="8"/>
              <c:pt idx="0">
                <c:v>2012</c:v>
              </c:pt>
              <c:pt idx="1">
                <c:v>2014</c:v>
              </c:pt>
              <c:pt idx="2">
                <c:v>2016</c:v>
              </c:pt>
              <c:pt idx="3">
                <c:v>2018</c:v>
              </c:pt>
              <c:pt idx="4">
                <c:v>2020</c:v>
              </c:pt>
              <c:pt idx="5">
                <c:v>2022</c:v>
              </c:pt>
              <c:pt idx="6">
                <c:v>2024</c:v>
              </c:pt>
              <c:pt idx="7">
                <c:v>2026</c:v>
              </c:pt>
            </c:numLit>
          </c:cat>
          <c:val>
            <c:numLit>
              <c:formatCode>General</c:formatCode>
              <c:ptCount val="8"/>
              <c:pt idx="0">
                <c:v>6.86</c:v>
              </c:pt>
              <c:pt idx="1">
                <c:v>8</c:v>
              </c:pt>
              <c:pt idx="2">
                <c:v>8.53</c:v>
              </c:pt>
              <c:pt idx="3">
                <c:v>10</c:v>
              </c:pt>
              <c:pt idx="4">
                <c:v>10</c:v>
              </c:pt>
              <c:pt idx="5">
                <c:v>10.88</c:v>
              </c:pt>
              <c:pt idx="6">
                <c:v>15.45</c:v>
              </c:pt>
              <c:pt idx="7">
                <c:v>15.5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E1D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587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7"/>
          <c:min val="5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1DF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00">
                    <a:solidFill>
                      <a:srgbClr val="667587"/>
                    </a:solidFill>
                  </a:rPr>
                  <a:t>€/m²</a:t>
                </a:r>
              </a:p>
            </c:rich>
          </c:tx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667587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587"/>
                </a:solidFill>
              </a:defRPr>
            </a:pPr>
          </a:p>
        </c:txPr>
        <c:crossAx val="48650112"/>
        <c:crossBetween val="between"/>
        <c:majorUnit val="2"/>
      </c:valAx>
      <c:spPr>
        <a:noFill xmlns:a="http://schemas.openxmlformats.org/drawingml/2006/main"/>
        <a:ln xmlns:a="http://schemas.openxmlformats.org/drawingml/2006/main" w="0">
          <a:solidFill>
            <a:srgbClr val="F7F9F8"/>
          </a:solidFill>
          <a:prstDash val="solid"/>
        </a:ln>
      </c:spPr>
    </c:plotArea>
    <c:plotVisOnly val="1"/>
  </c:chart>
  <c:spPr>
    <a:solidFill xmlns:a="http://schemas.openxmlformats.org/drawingml/2006/main">
      <a:srgbClr val="F7F9F8"/>
    </a:solidFill>
    <a:ln xmlns:a="http://schemas.openxmlformats.org/drawingml/2006/main" w="0">
      <a:solidFill>
        <a:srgbClr val="F7F9F8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ver-dark-panel">
            <a:extLst xmlns:a="http://schemas.openxmlformats.org/drawingml/2006/main">
              <a:ext uri="{FF2B5EF4-FFF2-40B4-BE49-F238E27FC236}">
                <a16:creationId xmlns:a16="http://schemas.microsoft.com/office/drawing/2014/main" id="{F0331D25-56BB-47BA-BAD7-64B03E71C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0579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cover-teal-panel">
            <a:extLst xmlns:a="http://schemas.openxmlformats.org/drawingml/2006/main">
              <a:ext uri="{FF2B5EF4-FFF2-40B4-BE49-F238E27FC236}">
                <a16:creationId xmlns:a16="http://schemas.microsoft.com/office/drawing/2014/main" id="{4A4EBC25-239D-4843-841C-EA12904A6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0"/>
            <a:ext cx="1295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12D0E047-3D79-4F46-8585-5C2E544FC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cover-brand">
            <a:extLst xmlns:a="http://schemas.openxmlformats.org/drawingml/2006/main">
              <a:ext uri="{FF2B5EF4-FFF2-40B4-BE49-F238E27FC236}">
                <a16:creationId xmlns:a16="http://schemas.microsoft.com/office/drawing/2014/main" id="{874AF73B-78C5-4659-A16F-F40E8AF9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3333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19C99A"/>
                </a:solidFill>
                <a:latin typeface="Arial"/>
                <a:ea typeface="Arial"/>
                <a:cs typeface="Arial"/>
              </a:defRPr>
            </a:pPr>
            <a:r>
              <a:t>MietCheck</a:t>
            </a:r>
          </a:p>
        </p:txBody>
      </p:sp>
      <p:sp>
        <p:nvSpPr>
          <p:cNvPr id="5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BA2825C0-0427-4D65-96F4-DCA338466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C8D3"/>
                </a:solidFill>
                <a:latin typeface="Arial"/>
                <a:ea typeface="Arial"/>
                <a:cs typeface="Arial"/>
              </a:defRPr>
            </a:pPr>
            <a:r>
              <a:t>BESTAND · ANGEBOT · PERSÖNLICHE MIETE</a:t>
            </a:r>
          </a:p>
        </p:txBody>
      </p:sp>
      <p:sp>
        <p:nvSpPr>
          <p:cNvPr id="6" name="cover-title">
            <a:extLst xmlns:a="http://schemas.openxmlformats.org/drawingml/2006/main">
              <a:ext uri="{FF2B5EF4-FFF2-40B4-BE49-F238E27FC236}">
                <a16:creationId xmlns:a16="http://schemas.microsoft.com/office/drawing/2014/main" id="{AEB848AE-5642-4170-A7A6-DCFFBBD8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57350"/>
            <a:ext cx="4762500" cy="2324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Drei
Mietrealitäten.
Klare Entscheidung.</a:t>
            </a:r>
          </a:p>
        </p:txBody>
      </p:sp>
      <p:sp>
        <p:nvSpPr>
          <p:cNvPr id="7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280D8A79-F642-4A3D-90D2-A6CAAD44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24350"/>
            <a:ext cx="4762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DCE5EA"/>
                </a:solidFill>
                <a:latin typeface="Arial"/>
                <a:ea typeface="Arial"/>
                <a:cs typeface="Arial"/>
              </a:defRPr>
            </a:pPr>
            <a:r>
              <a:t>Machine Learning verbindet Zensus-Bestand, aktuellen GREIX-Angebotsmarkt und persönliche Mietbelastung.</a:t>
            </a:r>
          </a:p>
        </p:txBody>
      </p:sp>
      <p:sp>
        <p:nvSpPr>
          <p:cNvPr id="8" name="cover-meta">
            <a:extLst xmlns:a="http://schemas.openxmlformats.org/drawingml/2006/main">
              <a:ext uri="{FF2B5EF4-FFF2-40B4-BE49-F238E27FC236}">
                <a16:creationId xmlns:a16="http://schemas.microsoft.com/office/drawing/2014/main" id="{E18D4F40-3608-4072-A4F4-D16EF7FB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57850"/>
            <a:ext cx="5334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AFC0CB"/>
                </a:solidFill>
                <a:latin typeface="Arial"/>
                <a:ea typeface="Arial"/>
                <a:cs typeface="Arial"/>
              </a:defRPr>
            </a:pPr>
            <a:r>
              <a:t>Nele Knaak · Matrikel-Nr.: [EINTRAGEN]
Prüfer/in: [EINTRAGEN] · Abgabe: [TT.MM.JJJJ]</a:t>
            </a:r>
          </a:p>
        </p:txBody>
      </p:sp>
      <p:sp>
        <p:nvSpPr>
          <p:cNvPr id="9" name="cover-image-back">
            <a:extLst xmlns:a="http://schemas.openxmlformats.org/drawingml/2006/main">
              <a:ext uri="{FF2B5EF4-FFF2-40B4-BE49-F238E27FC236}">
                <a16:creationId xmlns:a16="http://schemas.microsoft.com/office/drawing/2014/main" id="{FDDDF729-7B0B-4E5F-8864-12CD015E9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2900"/>
            <a:ext cx="5543550" cy="5829300"/>
          </a:xfrm>
          <a:prstGeom xmlns:a="http://schemas.openxmlformats.org/drawingml/2006/main" prst="roundRect">
            <a:avLst>
              <a:gd name="adj" fmla="val 1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DF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fbe7f6399741d8"/>
          <a:srcRect xmlns:a="http://schemas.openxmlformats.org/drawingml/2006/main" l="13781" t="0" r="1378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43650" y="495300"/>
            <a:ext cx="5238750" cy="5524500"/>
          </a:xfrm>
          <a:prstGeom xmlns:a="http://schemas.openxmlformats.org/drawingml/2006/main" prst="roundRect">
            <a:avLst>
              <a:gd name="adj" fmla="val 2909"/>
            </a:avLst>
          </a:prstGeom>
        </p:spPr>
      </p:pic>
    </p:spTree>
    <p:extLst>
      <p:ext uri="{BB962C8B-B14F-4D97-AF65-F5344CB8AC3E}">
        <p14:creationId xmlns:p14="http://schemas.microsoft.com/office/powerpoint/2010/main" val="733908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header-2">
            <a:extLst xmlns:a="http://schemas.openxmlformats.org/drawingml/2006/main">
              <a:ext uri="{FF2B5EF4-FFF2-40B4-BE49-F238E27FC236}">
                <a16:creationId xmlns:a16="http://schemas.microsoft.com/office/drawing/2014/main" id="{6EC10815-DE82-41D8-9CEA-D482296EB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2">
            <a:extLst xmlns:a="http://schemas.openxmlformats.org/drawingml/2006/main">
              <a:ext uri="{FF2B5EF4-FFF2-40B4-BE49-F238E27FC236}">
                <a16:creationId xmlns:a16="http://schemas.microsoft.com/office/drawing/2014/main" id="{14AC3231-11AD-401F-A961-D4A2CCAD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2">
            <a:extLst xmlns:a="http://schemas.openxmlformats.org/drawingml/2006/main">
              <a:ext uri="{FF2B5EF4-FFF2-40B4-BE49-F238E27FC236}">
                <a16:creationId xmlns:a16="http://schemas.microsoft.com/office/drawing/2014/main" id="{1AD3A4EE-75FF-4FD0-B581-34DAD77BB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2">
            <a:extLst xmlns:a="http://schemas.openxmlformats.org/drawingml/2006/main">
              <a:ext uri="{FF2B5EF4-FFF2-40B4-BE49-F238E27FC236}">
                <a16:creationId xmlns:a16="http://schemas.microsoft.com/office/drawing/2014/main" id="{8CD777A9-E967-4772-BF44-1D119A27D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Es gibt nicht die eine Miete</a:t>
            </a:r>
          </a:p>
        </p:txBody>
      </p:sp>
      <p:sp>
        <p:nvSpPr>
          <p:cNvPr id="5" name="source-2">
            <a:extLst xmlns:a="http://schemas.openxmlformats.org/drawingml/2006/main">
              <a:ext uri="{FF2B5EF4-FFF2-40B4-BE49-F238E27FC236}">
                <a16:creationId xmlns:a16="http://schemas.microsoft.com/office/drawing/2014/main" id="{D53FF2FC-8014-4193-951D-3D269FA53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6" name="page-2">
            <a:extLst xmlns:a="http://schemas.openxmlformats.org/drawingml/2006/main">
              <a:ext uri="{FF2B5EF4-FFF2-40B4-BE49-F238E27FC236}">
                <a16:creationId xmlns:a16="http://schemas.microsoft.com/office/drawing/2014/main" id="{66CF1F9F-CA7B-4C5F-BA46-0048457A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7" name="three-lead">
            <a:extLst xmlns:a="http://schemas.openxmlformats.org/drawingml/2006/main">
              <a:ext uri="{FF2B5EF4-FFF2-40B4-BE49-F238E27FC236}">
                <a16:creationId xmlns:a16="http://schemas.microsoft.com/office/drawing/2014/main" id="{8636E47A-935C-4E78-A280-6615FCE6E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1049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Bestand, Angebot und persönliche Belastung messen unterschiedliche Realitäten. Erst ihre Trennung macht den Umzugseffekt sichtbar.</a:t>
            </a:r>
          </a:p>
        </p:txBody>
      </p:sp>
      <p:cxnSp>
        <p:nvCxnSpPr>
          <p:cNvPr id="31" name="sep-one"/>
          <p:cNvCxnSpPr/>
          <p:nvPr/>
        </p:nvCxnSpPr>
        <p:spPr>
          <a:xfrm xmlns:a="http://schemas.openxmlformats.org/drawingml/2006/main">
            <a:off x="4029075" y="2381250"/>
            <a:ext cx="286" cy="2571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6E1DF"/>
            </a:solidFill>
            <a:prstDash val="solid"/>
          </a:ln>
        </p:spPr>
      </p:cxnSp>
      <p:cxnSp>
        <p:nvCxnSpPr>
          <p:cNvPr id="32" name="sep-two"/>
          <p:cNvCxnSpPr/>
          <p:nvPr/>
        </p:nvCxnSpPr>
        <p:spPr>
          <a:xfrm xmlns:a="http://schemas.openxmlformats.org/drawingml/2006/main">
            <a:off x="7829550" y="2381250"/>
            <a:ext cx="286" cy="2571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6E1DF"/>
            </a:solidFill>
            <a:prstDash val="solid"/>
          </a:ln>
        </p:spPr>
      </p:cxnSp>
      <p:sp>
        <p:nvSpPr>
          <p:cNvPr id="10" name="accent-0">
            <a:extLst xmlns:a="http://schemas.openxmlformats.org/drawingml/2006/main">
              <a:ext uri="{FF2B5EF4-FFF2-40B4-BE49-F238E27FC236}">
                <a16:creationId xmlns:a16="http://schemas.microsoft.com/office/drawing/2014/main" id="{BFE1C8DB-F5D8-44DE-BFDD-3E67F71C0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81250"/>
            <a:ext cx="762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11" name="reality-label-0">
            <a:extLst xmlns:a="http://schemas.openxmlformats.org/drawingml/2006/main">
              <a:ext uri="{FF2B5EF4-FFF2-40B4-BE49-F238E27FC236}">
                <a16:creationId xmlns:a16="http://schemas.microsoft.com/office/drawing/2014/main" id="{42FE8853-3980-4BBC-9B60-9CA9D9255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1460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BESTAND</a:t>
            </a:r>
          </a:p>
        </p:txBody>
      </p:sp>
      <p:sp>
        <p:nvSpPr>
          <p:cNvPr id="12" name="reality-stat-0">
            <a:extLst xmlns:a="http://schemas.openxmlformats.org/drawingml/2006/main">
              <a:ext uri="{FF2B5EF4-FFF2-40B4-BE49-F238E27FC236}">
                <a16:creationId xmlns:a16="http://schemas.microsoft.com/office/drawing/2014/main" id="{CC65C230-C40D-41C0-93C6-675ECD734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28950"/>
            <a:ext cx="31432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15.05.2022</a:t>
            </a:r>
          </a:p>
        </p:txBody>
      </p:sp>
      <p:sp>
        <p:nvSpPr>
          <p:cNvPr id="13" name="reality-body-0">
            <a:extLst xmlns:a="http://schemas.openxmlformats.org/drawingml/2006/main">
              <a:ext uri="{FF2B5EF4-FFF2-40B4-BE49-F238E27FC236}">
                <a16:creationId xmlns:a16="http://schemas.microsoft.com/office/drawing/2014/main" id="{691211E7-F0A6-4D5E-893B-8FEBCFAE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3095625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Amtliche Zensus-Miete im lokalen Wohnungsbestand</a:t>
            </a:r>
          </a:p>
        </p:txBody>
      </p:sp>
      <p:sp>
        <p:nvSpPr>
          <p:cNvPr id="14" name="accent-1">
            <a:extLst xmlns:a="http://schemas.openxmlformats.org/drawingml/2006/main">
              <a:ext uri="{FF2B5EF4-FFF2-40B4-BE49-F238E27FC236}">
                <a16:creationId xmlns:a16="http://schemas.microsoft.com/office/drawing/2014/main" id="{1242E35F-4239-4B8F-92D0-BFAF72C44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381250"/>
            <a:ext cx="762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FF"/>
          </a:solidFill>
          <a:ln xmlns:a="http://schemas.openxmlformats.org/drawingml/2006/main" w="0">
            <a:solidFill>
              <a:srgbClr val="315CFF"/>
            </a:solidFill>
            <a:prstDash val="solid"/>
          </a:ln>
        </p:spPr>
      </p:sp>
      <p:sp>
        <p:nvSpPr>
          <p:cNvPr id="15" name="reality-label-1">
            <a:extLst xmlns:a="http://schemas.openxmlformats.org/drawingml/2006/main">
              <a:ext uri="{FF2B5EF4-FFF2-40B4-BE49-F238E27FC236}">
                <a16:creationId xmlns:a16="http://schemas.microsoft.com/office/drawing/2014/main" id="{1760BCF2-67ED-4182-BD7A-BB9C6D833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51460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ANGEBOT</a:t>
            </a:r>
          </a:p>
        </p:txBody>
      </p:sp>
      <p:sp>
        <p:nvSpPr>
          <p:cNvPr id="16" name="reality-stat-1">
            <a:extLst xmlns:a="http://schemas.openxmlformats.org/drawingml/2006/main">
              <a:ext uri="{FF2B5EF4-FFF2-40B4-BE49-F238E27FC236}">
                <a16:creationId xmlns:a16="http://schemas.microsoft.com/office/drawing/2014/main" id="{28ACE1E8-FC3F-452A-9096-9EA211AE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028950"/>
            <a:ext cx="31432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2026-Q1</a:t>
            </a:r>
          </a:p>
        </p:txBody>
      </p:sp>
      <p:sp>
        <p:nvSpPr>
          <p:cNvPr id="17" name="reality-body-1">
            <a:extLst xmlns:a="http://schemas.openxmlformats.org/drawingml/2006/main">
              <a:ext uri="{FF2B5EF4-FFF2-40B4-BE49-F238E27FC236}">
                <a16:creationId xmlns:a16="http://schemas.microsoft.com/office/drawing/2014/main" id="{E4F69F57-42E1-434E-9743-45EDE7E22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905250"/>
            <a:ext cx="3095625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GREIX-Median aktueller Inserate im lokalen Markt</a:t>
            </a:r>
          </a:p>
        </p:txBody>
      </p:sp>
      <p:sp>
        <p:nvSpPr>
          <p:cNvPr id="18" name="accent-2">
            <a:extLst xmlns:a="http://schemas.openxmlformats.org/drawingml/2006/main">
              <a:ext uri="{FF2B5EF4-FFF2-40B4-BE49-F238E27FC236}">
                <a16:creationId xmlns:a16="http://schemas.microsoft.com/office/drawing/2014/main" id="{609D948D-D3A1-4A59-AD8C-20504F75B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762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19" name="reality-label-2">
            <a:extLst xmlns:a="http://schemas.openxmlformats.org/drawingml/2006/main">
              <a:ext uri="{FF2B5EF4-FFF2-40B4-BE49-F238E27FC236}">
                <a16:creationId xmlns:a16="http://schemas.microsoft.com/office/drawing/2014/main" id="{87AE13FF-99B5-465B-ADF0-1372DDDA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1460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85D3F"/>
                </a:solidFill>
                <a:latin typeface="Arial"/>
                <a:ea typeface="Arial"/>
                <a:cs typeface="Arial"/>
              </a:defRPr>
            </a:pPr>
            <a:r>
              <a:t>PERSÖNLICH</a:t>
            </a:r>
          </a:p>
        </p:txBody>
      </p:sp>
      <p:sp>
        <p:nvSpPr>
          <p:cNvPr id="20" name="reality-stat-2">
            <a:extLst xmlns:a="http://schemas.openxmlformats.org/drawingml/2006/main">
              <a:ext uri="{FF2B5EF4-FFF2-40B4-BE49-F238E27FC236}">
                <a16:creationId xmlns:a16="http://schemas.microsoft.com/office/drawing/2014/main" id="{E49F3B35-4F8F-4587-819B-681D03E7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432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Deine Miete</a:t>
            </a:r>
          </a:p>
        </p:txBody>
      </p:sp>
      <p:sp>
        <p:nvSpPr>
          <p:cNvPr id="21" name="reality-body-2">
            <a:extLst xmlns:a="http://schemas.openxmlformats.org/drawingml/2006/main">
              <a:ext uri="{FF2B5EF4-FFF2-40B4-BE49-F238E27FC236}">
                <a16:creationId xmlns:a16="http://schemas.microsoft.com/office/drawing/2014/main" id="{1D749FD9-2126-4183-8B50-8943098F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905250"/>
            <a:ext cx="3095625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Vertrag, Wohnfläche und Haushaltsnettoeinkommen</a:t>
            </a:r>
          </a:p>
        </p:txBody>
      </p:sp>
      <p:sp>
        <p:nvSpPr>
          <p:cNvPr id="22" name="hook-band">
            <a:extLst xmlns:a="http://schemas.openxmlformats.org/drawingml/2006/main">
              <a:ext uri="{FF2B5EF4-FFF2-40B4-BE49-F238E27FC236}">
                <a16:creationId xmlns:a16="http://schemas.microsoft.com/office/drawing/2014/main" id="{68495040-5D02-4BA2-923C-006DC676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14950"/>
            <a:ext cx="11049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5ED"/>
          </a:solidFill>
          <a:ln xmlns:a="http://schemas.openxmlformats.org/drawingml/2006/main" w="0">
            <a:solidFill>
              <a:srgbClr val="DDF5ED"/>
            </a:solidFill>
            <a:prstDash val="solid"/>
          </a:ln>
        </p:spPr>
      </p:sp>
      <p:sp>
        <p:nvSpPr>
          <p:cNvPr id="23" name="hook-copy">
            <a:extLst xmlns:a="http://schemas.openxmlformats.org/drawingml/2006/main">
              <a:ext uri="{FF2B5EF4-FFF2-40B4-BE49-F238E27FC236}">
                <a16:creationId xmlns:a16="http://schemas.microsoft.com/office/drawing/2014/main" id="{71BAF13C-DBC0-4963-973E-66F0EC08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14975"/>
            <a:ext cx="10572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MietChecks USP: Der Umzugsaufschlag quantifiziert die Lücke – mit Datenstand, Marktstreuung und Modellunsicherheit.</a:t>
            </a:r>
          </a:p>
        </p:txBody>
      </p:sp>
    </p:spTree>
    <p:extLst>
      <p:ext uri="{BB962C8B-B14F-4D97-AF65-F5344CB8AC3E}">
        <p14:creationId xmlns:p14="http://schemas.microsoft.com/office/powerpoint/2010/main" val="8512704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header-3">
            <a:extLst xmlns:a="http://schemas.openxmlformats.org/drawingml/2006/main">
              <a:ext uri="{FF2B5EF4-FFF2-40B4-BE49-F238E27FC236}">
                <a16:creationId xmlns:a16="http://schemas.microsoft.com/office/drawing/2014/main" id="{3349ACC1-86AB-4260-802A-9D804214D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3">
            <a:extLst xmlns:a="http://schemas.openxmlformats.org/drawingml/2006/main">
              <a:ext uri="{FF2B5EF4-FFF2-40B4-BE49-F238E27FC236}">
                <a16:creationId xmlns:a16="http://schemas.microsoft.com/office/drawing/2014/main" id="{43F911F0-300C-42A2-A31B-A9DB55AE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3">
            <a:extLst xmlns:a="http://schemas.openxmlformats.org/drawingml/2006/main">
              <a:ext uri="{FF2B5EF4-FFF2-40B4-BE49-F238E27FC236}">
                <a16:creationId xmlns:a16="http://schemas.microsoft.com/office/drawing/2014/main" id="{F2C4DF9A-DA9A-4B44-ACC7-8E11DD0D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3">
            <a:extLst xmlns:a="http://schemas.openxmlformats.org/drawingml/2006/main">
              <a:ext uri="{FF2B5EF4-FFF2-40B4-BE49-F238E27FC236}">
                <a16:creationId xmlns:a16="http://schemas.microsoft.com/office/drawing/2014/main" id="{D926BDD7-3534-460D-AA46-41C45CE8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Der USP ist die Kombination, nicht der Preisrechner</a:t>
            </a:r>
          </a:p>
        </p:txBody>
      </p:sp>
      <p:sp>
        <p:nvSpPr>
          <p:cNvPr id="5" name="source-3">
            <a:extLst xmlns:a="http://schemas.openxmlformats.org/drawingml/2006/main">
              <a:ext uri="{FF2B5EF4-FFF2-40B4-BE49-F238E27FC236}">
                <a16:creationId xmlns:a16="http://schemas.microsoft.com/office/drawing/2014/main" id="{6D1E651A-8D24-4BDA-BAAE-7F7A733A1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Quellen: öffentliche Produktseiten von Destatis, Immowelt, Immolyze und kommunalen Mietspiegeln; Audit vom 16.07.2026.</a:t>
            </a:r>
          </a:p>
        </p:txBody>
      </p:sp>
      <p:sp>
        <p:nvSpPr>
          <p:cNvPr id="6" name="page-3">
            <a:extLst xmlns:a="http://schemas.openxmlformats.org/drawingml/2006/main">
              <a:ext uri="{FF2B5EF4-FFF2-40B4-BE49-F238E27FC236}">
                <a16:creationId xmlns:a16="http://schemas.microsoft.com/office/drawing/2014/main" id="{48F37945-AAEE-4074-A7DA-6720A7AE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7" name="competitor-lead">
            <a:extLst xmlns:a="http://schemas.openxmlformats.org/drawingml/2006/main">
              <a:ext uri="{FF2B5EF4-FFF2-40B4-BE49-F238E27FC236}">
                <a16:creationId xmlns:a16="http://schemas.microsoft.com/office/drawing/2014/main" id="{93A2B095-BBFF-4A39-A18E-4C4F2A542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110490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Kein geprüftes Angebot verbindet alle fünf Bausteine in einer quellenoffenen Anwendung.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457200" y="2133600"/>
          <a:ext xmlns:a="http://schemas.openxmlformats.org/drawingml/2006/main" cx="11049000" cy="35433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724150"/>
                <a:gridCol w="1333500"/>
                <a:gridCol w="1333500"/>
                <a:gridCol w="1485900"/>
                <a:gridCol w="1809750"/>
                <a:gridCol w="2362200"/>
              </a:tblGrid>
              <a:tr h="59055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Angebot</a:t>
                      </a:r>
                    </a:p>
                  </a:txBody>
                  <a:tcPr marL="95250" marR="95250" marT="95250" marB="95250">
                    <a:solidFill>
                      <a:srgbClr val="1021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Bestand</a:t>
                      </a:r>
                    </a:p>
                  </a:txBody>
                  <a:tcPr marL="95250" marR="95250" marT="95250" marB="95250">
                    <a:solidFill>
                      <a:srgbClr val="1021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aktuell</a:t>
                      </a:r>
                    </a:p>
                  </a:txBody>
                  <a:tcPr marL="95250" marR="95250" marT="95250" marB="95250">
                    <a:solidFill>
                      <a:srgbClr val="1021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persönlich</a:t>
                      </a:r>
                    </a:p>
                  </a:txBody>
                  <a:tcPr marL="95250" marR="95250" marT="95250" marB="95250">
                    <a:solidFill>
                      <a:srgbClr val="1021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Unsicherheit</a:t>
                      </a:r>
                    </a:p>
                  </a:txBody>
                  <a:tcPr marL="95250" marR="95250" marT="95250" marB="95250">
                    <a:solidFill>
                      <a:srgbClr val="1021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offene ML-Methode</a:t>
                      </a:r>
                    </a:p>
                  </a:txBody>
                  <a:tcPr marL="95250" marR="95250" marT="95250" marB="95250">
                    <a:solidFill>
                      <a:srgbClr val="102138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Destatis-Vergleich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Teilweise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Immowelt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Teilweise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Immolyze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unklar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Teilweise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nicht offen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Kommunale Mietspiegel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unterschiedlich</a:t>
                      </a:r>
                    </a:p>
                  </a:txBody>
                  <a:tcPr marL="95250" marR="9525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F7B62"/>
                          </a:solidFill>
                        </a:rPr>
                        <a:t>MietCheck</a:t>
                      </a:r>
                    </a:p>
                  </a:txBody>
                  <a:tcPr marL="95250" marR="95250" marT="95250" marB="95250">
                    <a:solidFill>
                      <a:srgbClr val="DD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F7B62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D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F7B62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D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F7B62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D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F7B62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D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F7B62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DF5ED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97479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header-4">
            <a:extLst xmlns:a="http://schemas.openxmlformats.org/drawingml/2006/main">
              <a:ext uri="{FF2B5EF4-FFF2-40B4-BE49-F238E27FC236}">
                <a16:creationId xmlns:a16="http://schemas.microsoft.com/office/drawing/2014/main" id="{FE2DFF40-1733-4D8F-BFFA-7CDFFE750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4">
            <a:extLst xmlns:a="http://schemas.openxmlformats.org/drawingml/2006/main">
              <a:ext uri="{FF2B5EF4-FFF2-40B4-BE49-F238E27FC236}">
                <a16:creationId xmlns:a16="http://schemas.microsoft.com/office/drawing/2014/main" id="{45B1232D-4AF4-4EB8-80EE-FE18AE036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4">
            <a:extLst xmlns:a="http://schemas.openxmlformats.org/drawingml/2006/main">
              <a:ext uri="{FF2B5EF4-FFF2-40B4-BE49-F238E27FC236}">
                <a16:creationId xmlns:a16="http://schemas.microsoft.com/office/drawing/2014/main" id="{6E886B2A-B946-49AB-BF05-FEF7E2941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4">
            <a:extLst xmlns:a="http://schemas.openxmlformats.org/drawingml/2006/main">
              <a:ext uri="{FF2B5EF4-FFF2-40B4-BE49-F238E27FC236}">
                <a16:creationId xmlns:a16="http://schemas.microsoft.com/office/drawing/2014/main" id="{6A54FC6A-69C5-44E3-86AF-F350F72A3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2,06 Mio. Rasterwerte – mit prüfbarer Herkunft</a:t>
            </a:r>
          </a:p>
        </p:txBody>
      </p:sp>
      <p:sp>
        <p:nvSpPr>
          <p:cNvPr id="5" name="source-4">
            <a:extLst xmlns:a="http://schemas.openxmlformats.org/drawingml/2006/main">
              <a:ext uri="{FF2B5EF4-FFF2-40B4-BE49-F238E27FC236}">
                <a16:creationId xmlns:a16="http://schemas.microsoft.com/office/drawing/2014/main" id="{02A83C39-71E7-4AF8-820C-A1CEF461E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Quellen: Statistische Ämter des Bundes und der Länder, Zensus 2022; Kiel Institut / VALUE; eigene Verarbeitung.</a:t>
            </a:r>
          </a:p>
        </p:txBody>
      </p:sp>
      <p:sp>
        <p:nvSpPr>
          <p:cNvPr id="6" name="page-4">
            <a:extLst xmlns:a="http://schemas.openxmlformats.org/drawingml/2006/main">
              <a:ext uri="{FF2B5EF4-FFF2-40B4-BE49-F238E27FC236}">
                <a16:creationId xmlns:a16="http://schemas.microsoft.com/office/drawing/2014/main" id="{F869F740-D3B4-4B97-9CB7-34817E909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4</a:t>
            </a:r>
          </a:p>
        </p:txBody>
      </p:sp>
      <p:sp>
        <p:nvSpPr>
          <p:cNvPr id="7" name="data-lead">
            <a:extLst xmlns:a="http://schemas.openxmlformats.org/drawingml/2006/main">
              <a:ext uri="{FF2B5EF4-FFF2-40B4-BE49-F238E27FC236}">
                <a16:creationId xmlns:a16="http://schemas.microsoft.com/office/drawing/2014/main" id="{B4271CAE-9283-43AA-90A6-AB4A3297F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10490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Sieben Zensusprodukte bilden die ML-Basis; GREIX bleibt als aktuelle Marktquelle methodisch getrennt.</a:t>
            </a:r>
          </a:p>
        </p:txBody>
      </p:sp>
      <p:sp>
        <p:nvSpPr>
          <p:cNvPr id="8" name="data-panel-0">
            <a:extLst xmlns:a="http://schemas.openxmlformats.org/drawingml/2006/main">
              <a:ext uri="{FF2B5EF4-FFF2-40B4-BE49-F238E27FC236}">
                <a16:creationId xmlns:a16="http://schemas.microsoft.com/office/drawing/2014/main" id="{1A7A264D-3017-4E57-A9D9-ED7AA064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24100"/>
            <a:ext cx="34480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data-stat-0">
            <a:extLst xmlns:a="http://schemas.openxmlformats.org/drawingml/2006/main">
              <a:ext uri="{FF2B5EF4-FFF2-40B4-BE49-F238E27FC236}">
                <a16:creationId xmlns:a16="http://schemas.microsoft.com/office/drawing/2014/main" id="{32587D6D-F09F-409E-9CA3-4E90B2EE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71750"/>
            <a:ext cx="2952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2,06 Mio.</a:t>
            </a:r>
          </a:p>
        </p:txBody>
      </p:sp>
      <p:sp>
        <p:nvSpPr>
          <p:cNvPr id="10" name="data-label-0">
            <a:extLst xmlns:a="http://schemas.openxmlformats.org/drawingml/2006/main">
              <a:ext uri="{FF2B5EF4-FFF2-40B4-BE49-F238E27FC236}">
                <a16:creationId xmlns:a16="http://schemas.microsoft.com/office/drawing/2014/main" id="{4A5682B2-8B7B-4D08-96C8-DD51B6691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4805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Modellzeilen</a:t>
            </a:r>
          </a:p>
        </p:txBody>
      </p:sp>
      <p:sp>
        <p:nvSpPr>
          <p:cNvPr id="11" name="data-detail-0">
            <a:extLst xmlns:a="http://schemas.openxmlformats.org/drawingml/2006/main">
              <a:ext uri="{FF2B5EF4-FFF2-40B4-BE49-F238E27FC236}">
                <a16:creationId xmlns:a16="http://schemas.microsoft.com/office/drawing/2014/main" id="{14D1CEDA-E73D-4630-9195-FA0745FD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2952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Miete × Gebäudealter × Wohnungsgröße</a:t>
            </a:r>
          </a:p>
        </p:txBody>
      </p:sp>
      <p:sp>
        <p:nvSpPr>
          <p:cNvPr id="12" name="data-panel-1">
            <a:extLst xmlns:a="http://schemas.openxmlformats.org/drawingml/2006/main">
              <a:ext uri="{FF2B5EF4-FFF2-40B4-BE49-F238E27FC236}">
                <a16:creationId xmlns:a16="http://schemas.microsoft.com/office/drawing/2014/main" id="{F10AEE68-84F0-4365-9278-90327CB3B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324100"/>
            <a:ext cx="34480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3" name="data-stat-1">
            <a:extLst xmlns:a="http://schemas.openxmlformats.org/drawingml/2006/main">
              <a:ext uri="{FF2B5EF4-FFF2-40B4-BE49-F238E27FC236}">
                <a16:creationId xmlns:a16="http://schemas.microsoft.com/office/drawing/2014/main" id="{A4A6871E-A7CB-4F82-81A4-A88742D14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571750"/>
            <a:ext cx="2952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1,18 Mio.</a:t>
            </a:r>
          </a:p>
        </p:txBody>
      </p:sp>
      <p:sp>
        <p:nvSpPr>
          <p:cNvPr id="14" name="data-label-1">
            <a:extLst xmlns:a="http://schemas.openxmlformats.org/drawingml/2006/main">
              <a:ext uri="{FF2B5EF4-FFF2-40B4-BE49-F238E27FC236}">
                <a16:creationId xmlns:a16="http://schemas.microsoft.com/office/drawing/2014/main" id="{3CF622A1-9CA1-4097-B131-8FBFA0917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44805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100-m-Gitter</a:t>
            </a:r>
          </a:p>
        </p:txBody>
      </p:sp>
      <p:sp>
        <p:nvSpPr>
          <p:cNvPr id="15" name="data-detail-1">
            <a:extLst xmlns:a="http://schemas.openxmlformats.org/drawingml/2006/main">
              <a:ext uri="{FF2B5EF4-FFF2-40B4-BE49-F238E27FC236}">
                <a16:creationId xmlns:a16="http://schemas.microsoft.com/office/drawing/2014/main" id="{0FE048F3-49E8-4E3A-B46C-4BEC1355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905250"/>
            <a:ext cx="2952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kleinräumige amtliche Zensuszellen</a:t>
            </a:r>
          </a:p>
        </p:txBody>
      </p:sp>
      <p:sp>
        <p:nvSpPr>
          <p:cNvPr id="16" name="data-panel-2">
            <a:extLst xmlns:a="http://schemas.openxmlformats.org/drawingml/2006/main">
              <a:ext uri="{FF2B5EF4-FFF2-40B4-BE49-F238E27FC236}">
                <a16:creationId xmlns:a16="http://schemas.microsoft.com/office/drawing/2014/main" id="{BC04BDC7-A819-4F3B-93E9-3CF62223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24100"/>
            <a:ext cx="34480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7" name="data-stat-2">
            <a:extLst xmlns:a="http://schemas.openxmlformats.org/drawingml/2006/main">
              <a:ext uri="{FF2B5EF4-FFF2-40B4-BE49-F238E27FC236}">
                <a16:creationId xmlns:a16="http://schemas.microsoft.com/office/drawing/2014/main" id="{9CF2B0B9-261F-4B0E-B36B-F5B96D49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71750"/>
            <a:ext cx="2952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2026-Q1</a:t>
            </a:r>
          </a:p>
        </p:txBody>
      </p:sp>
      <p:sp>
        <p:nvSpPr>
          <p:cNvPr id="18" name="data-label-2">
            <a:extLst xmlns:a="http://schemas.openxmlformats.org/drawingml/2006/main">
              <a:ext uri="{FF2B5EF4-FFF2-40B4-BE49-F238E27FC236}">
                <a16:creationId xmlns:a16="http://schemas.microsoft.com/office/drawing/2014/main" id="{595E184D-7D4E-4DEC-B4F9-4D4FE44A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44805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aktuelle Referenz</a:t>
            </a:r>
          </a:p>
        </p:txBody>
      </p:sp>
      <p:sp>
        <p:nvSpPr>
          <p:cNvPr id="19" name="data-detail-2">
            <a:extLst xmlns:a="http://schemas.openxmlformats.org/drawingml/2006/main">
              <a:ext uri="{FF2B5EF4-FFF2-40B4-BE49-F238E27FC236}">
                <a16:creationId xmlns:a16="http://schemas.microsoft.com/office/drawing/2014/main" id="{3260DD6A-99B4-49F8-8ABF-D7A902465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905250"/>
            <a:ext cx="2952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37 lokale GREIX-Märkte + Deutschland</a:t>
            </a:r>
          </a:p>
        </p:txBody>
      </p:sp>
      <p:cxnSp>
        <p:nvCxnSpPr>
          <p:cNvPr id="44" name="provenance-line"/>
          <p:cNvCxnSpPr/>
          <p:nvPr/>
        </p:nvCxnSpPr>
        <p:spPr>
          <a:xfrm xmlns:a="http://schemas.openxmlformats.org/drawingml/2006/main">
            <a:off x="704850" y="5391150"/>
            <a:ext cx="1028700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6E1DF"/>
            </a:solidFill>
            <a:prstDash val="solid"/>
          </a:ln>
        </p:spPr>
      </p:cxnSp>
      <p:sp>
        <p:nvSpPr>
          <p:cNvPr id="21" name="prov-1">
            <a:extLst xmlns:a="http://schemas.openxmlformats.org/drawingml/2006/main">
              <a:ext uri="{FF2B5EF4-FFF2-40B4-BE49-F238E27FC236}">
                <a16:creationId xmlns:a16="http://schemas.microsoft.com/office/drawing/2014/main" id="{566414B1-3C05-424B-99DC-3135B03CD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6260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Offizielle URL</a:t>
            </a:r>
          </a:p>
        </p:txBody>
      </p:sp>
      <p:sp>
        <p:nvSpPr>
          <p:cNvPr id="22" name="prov-2">
            <a:extLst xmlns:a="http://schemas.openxmlformats.org/drawingml/2006/main">
              <a:ext uri="{FF2B5EF4-FFF2-40B4-BE49-F238E27FC236}">
                <a16:creationId xmlns:a16="http://schemas.microsoft.com/office/drawing/2014/main" id="{A95C49A8-946A-4AA7-908C-82A7832FA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56260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SHA-256-Manifest</a:t>
            </a:r>
          </a:p>
        </p:txBody>
      </p:sp>
      <p:sp>
        <p:nvSpPr>
          <p:cNvPr id="23" name="prov-3">
            <a:extLst xmlns:a="http://schemas.openxmlformats.org/drawingml/2006/main">
              <a:ext uri="{FF2B5EF4-FFF2-40B4-BE49-F238E27FC236}">
                <a16:creationId xmlns:a16="http://schemas.microsoft.com/office/drawing/2014/main" id="{18C1085D-0815-4AAD-BE1A-24882167A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56260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Datenverträge</a:t>
            </a:r>
          </a:p>
        </p:txBody>
      </p:sp>
      <p:sp>
        <p:nvSpPr>
          <p:cNvPr id="24" name="prov-4">
            <a:extLst xmlns:a="http://schemas.openxmlformats.org/drawingml/2006/main">
              <a:ext uri="{FF2B5EF4-FFF2-40B4-BE49-F238E27FC236}">
                <a16:creationId xmlns:a16="http://schemas.microsoft.com/office/drawing/2014/main" id="{C40CFC0B-EF10-4FF2-B860-6686B1861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562600"/>
            <a:ext cx="2667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reproduzierbarer Build</a:t>
            </a:r>
          </a:p>
        </p:txBody>
      </p:sp>
    </p:spTree>
    <p:extLst>
      <p:ext uri="{BB962C8B-B14F-4D97-AF65-F5344CB8AC3E}">
        <p14:creationId xmlns:p14="http://schemas.microsoft.com/office/powerpoint/2010/main" val="10109527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header-5">
            <a:extLst xmlns:a="http://schemas.openxmlformats.org/drawingml/2006/main">
              <a:ext uri="{FF2B5EF4-FFF2-40B4-BE49-F238E27FC236}">
                <a16:creationId xmlns:a16="http://schemas.microsoft.com/office/drawing/2014/main" id="{0982890D-C06F-4D1D-9BDF-2CB4C880A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5">
            <a:extLst xmlns:a="http://schemas.openxmlformats.org/drawingml/2006/main">
              <a:ext uri="{FF2B5EF4-FFF2-40B4-BE49-F238E27FC236}">
                <a16:creationId xmlns:a16="http://schemas.microsoft.com/office/drawing/2014/main" id="{292AF08D-5ABF-4932-B5A6-AAC7FBE10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5">
            <a:extLst xmlns:a="http://schemas.openxmlformats.org/drawingml/2006/main">
              <a:ext uri="{FF2B5EF4-FFF2-40B4-BE49-F238E27FC236}">
                <a16:creationId xmlns:a16="http://schemas.microsoft.com/office/drawing/2014/main" id="{CBDE695F-2DBD-4E72-8DD3-75E98CD3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5">
            <a:extLst xmlns:a="http://schemas.openxmlformats.org/drawingml/2006/main">
              <a:ext uri="{FF2B5EF4-FFF2-40B4-BE49-F238E27FC236}">
                <a16:creationId xmlns:a16="http://schemas.microsoft.com/office/drawing/2014/main" id="{F9602C05-8B21-4CCA-B177-DFDD9828B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QUA³CK macht jede Entscheidung prüfbar</a:t>
            </a:r>
          </a:p>
        </p:txBody>
      </p:sp>
      <p:sp>
        <p:nvSpPr>
          <p:cNvPr id="5" name="source-5">
            <a:extLst xmlns:a="http://schemas.openxmlformats.org/drawingml/2006/main">
              <a:ext uri="{FF2B5EF4-FFF2-40B4-BE49-F238E27FC236}">
                <a16:creationId xmlns:a16="http://schemas.microsoft.com/office/drawing/2014/main" id="{23A5CF72-0F63-43FA-8320-B3E778758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6" name="page-5">
            <a:extLst xmlns:a="http://schemas.openxmlformats.org/drawingml/2006/main">
              <a:ext uri="{FF2B5EF4-FFF2-40B4-BE49-F238E27FC236}">
                <a16:creationId xmlns:a16="http://schemas.microsoft.com/office/drawing/2014/main" id="{257CDD34-AE7C-4E6E-8511-91959DE9D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5</a:t>
            </a:r>
          </a:p>
        </p:txBody>
      </p:sp>
      <p:sp>
        <p:nvSpPr>
          <p:cNvPr id="7" name="qua-lead">
            <a:extLst xmlns:a="http://schemas.openxmlformats.org/drawingml/2006/main">
              <a:ext uri="{FF2B5EF4-FFF2-40B4-BE49-F238E27FC236}">
                <a16:creationId xmlns:a16="http://schemas.microsoft.com/office/drawing/2014/main" id="{119894A2-0B4E-45A3-B1FD-E4BAD4C27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10490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Jede Phase endet in versionierten Reports, ausgeführten Notebooks und einem überprüfbaren Gate.</a:t>
            </a:r>
          </a:p>
        </p:txBody>
      </p:sp>
      <p:cxnSp>
        <p:nvCxnSpPr>
          <p:cNvPr id="46" name="qua-line"/>
          <p:cNvCxnSpPr/>
          <p:nvPr/>
        </p:nvCxnSpPr>
        <p:spPr>
          <a:xfrm xmlns:a="http://schemas.openxmlformats.org/drawingml/2006/main">
            <a:off x="819150" y="3105150"/>
            <a:ext cx="1000125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6E1DF"/>
            </a:solidFill>
            <a:prstDash val="solid"/>
          </a:ln>
        </p:spPr>
      </p:cxnSp>
      <p:sp>
        <p:nvSpPr>
          <p:cNvPr id="9" name="qua-node-0">
            <a:extLst xmlns:a="http://schemas.openxmlformats.org/drawingml/2006/main">
              <a:ext uri="{FF2B5EF4-FFF2-40B4-BE49-F238E27FC236}">
                <a16:creationId xmlns:a16="http://schemas.microsoft.com/office/drawing/2014/main" id="{CCA637B2-C571-47AE-9FA1-5F46DE769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10" name="qua-code-0">
            <a:extLst xmlns:a="http://schemas.openxmlformats.org/drawingml/2006/main">
              <a:ext uri="{FF2B5EF4-FFF2-40B4-BE49-F238E27FC236}">
                <a16:creationId xmlns:a16="http://schemas.microsoft.com/office/drawing/2014/main" id="{386E887F-1A73-401C-8945-0A777034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Q</a:t>
            </a:r>
          </a:p>
        </p:txBody>
      </p:sp>
      <p:sp>
        <p:nvSpPr>
          <p:cNvPr id="11" name="qua-title-0">
            <a:extLst xmlns:a="http://schemas.openxmlformats.org/drawingml/2006/main">
              <a:ext uri="{FF2B5EF4-FFF2-40B4-BE49-F238E27FC236}">
                <a16:creationId xmlns:a16="http://schemas.microsoft.com/office/drawing/2014/main" id="{E7DC3A47-9FF9-4A56-937E-4123E406A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Question</a:t>
            </a:r>
          </a:p>
        </p:txBody>
      </p:sp>
      <p:sp>
        <p:nvSpPr>
          <p:cNvPr id="12" name="qua-body-0">
            <a:extLst xmlns:a="http://schemas.openxmlformats.org/drawingml/2006/main">
              <a:ext uri="{FF2B5EF4-FFF2-40B4-BE49-F238E27FC236}">
                <a16:creationId xmlns:a16="http://schemas.microsoft.com/office/drawing/2014/main" id="{24A5C344-F5B0-4C0D-8C6A-5F95E43EE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Problem, Zielgruppe,
KPIs, USP</a:t>
            </a:r>
          </a:p>
        </p:txBody>
      </p:sp>
      <p:sp>
        <p:nvSpPr>
          <p:cNvPr id="13" name="qua-node-1">
            <a:extLst xmlns:a="http://schemas.openxmlformats.org/drawingml/2006/main">
              <a:ext uri="{FF2B5EF4-FFF2-40B4-BE49-F238E27FC236}">
                <a16:creationId xmlns:a16="http://schemas.microsoft.com/office/drawing/2014/main" id="{83265EE9-2C6C-4EF5-AF65-9D05F0CC1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14" name="qua-code-1">
            <a:extLst xmlns:a="http://schemas.openxmlformats.org/drawingml/2006/main">
              <a:ext uri="{FF2B5EF4-FFF2-40B4-BE49-F238E27FC236}">
                <a16:creationId xmlns:a16="http://schemas.microsoft.com/office/drawing/2014/main" id="{42C9F2BC-6922-499E-A9D2-A54B03086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U</a:t>
            </a:r>
          </a:p>
        </p:txBody>
      </p:sp>
      <p:sp>
        <p:nvSpPr>
          <p:cNvPr id="15" name="qua-title-1">
            <a:extLst xmlns:a="http://schemas.openxmlformats.org/drawingml/2006/main">
              <a:ext uri="{FF2B5EF4-FFF2-40B4-BE49-F238E27FC236}">
                <a16:creationId xmlns:a16="http://schemas.microsoft.com/office/drawing/2014/main" id="{B032892B-D912-45FF-A3E5-170EADC05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Understanding</a:t>
            </a:r>
          </a:p>
        </p:txBody>
      </p:sp>
      <p:sp>
        <p:nvSpPr>
          <p:cNvPr id="16" name="qua-body-1">
            <a:extLst xmlns:a="http://schemas.openxmlformats.org/drawingml/2006/main">
              <a:ext uri="{FF2B5EF4-FFF2-40B4-BE49-F238E27FC236}">
                <a16:creationId xmlns:a16="http://schemas.microsoft.com/office/drawing/2014/main" id="{626CD865-394D-4751-AD8D-EBE13C6BC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Quellen, Qualität,
EDA, Raum</a:t>
            </a:r>
          </a:p>
        </p:txBody>
      </p:sp>
      <p:sp>
        <p:nvSpPr>
          <p:cNvPr id="17" name="qua-node-2">
            <a:extLst xmlns:a="http://schemas.openxmlformats.org/drawingml/2006/main">
              <a:ext uri="{FF2B5EF4-FFF2-40B4-BE49-F238E27FC236}">
                <a16:creationId xmlns:a16="http://schemas.microsoft.com/office/drawing/2014/main" id="{9D292083-C59F-4B94-ACF0-4BD043D14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18" name="qua-code-2">
            <a:extLst xmlns:a="http://schemas.openxmlformats.org/drawingml/2006/main">
              <a:ext uri="{FF2B5EF4-FFF2-40B4-BE49-F238E27FC236}">
                <a16:creationId xmlns:a16="http://schemas.microsoft.com/office/drawing/2014/main" id="{E8F386BA-267D-4CC6-804C-013F0307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A¹</a:t>
            </a:r>
          </a:p>
        </p:txBody>
      </p:sp>
      <p:sp>
        <p:nvSpPr>
          <p:cNvPr id="19" name="qua-title-2">
            <a:extLst xmlns:a="http://schemas.openxmlformats.org/drawingml/2006/main">
              <a:ext uri="{FF2B5EF4-FFF2-40B4-BE49-F238E27FC236}">
                <a16:creationId xmlns:a16="http://schemas.microsoft.com/office/drawing/2014/main" id="{69AD4DC1-3330-4778-8F2B-21D382EF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Auswahl</a:t>
            </a:r>
          </a:p>
        </p:txBody>
      </p:sp>
      <p:sp>
        <p:nvSpPr>
          <p:cNvPr id="20" name="qua-body-2">
            <a:extLst xmlns:a="http://schemas.openxmlformats.org/drawingml/2006/main">
              <a:ext uri="{FF2B5EF4-FFF2-40B4-BE49-F238E27FC236}">
                <a16:creationId xmlns:a16="http://schemas.microsoft.com/office/drawing/2014/main" id="{A6AEB6BC-6A4D-411B-9225-ADD3467D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5 Modelle,
Spatial CV</a:t>
            </a:r>
          </a:p>
        </p:txBody>
      </p:sp>
      <p:sp>
        <p:nvSpPr>
          <p:cNvPr id="21" name="qua-node-3">
            <a:extLst xmlns:a="http://schemas.openxmlformats.org/drawingml/2006/main">
              <a:ext uri="{FF2B5EF4-FFF2-40B4-BE49-F238E27FC236}">
                <a16:creationId xmlns:a16="http://schemas.microsoft.com/office/drawing/2014/main" id="{B6F042AD-C67E-4ED8-BE66-58CF9052D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22" name="qua-code-3">
            <a:extLst xmlns:a="http://schemas.openxmlformats.org/drawingml/2006/main">
              <a:ext uri="{FF2B5EF4-FFF2-40B4-BE49-F238E27FC236}">
                <a16:creationId xmlns:a16="http://schemas.microsoft.com/office/drawing/2014/main" id="{F8113B7F-41C8-4441-A486-1F1E139FD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A²</a:t>
            </a:r>
          </a:p>
        </p:txBody>
      </p:sp>
      <p:sp>
        <p:nvSpPr>
          <p:cNvPr id="23" name="qua-title-3">
            <a:extLst xmlns:a="http://schemas.openxmlformats.org/drawingml/2006/main">
              <a:ext uri="{FF2B5EF4-FFF2-40B4-BE49-F238E27FC236}">
                <a16:creationId xmlns:a16="http://schemas.microsoft.com/office/drawing/2014/main" id="{7ADA6DC2-FCAC-46D4-AA40-F64FF0164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Adapting</a:t>
            </a:r>
          </a:p>
        </p:txBody>
      </p:sp>
      <p:sp>
        <p:nvSpPr>
          <p:cNvPr id="24" name="qua-body-3">
            <a:extLst xmlns:a="http://schemas.openxmlformats.org/drawingml/2006/main">
              <a:ext uri="{FF2B5EF4-FFF2-40B4-BE49-F238E27FC236}">
                <a16:creationId xmlns:a16="http://schemas.microsoft.com/office/drawing/2014/main" id="{C1D2488C-2701-4595-BE73-43CDC6C31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4 Feature-
Ablationen</a:t>
            </a:r>
          </a:p>
        </p:txBody>
      </p:sp>
      <p:sp>
        <p:nvSpPr>
          <p:cNvPr id="25" name="qua-node-4">
            <a:extLst xmlns:a="http://schemas.openxmlformats.org/drawingml/2006/main">
              <a:ext uri="{FF2B5EF4-FFF2-40B4-BE49-F238E27FC236}">
                <a16:creationId xmlns:a16="http://schemas.microsoft.com/office/drawing/2014/main" id="{4D0CE753-FC3D-4F0C-8600-F18BC0229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26" name="qua-code-4">
            <a:extLst xmlns:a="http://schemas.openxmlformats.org/drawingml/2006/main">
              <a:ext uri="{FF2B5EF4-FFF2-40B4-BE49-F238E27FC236}">
                <a16:creationId xmlns:a16="http://schemas.microsoft.com/office/drawing/2014/main" id="{E683A53B-007D-462E-AC3E-DEE2EE01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A³</a:t>
            </a:r>
          </a:p>
        </p:txBody>
      </p:sp>
      <p:sp>
        <p:nvSpPr>
          <p:cNvPr id="27" name="qua-title-4">
            <a:extLst xmlns:a="http://schemas.openxmlformats.org/drawingml/2006/main">
              <a:ext uri="{FF2B5EF4-FFF2-40B4-BE49-F238E27FC236}">
                <a16:creationId xmlns:a16="http://schemas.microsoft.com/office/drawing/2014/main" id="{38F3DB8E-4363-4379-B1CB-4E4E43418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Adjusting</a:t>
            </a:r>
          </a:p>
        </p:txBody>
      </p:sp>
      <p:sp>
        <p:nvSpPr>
          <p:cNvPr id="28" name="qua-body-4">
            <a:extLst xmlns:a="http://schemas.openxmlformats.org/drawingml/2006/main">
              <a:ext uri="{FF2B5EF4-FFF2-40B4-BE49-F238E27FC236}">
                <a16:creationId xmlns:a16="http://schemas.microsoft.com/office/drawing/2014/main" id="{224AE07F-B093-490E-A948-39DB0E1B4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8 Tunings,
Datensperre</a:t>
            </a:r>
          </a:p>
        </p:txBody>
      </p:sp>
      <p:sp>
        <p:nvSpPr>
          <p:cNvPr id="29" name="qua-node-5">
            <a:extLst xmlns:a="http://schemas.openxmlformats.org/drawingml/2006/main">
              <a:ext uri="{FF2B5EF4-FFF2-40B4-BE49-F238E27FC236}">
                <a16:creationId xmlns:a16="http://schemas.microsoft.com/office/drawing/2014/main" id="{270C27A3-C902-4AFD-AAC2-5BDFEC15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CFF"/>
          </a:solidFill>
          <a:ln xmlns:a="http://schemas.openxmlformats.org/drawingml/2006/main" w="0">
            <a:solidFill>
              <a:srgbClr val="315CFF"/>
            </a:solidFill>
            <a:prstDash val="solid"/>
          </a:ln>
        </p:spPr>
      </p:sp>
      <p:sp>
        <p:nvSpPr>
          <p:cNvPr id="30" name="qua-code-5">
            <a:extLst xmlns:a="http://schemas.openxmlformats.org/drawingml/2006/main">
              <a:ext uri="{FF2B5EF4-FFF2-40B4-BE49-F238E27FC236}">
                <a16:creationId xmlns:a16="http://schemas.microsoft.com/office/drawing/2014/main" id="{FCC4EF4A-8512-48A3-8831-9E061E811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</a:t>
            </a:r>
          </a:p>
        </p:txBody>
      </p:sp>
      <p:sp>
        <p:nvSpPr>
          <p:cNvPr id="31" name="qua-title-5">
            <a:extLst xmlns:a="http://schemas.openxmlformats.org/drawingml/2006/main">
              <a:ext uri="{FF2B5EF4-FFF2-40B4-BE49-F238E27FC236}">
                <a16:creationId xmlns:a16="http://schemas.microsoft.com/office/drawing/2014/main" id="{36C77C3F-FA64-4A9B-9F9B-FFDC7A479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Comparing</a:t>
            </a:r>
          </a:p>
        </p:txBody>
      </p:sp>
      <p:sp>
        <p:nvSpPr>
          <p:cNvPr id="32" name="qua-body-5">
            <a:extLst xmlns:a="http://schemas.openxmlformats.org/drawingml/2006/main">
              <a:ext uri="{FF2B5EF4-FFF2-40B4-BE49-F238E27FC236}">
                <a16:creationId xmlns:a16="http://schemas.microsoft.com/office/drawing/2014/main" id="{4B36DA70-1D7C-4624-AE0C-28928805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finaler Test,
Subgruppen</a:t>
            </a:r>
          </a:p>
        </p:txBody>
      </p:sp>
      <p:sp>
        <p:nvSpPr>
          <p:cNvPr id="33" name="qua-node-6">
            <a:extLst xmlns:a="http://schemas.openxmlformats.org/drawingml/2006/main">
              <a:ext uri="{FF2B5EF4-FFF2-40B4-BE49-F238E27FC236}">
                <a16:creationId xmlns:a16="http://schemas.microsoft.com/office/drawing/2014/main" id="{B9AD47CB-300D-4477-B3AF-1F1C60543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CFF"/>
          </a:solidFill>
          <a:ln xmlns:a="http://schemas.openxmlformats.org/drawingml/2006/main" w="0">
            <a:solidFill>
              <a:srgbClr val="315CFF"/>
            </a:solidFill>
            <a:prstDash val="solid"/>
          </a:ln>
        </p:spPr>
      </p:sp>
      <p:sp>
        <p:nvSpPr>
          <p:cNvPr id="34" name="qua-code-6">
            <a:extLst xmlns:a="http://schemas.openxmlformats.org/drawingml/2006/main">
              <a:ext uri="{FF2B5EF4-FFF2-40B4-BE49-F238E27FC236}">
                <a16:creationId xmlns:a16="http://schemas.microsoft.com/office/drawing/2014/main" id="{38370EE2-D8F6-4F77-B860-D5C69DA3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K</a:t>
            </a:r>
          </a:p>
        </p:txBody>
      </p:sp>
      <p:sp>
        <p:nvSpPr>
          <p:cNvPr id="35" name="qua-title-6">
            <a:extLst xmlns:a="http://schemas.openxmlformats.org/drawingml/2006/main">
              <a:ext uri="{FF2B5EF4-FFF2-40B4-BE49-F238E27FC236}">
                <a16:creationId xmlns:a16="http://schemas.microsoft.com/office/drawing/2014/main" id="{431DEE9C-2598-4628-9CF7-2B9455C72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Knowledge</a:t>
            </a:r>
          </a:p>
        </p:txBody>
      </p:sp>
      <p:sp>
        <p:nvSpPr>
          <p:cNvPr id="36" name="qua-body-6">
            <a:extLst xmlns:a="http://schemas.openxmlformats.org/drawingml/2006/main">
              <a:ext uri="{FF2B5EF4-FFF2-40B4-BE49-F238E27FC236}">
                <a16:creationId xmlns:a16="http://schemas.microsoft.com/office/drawing/2014/main" id="{F46B16DE-5F66-4D44-8247-94C25B9D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App, USP,
Umzugsaufschlag</a:t>
            </a:r>
          </a:p>
        </p:txBody>
      </p:sp>
      <p:sp>
        <p:nvSpPr>
          <p:cNvPr id="37" name="qua-proof">
            <a:extLst xmlns:a="http://schemas.openxmlformats.org/drawingml/2006/main">
              <a:ext uri="{FF2B5EF4-FFF2-40B4-BE49-F238E27FC236}">
                <a16:creationId xmlns:a16="http://schemas.microsoft.com/office/drawing/2014/main" id="{79C01114-5798-4A12-A02C-0B4D30070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19700"/>
            <a:ext cx="9334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F"/>
          </a:solidFill>
          <a:ln xmlns:a="http://schemas.openxmlformats.org/drawingml/2006/main" w="0">
            <a:solidFill>
              <a:srgbClr val="E8EDFF"/>
            </a:solidFill>
            <a:prstDash val="solid"/>
          </a:ln>
        </p:spPr>
      </p:sp>
      <p:sp>
        <p:nvSpPr>
          <p:cNvPr id="38" name="qua-proof-text">
            <a:extLst xmlns:a="http://schemas.openxmlformats.org/drawingml/2006/main">
              <a:ext uri="{FF2B5EF4-FFF2-40B4-BE49-F238E27FC236}">
                <a16:creationId xmlns:a16="http://schemas.microsoft.com/office/drawing/2014/main" id="{BCC6D296-7FE5-4A6A-B02E-6CF0F2B14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419725"/>
            <a:ext cx="8801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7/7 Notebooks · 37/37 Codezellen · 0 Fehleroutputs · automatisierter Ausführungsbericht</a:t>
            </a:r>
          </a:p>
        </p:txBody>
      </p:sp>
    </p:spTree>
    <p:extLst>
      <p:ext uri="{BB962C8B-B14F-4D97-AF65-F5344CB8AC3E}">
        <p14:creationId xmlns:p14="http://schemas.microsoft.com/office/powerpoint/2010/main" val="112370528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header-6">
            <a:extLst xmlns:a="http://schemas.openxmlformats.org/drawingml/2006/main">
              <a:ext uri="{FF2B5EF4-FFF2-40B4-BE49-F238E27FC236}">
                <a16:creationId xmlns:a16="http://schemas.microsoft.com/office/drawing/2014/main" id="{0201AF3F-D560-434C-B5E1-22BF718DE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6">
            <a:extLst xmlns:a="http://schemas.openxmlformats.org/drawingml/2006/main">
              <a:ext uri="{FF2B5EF4-FFF2-40B4-BE49-F238E27FC236}">
                <a16:creationId xmlns:a16="http://schemas.microsoft.com/office/drawing/2014/main" id="{CBDCB447-4CC3-4C6C-8CAB-DF21C9809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6">
            <a:extLst xmlns:a="http://schemas.openxmlformats.org/drawingml/2006/main">
              <a:ext uri="{FF2B5EF4-FFF2-40B4-BE49-F238E27FC236}">
                <a16:creationId xmlns:a16="http://schemas.microsoft.com/office/drawing/2014/main" id="{8F3C3909-1F9E-49BE-A431-2F4553A85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6">
            <a:extLst xmlns:a="http://schemas.openxmlformats.org/drawingml/2006/main">
              <a:ext uri="{FF2B5EF4-FFF2-40B4-BE49-F238E27FC236}">
                <a16:creationId xmlns:a16="http://schemas.microsoft.com/office/drawing/2014/main" id="{3DDA1986-F268-47C3-8586-BB7BE1ABA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Nachbarzellen dürfen den Test nicht verraten</a:t>
            </a:r>
          </a:p>
        </p:txBody>
      </p:sp>
      <p:sp>
        <p:nvSpPr>
          <p:cNvPr id="5" name="source-6">
            <a:extLst xmlns:a="http://schemas.openxmlformats.org/drawingml/2006/main">
              <a:ext uri="{FF2B5EF4-FFF2-40B4-BE49-F238E27FC236}">
                <a16:creationId xmlns:a16="http://schemas.microsoft.com/office/drawing/2014/main" id="{1E6449F9-59C4-4B5A-AC95-A6CB5FDF1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6" name="page-6">
            <a:extLst xmlns:a="http://schemas.openxmlformats.org/drawingml/2006/main">
              <a:ext uri="{FF2B5EF4-FFF2-40B4-BE49-F238E27FC236}">
                <a16:creationId xmlns:a16="http://schemas.microsoft.com/office/drawing/2014/main" id="{777CDC41-6C7C-4BA3-AD0E-F3625389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6</a:t>
            </a:r>
          </a:p>
        </p:txBody>
      </p:sp>
      <p:sp>
        <p:nvSpPr>
          <p:cNvPr id="7" name="spatial-lead">
            <a:extLst xmlns:a="http://schemas.openxmlformats.org/drawingml/2006/main">
              <a:ext uri="{FF2B5EF4-FFF2-40B4-BE49-F238E27FC236}">
                <a16:creationId xmlns:a16="http://schemas.microsoft.com/office/drawing/2014/main" id="{213AF970-1361-40B0-A0B4-8138761EB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71600"/>
            <a:ext cx="11049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Deshalb gruppiert MietCheck 100-m-Zellen in 25-km-Blöcke und trennt ganze Räume.</a:t>
            </a:r>
          </a:p>
        </p:txBody>
      </p:sp>
      <p:cxnSp>
        <p:nvCxnSpPr>
          <p:cNvPr id="36" name="spatial-connector"/>
          <p:cNvCxnSpPr/>
          <p:nvPr/>
        </p:nvCxnSpPr>
        <p:spPr>
          <a:xfrm xmlns:a="http://schemas.openxmlformats.org/drawingml/2006/main">
            <a:off x="2266950" y="3867150"/>
            <a:ext cx="765810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6E1DF"/>
            </a:solidFill>
            <a:prstDash val="solid"/>
          </a:ln>
        </p:spPr>
      </p:cxnSp>
      <p:sp>
        <p:nvSpPr>
          <p:cNvPr id="9" name="spatial-panel-0">
            <a:extLst xmlns:a="http://schemas.openxmlformats.org/drawingml/2006/main">
              <a:ext uri="{FF2B5EF4-FFF2-40B4-BE49-F238E27FC236}">
                <a16:creationId xmlns:a16="http://schemas.microsoft.com/office/drawing/2014/main" id="{DCB50187-0190-4652-BA6D-76E3B6FD1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52650"/>
            <a:ext cx="34480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DF"/>
            </a:solidFill>
            <a:prstDash val="solid"/>
          </a:ln>
        </p:spPr>
      </p:sp>
      <p:sp>
        <p:nvSpPr>
          <p:cNvPr id="10" name="spatial-bar-0">
            <a:extLst xmlns:a="http://schemas.openxmlformats.org/drawingml/2006/main">
              <a:ext uri="{FF2B5EF4-FFF2-40B4-BE49-F238E27FC236}">
                <a16:creationId xmlns:a16="http://schemas.microsoft.com/office/drawing/2014/main" id="{1081FAAC-6AAA-41F9-996F-093250EE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52650"/>
            <a:ext cx="34480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11" name="spatial-title-0">
            <a:extLst xmlns:a="http://schemas.openxmlformats.org/drawingml/2006/main">
              <a:ext uri="{FF2B5EF4-FFF2-40B4-BE49-F238E27FC236}">
                <a16:creationId xmlns:a16="http://schemas.microsoft.com/office/drawing/2014/main" id="{67BF5BF0-395A-44A8-8587-A5F6C2FF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3840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Entwicklung</a:t>
            </a:r>
          </a:p>
        </p:txBody>
      </p:sp>
      <p:sp>
        <p:nvSpPr>
          <p:cNvPr id="12" name="spatial-rows-0">
            <a:extLst xmlns:a="http://schemas.openxmlformats.org/drawingml/2006/main">
              <a:ext uri="{FF2B5EF4-FFF2-40B4-BE49-F238E27FC236}">
                <a16:creationId xmlns:a16="http://schemas.microsoft.com/office/drawing/2014/main" id="{2C2287B0-50FA-4531-9371-1B0FB9B1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52750"/>
            <a:ext cx="2952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1.518.322</a:t>
            </a:r>
          </a:p>
        </p:txBody>
      </p:sp>
      <p:sp>
        <p:nvSpPr>
          <p:cNvPr id="13" name="spatial-blocks-0">
            <a:extLst xmlns:a="http://schemas.openxmlformats.org/drawingml/2006/main">
              <a:ext uri="{FF2B5EF4-FFF2-40B4-BE49-F238E27FC236}">
                <a16:creationId xmlns:a16="http://schemas.microsoft.com/office/drawing/2014/main" id="{FE5339B7-BD13-4B02-B461-B393DAC1B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76650"/>
            <a:ext cx="295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465 Raumblöcke</a:t>
            </a:r>
          </a:p>
        </p:txBody>
      </p:sp>
      <p:sp>
        <p:nvSpPr>
          <p:cNvPr id="14" name="spatial-body-0">
            <a:extLst xmlns:a="http://schemas.openxmlformats.org/drawingml/2006/main">
              <a:ext uri="{FF2B5EF4-FFF2-40B4-BE49-F238E27FC236}">
                <a16:creationId xmlns:a16="http://schemas.microsoft.com/office/drawing/2014/main" id="{2C76E826-F38F-4390-86A8-2916B97F3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67200"/>
            <a:ext cx="295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Modellwahl, Tuning und Featureentscheidungen</a:t>
            </a:r>
          </a:p>
        </p:txBody>
      </p:sp>
      <p:sp>
        <p:nvSpPr>
          <p:cNvPr id="15" name="spatial-panel-1">
            <a:extLst xmlns:a="http://schemas.openxmlformats.org/drawingml/2006/main">
              <a:ext uri="{FF2B5EF4-FFF2-40B4-BE49-F238E27FC236}">
                <a16:creationId xmlns:a16="http://schemas.microsoft.com/office/drawing/2014/main" id="{9C02D8D4-A6E5-4866-AD69-2663679E1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152650"/>
            <a:ext cx="34480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DF"/>
            </a:solidFill>
            <a:prstDash val="solid"/>
          </a:ln>
        </p:spPr>
      </p:sp>
      <p:sp>
        <p:nvSpPr>
          <p:cNvPr id="16" name="spatial-bar-1">
            <a:extLst xmlns:a="http://schemas.openxmlformats.org/drawingml/2006/main">
              <a:ext uri="{FF2B5EF4-FFF2-40B4-BE49-F238E27FC236}">
                <a16:creationId xmlns:a16="http://schemas.microsoft.com/office/drawing/2014/main" id="{FCD9105A-E7EE-44AF-93E9-2D7CAE935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152650"/>
            <a:ext cx="34480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FF"/>
          </a:solidFill>
          <a:ln xmlns:a="http://schemas.openxmlformats.org/drawingml/2006/main" w="0">
            <a:solidFill>
              <a:srgbClr val="315CFF"/>
            </a:solidFill>
            <a:prstDash val="solid"/>
          </a:ln>
        </p:spPr>
      </p:sp>
      <p:sp>
        <p:nvSpPr>
          <p:cNvPr id="17" name="spatial-title-1">
            <a:extLst xmlns:a="http://schemas.openxmlformats.org/drawingml/2006/main">
              <a:ext uri="{FF2B5EF4-FFF2-40B4-BE49-F238E27FC236}">
                <a16:creationId xmlns:a16="http://schemas.microsoft.com/office/drawing/2014/main" id="{6AC30D47-9034-49E0-940D-C67EB125F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43840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Kalibrierung</a:t>
            </a:r>
          </a:p>
        </p:txBody>
      </p:sp>
      <p:sp>
        <p:nvSpPr>
          <p:cNvPr id="18" name="spatial-rows-1">
            <a:extLst xmlns:a="http://schemas.openxmlformats.org/drawingml/2006/main">
              <a:ext uri="{FF2B5EF4-FFF2-40B4-BE49-F238E27FC236}">
                <a16:creationId xmlns:a16="http://schemas.microsoft.com/office/drawing/2014/main" id="{48F0DAA8-F354-41E6-8A71-B1F4516DB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952750"/>
            <a:ext cx="2952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263.789</a:t>
            </a:r>
          </a:p>
        </p:txBody>
      </p:sp>
      <p:sp>
        <p:nvSpPr>
          <p:cNvPr id="19" name="spatial-blocks-1">
            <a:extLst xmlns:a="http://schemas.openxmlformats.org/drawingml/2006/main">
              <a:ext uri="{FF2B5EF4-FFF2-40B4-BE49-F238E27FC236}">
                <a16:creationId xmlns:a16="http://schemas.microsoft.com/office/drawing/2014/main" id="{13713357-3205-4BD2-B48F-8C944BCCC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76650"/>
            <a:ext cx="295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99 Raumblöcke</a:t>
            </a:r>
          </a:p>
        </p:txBody>
      </p:sp>
      <p:sp>
        <p:nvSpPr>
          <p:cNvPr id="20" name="spatial-body-1">
            <a:extLst xmlns:a="http://schemas.openxmlformats.org/drawingml/2006/main">
              <a:ext uri="{FF2B5EF4-FFF2-40B4-BE49-F238E27FC236}">
                <a16:creationId xmlns:a16="http://schemas.microsoft.com/office/drawing/2014/main" id="{1569CEF8-E865-4749-A9C7-E5CE015E9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267200"/>
            <a:ext cx="295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ausschließlich für Prognoseintervalle</a:t>
            </a:r>
          </a:p>
        </p:txBody>
      </p:sp>
      <p:sp>
        <p:nvSpPr>
          <p:cNvPr id="21" name="spatial-panel-2">
            <a:extLst xmlns:a="http://schemas.openxmlformats.org/drawingml/2006/main">
              <a:ext uri="{FF2B5EF4-FFF2-40B4-BE49-F238E27FC236}">
                <a16:creationId xmlns:a16="http://schemas.microsoft.com/office/drawing/2014/main" id="{FF77BA2D-8132-4C64-8BE8-6B53A665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34480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DF"/>
            </a:solidFill>
            <a:prstDash val="solid"/>
          </a:ln>
        </p:spPr>
      </p:sp>
      <p:sp>
        <p:nvSpPr>
          <p:cNvPr id="22" name="spatial-bar-2">
            <a:extLst xmlns:a="http://schemas.openxmlformats.org/drawingml/2006/main">
              <a:ext uri="{FF2B5EF4-FFF2-40B4-BE49-F238E27FC236}">
                <a16:creationId xmlns:a16="http://schemas.microsoft.com/office/drawing/2014/main" id="{2C676B79-32DD-458F-B6EC-514D4B384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34480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23" name="spatial-title-2">
            <a:extLst xmlns:a="http://schemas.openxmlformats.org/drawingml/2006/main">
              <a:ext uri="{FF2B5EF4-FFF2-40B4-BE49-F238E27FC236}">
                <a16:creationId xmlns:a16="http://schemas.microsoft.com/office/drawing/2014/main" id="{729C706C-3A98-45E9-A9A1-46605B049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3840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E85D3F"/>
                </a:solidFill>
                <a:latin typeface="Arial"/>
                <a:ea typeface="Arial"/>
                <a:cs typeface="Arial"/>
              </a:defRPr>
            </a:pPr>
            <a:r>
              <a:t>Finaler Test</a:t>
            </a:r>
          </a:p>
        </p:txBody>
      </p:sp>
      <p:sp>
        <p:nvSpPr>
          <p:cNvPr id="24" name="spatial-rows-2">
            <a:extLst xmlns:a="http://schemas.openxmlformats.org/drawingml/2006/main">
              <a:ext uri="{FF2B5EF4-FFF2-40B4-BE49-F238E27FC236}">
                <a16:creationId xmlns:a16="http://schemas.microsoft.com/office/drawing/2014/main" id="{67152874-8548-4E21-8C7B-DE48C86B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52750"/>
            <a:ext cx="2952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276.458</a:t>
            </a:r>
          </a:p>
        </p:txBody>
      </p:sp>
      <p:sp>
        <p:nvSpPr>
          <p:cNvPr id="25" name="spatial-blocks-2">
            <a:extLst xmlns:a="http://schemas.openxmlformats.org/drawingml/2006/main">
              <a:ext uri="{FF2B5EF4-FFF2-40B4-BE49-F238E27FC236}">
                <a16:creationId xmlns:a16="http://schemas.microsoft.com/office/drawing/2014/main" id="{04422683-002C-4877-9D27-0FF3D0CD8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676650"/>
            <a:ext cx="295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99 Raumblöcke</a:t>
            </a:r>
          </a:p>
        </p:txBody>
      </p:sp>
      <p:sp>
        <p:nvSpPr>
          <p:cNvPr id="26" name="spatial-body-2">
            <a:extLst xmlns:a="http://schemas.openxmlformats.org/drawingml/2006/main">
              <a:ext uri="{FF2B5EF4-FFF2-40B4-BE49-F238E27FC236}">
                <a16:creationId xmlns:a16="http://schemas.microsoft.com/office/drawing/2014/main" id="{F5D1CF9B-6E5E-4137-86D1-BF94BE77B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267200"/>
            <a:ext cx="295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einmalige Güte- und Subgruppenmessung</a:t>
            </a:r>
          </a:p>
        </p:txBody>
      </p:sp>
      <p:sp>
        <p:nvSpPr>
          <p:cNvPr id="27" name="zero-overlap">
            <a:extLst xmlns:a="http://schemas.openxmlformats.org/drawingml/2006/main">
              <a:ext uri="{FF2B5EF4-FFF2-40B4-BE49-F238E27FC236}">
                <a16:creationId xmlns:a16="http://schemas.microsoft.com/office/drawing/2014/main" id="{CD6B495C-95A3-4DAA-8BDB-AB29D3533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619750"/>
            <a:ext cx="6057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5ED"/>
          </a:solidFill>
          <a:ln xmlns:a="http://schemas.openxmlformats.org/drawingml/2006/main" w="0">
            <a:solidFill>
              <a:srgbClr val="DDF5ED"/>
            </a:solidFill>
            <a:prstDash val="solid"/>
          </a:ln>
        </p:spPr>
      </p:sp>
      <p:sp>
        <p:nvSpPr>
          <p:cNvPr id="28" name="zero-overlap-text">
            <a:extLst xmlns:a="http://schemas.openxmlformats.org/drawingml/2006/main">
              <a:ext uri="{FF2B5EF4-FFF2-40B4-BE49-F238E27FC236}">
                <a16:creationId xmlns:a16="http://schemas.microsoft.com/office/drawing/2014/main" id="{B224B00C-1173-4B29-B66B-EB2B77A84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753100"/>
            <a:ext cx="5638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0 gemeinsame 25-km-Blöcke zwischen den drei Teilmengen</a:t>
            </a:r>
          </a:p>
        </p:txBody>
      </p:sp>
    </p:spTree>
    <p:extLst>
      <p:ext uri="{BB962C8B-B14F-4D97-AF65-F5344CB8AC3E}">
        <p14:creationId xmlns:p14="http://schemas.microsoft.com/office/powerpoint/2010/main" val="19470863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header-7">
            <a:extLst xmlns:a="http://schemas.openxmlformats.org/drawingml/2006/main">
              <a:ext uri="{FF2B5EF4-FFF2-40B4-BE49-F238E27FC236}">
                <a16:creationId xmlns:a16="http://schemas.microsoft.com/office/drawing/2014/main" id="{A2EF4C0C-351A-415D-BBF0-F68FE628C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7">
            <a:extLst xmlns:a="http://schemas.openxmlformats.org/drawingml/2006/main">
              <a:ext uri="{FF2B5EF4-FFF2-40B4-BE49-F238E27FC236}">
                <a16:creationId xmlns:a16="http://schemas.microsoft.com/office/drawing/2014/main" id="{D9811E14-6FCB-4A5A-8D85-95995D74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7">
            <a:extLst xmlns:a="http://schemas.openxmlformats.org/drawingml/2006/main">
              <a:ext uri="{FF2B5EF4-FFF2-40B4-BE49-F238E27FC236}">
                <a16:creationId xmlns:a16="http://schemas.microsoft.com/office/drawing/2014/main" id="{5132B435-1949-48CF-BEFC-28A89C715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7">
            <a:extLst xmlns:a="http://schemas.openxmlformats.org/drawingml/2006/main">
              <a:ext uri="{FF2B5EF4-FFF2-40B4-BE49-F238E27FC236}">
                <a16:creationId xmlns:a16="http://schemas.microsoft.com/office/drawing/2014/main" id="{331EC3CF-0C9C-41F6-927B-B760D0982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HGB gewinnt – Random Forest bleibt dicht dahinter</a:t>
            </a:r>
          </a:p>
        </p:txBody>
      </p:sp>
      <p:sp>
        <p:nvSpPr>
          <p:cNvPr id="5" name="source-7">
            <a:extLst xmlns:a="http://schemas.openxmlformats.org/drawingml/2006/main">
              <a:ext uri="{FF2B5EF4-FFF2-40B4-BE49-F238E27FC236}">
                <a16:creationId xmlns:a16="http://schemas.microsoft.com/office/drawing/2014/main" id="{C844D5A3-8CD2-4757-9DD4-A52A6A1D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Eigene Berechnung: 600.000 Entwicklungszeilen, identische 3-Fold-Spatial-CV; reports/algorithm_benchmark.json.</a:t>
            </a:r>
          </a:p>
        </p:txBody>
      </p:sp>
      <p:sp>
        <p:nvSpPr>
          <p:cNvPr id="6" name="page-7">
            <a:extLst xmlns:a="http://schemas.openxmlformats.org/drawingml/2006/main">
              <a:ext uri="{FF2B5EF4-FFF2-40B4-BE49-F238E27FC236}">
                <a16:creationId xmlns:a16="http://schemas.microsoft.com/office/drawing/2014/main" id="{E16D482B-C207-4EA4-991D-82C3EAAAE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7</a:t>
            </a:r>
          </a:p>
        </p:txBody>
      </p:sp>
      <p:sp>
        <p:nvSpPr>
          <p:cNvPr id="7" name="benchmark-callout-one">
            <a:extLst xmlns:a="http://schemas.openxmlformats.org/drawingml/2006/main">
              <a:ext uri="{FF2B5EF4-FFF2-40B4-BE49-F238E27FC236}">
                <a16:creationId xmlns:a16="http://schemas.microsoft.com/office/drawing/2014/main" id="{30138196-B0BC-49E9-AB97-6D06F0BE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771650"/>
            <a:ext cx="40195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5ED"/>
          </a:solidFill>
          <a:ln xmlns:a="http://schemas.openxmlformats.org/drawingml/2006/main" w="0">
            <a:solidFill>
              <a:srgbClr val="DDF5ED"/>
            </a:solidFill>
            <a:prstDash val="solid"/>
          </a:ln>
        </p:spPr>
      </p:sp>
      <p:sp>
        <p:nvSpPr>
          <p:cNvPr id="8" name="benchmark-callout-one-title">
            <a:extLst xmlns:a="http://schemas.openxmlformats.org/drawingml/2006/main">
              <a:ext uri="{FF2B5EF4-FFF2-40B4-BE49-F238E27FC236}">
                <a16:creationId xmlns:a16="http://schemas.microsoft.com/office/drawing/2014/main" id="{19CF8CF1-DDC9-4F98-A796-ED58F48A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000250"/>
            <a:ext cx="3429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1,305 €/m²</a:t>
            </a:r>
          </a:p>
        </p:txBody>
      </p:sp>
      <p:sp>
        <p:nvSpPr>
          <p:cNvPr id="9" name="benchmark-callout-one-body">
            <a:extLst xmlns:a="http://schemas.openxmlformats.org/drawingml/2006/main">
              <a:ext uri="{FF2B5EF4-FFF2-40B4-BE49-F238E27FC236}">
                <a16:creationId xmlns:a16="http://schemas.microsoft.com/office/drawing/2014/main" id="{79441BFC-EBEF-4CCE-A893-4A57CA974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90800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niedrigster mittlerer CV-MAE</a:t>
            </a:r>
          </a:p>
        </p:txBody>
      </p:sp>
      <p:sp>
        <p:nvSpPr>
          <p:cNvPr id="10" name="benchmark-callout-two">
            <a:extLst xmlns:a="http://schemas.openxmlformats.org/drawingml/2006/main">
              <a:ext uri="{FF2B5EF4-FFF2-40B4-BE49-F238E27FC236}">
                <a16:creationId xmlns:a16="http://schemas.microsoft.com/office/drawing/2014/main" id="{65D5071D-164F-4B9D-BE7F-8B16D3335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257550"/>
            <a:ext cx="40195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1" name="benchmark-callout-two-title">
            <a:extLst xmlns:a="http://schemas.openxmlformats.org/drawingml/2006/main">
              <a:ext uri="{FF2B5EF4-FFF2-40B4-BE49-F238E27FC236}">
                <a16:creationId xmlns:a16="http://schemas.microsoft.com/office/drawing/2014/main" id="{65B8FDAB-DC22-4EF5-B32C-E7155AFF6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86150"/>
            <a:ext cx="3429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nur 0,016</a:t>
            </a:r>
          </a:p>
        </p:txBody>
      </p:sp>
      <p:sp>
        <p:nvSpPr>
          <p:cNvPr id="12" name="benchmark-callout-two-body">
            <a:extLst xmlns:a="http://schemas.openxmlformats.org/drawingml/2006/main">
              <a:ext uri="{FF2B5EF4-FFF2-40B4-BE49-F238E27FC236}">
                <a16:creationId xmlns:a16="http://schemas.microsoft.com/office/drawing/2014/main" id="{0BDBB343-017D-4A5A-8CB7-17A11D753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076700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Vorsprung vor Random Forest</a:t>
            </a:r>
          </a:p>
        </p:txBody>
      </p:sp>
      <p:sp>
        <p:nvSpPr>
          <p:cNvPr id="13" name="benchmark-interpretation">
            <a:extLst xmlns:a="http://schemas.openxmlformats.org/drawingml/2006/main">
              <a:ext uri="{FF2B5EF4-FFF2-40B4-BE49-F238E27FC236}">
                <a16:creationId xmlns:a16="http://schemas.microsoft.com/office/drawing/2014/main" id="{BAFFB62E-1B94-491C-9465-2928E7F6B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933950"/>
            <a:ext cx="401955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Entscheidung: HGB bietet beste Güte, kleine Artefaktgröße und schnelle Inferenz. RF bleibt dokumentierter Challenger.</a:t>
            </a:r>
          </a:p>
        </p:txBody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457200" y="1524000"/>
          <a:ext xmlns:a="http://schemas.openxmlformats.org/drawingml/2006/main" cx="6572250" cy="4572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17e8e0011c34b19"/>
          </a:graphicData>
        </a:graphic>
      </p:graphicFrame>
    </p:spTree>
    <p:extLst>
      <p:ext uri="{BB962C8B-B14F-4D97-AF65-F5344CB8AC3E}">
        <p14:creationId xmlns:p14="http://schemas.microsoft.com/office/powerpoint/2010/main" val="20731337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header-8">
            <a:extLst xmlns:a="http://schemas.openxmlformats.org/drawingml/2006/main">
              <a:ext uri="{FF2B5EF4-FFF2-40B4-BE49-F238E27FC236}">
                <a16:creationId xmlns:a16="http://schemas.microsoft.com/office/drawing/2014/main" id="{0043B925-52F2-46FF-B342-5E250D72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8">
            <a:extLst xmlns:a="http://schemas.openxmlformats.org/drawingml/2006/main">
              <a:ext uri="{FF2B5EF4-FFF2-40B4-BE49-F238E27FC236}">
                <a16:creationId xmlns:a16="http://schemas.microsoft.com/office/drawing/2014/main" id="{F8D1534A-FC57-47E8-90E5-EBAD92271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8">
            <a:extLst xmlns:a="http://schemas.openxmlformats.org/drawingml/2006/main">
              <a:ext uri="{FF2B5EF4-FFF2-40B4-BE49-F238E27FC236}">
                <a16:creationId xmlns:a16="http://schemas.microsoft.com/office/drawing/2014/main" id="{FE687181-EAE2-4DA5-8600-ABBFE0F87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8">
            <a:extLst xmlns:a="http://schemas.openxmlformats.org/drawingml/2006/main">
              <a:ext uri="{FF2B5EF4-FFF2-40B4-BE49-F238E27FC236}">
                <a16:creationId xmlns:a16="http://schemas.microsoft.com/office/drawing/2014/main" id="{C995891B-A9CE-414E-AFD6-416072A2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Finaler Test: 38,3 % weniger Fehler</a:t>
            </a:r>
          </a:p>
        </p:txBody>
      </p:sp>
      <p:sp>
        <p:nvSpPr>
          <p:cNvPr id="5" name="source-8">
            <a:extLst xmlns:a="http://schemas.openxmlformats.org/drawingml/2006/main">
              <a:ext uri="{FF2B5EF4-FFF2-40B4-BE49-F238E27FC236}">
                <a16:creationId xmlns:a16="http://schemas.microsoft.com/office/drawing/2014/main" id="{75360F69-A311-4496-8FF7-65B06D20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Eigene Berechnung auf 276.458 Zeilen aus 99 gesperrten Raumblöcken; reports/final_model_evaluation.json.</a:t>
            </a:r>
          </a:p>
        </p:txBody>
      </p:sp>
      <p:sp>
        <p:nvSpPr>
          <p:cNvPr id="6" name="page-8">
            <a:extLst xmlns:a="http://schemas.openxmlformats.org/drawingml/2006/main">
              <a:ext uri="{FF2B5EF4-FFF2-40B4-BE49-F238E27FC236}">
                <a16:creationId xmlns:a16="http://schemas.microsoft.com/office/drawing/2014/main" id="{A79F5593-D33E-4449-A496-515624B28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8</a:t>
            </a:r>
          </a:p>
        </p:txBody>
      </p:sp>
      <p:sp>
        <p:nvSpPr>
          <p:cNvPr id="7" name="final-lead">
            <a:extLst xmlns:a="http://schemas.openxmlformats.org/drawingml/2006/main">
              <a:ext uri="{FF2B5EF4-FFF2-40B4-BE49-F238E27FC236}">
                <a16:creationId xmlns:a16="http://schemas.microsoft.com/office/drawing/2014/main" id="{DFA9B1AA-C9AB-4E86-B9A1-422FA255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11049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Das nominale 90-%-Intervall erreicht räumlich 86,8 % – und genau das zeigt die App.</a:t>
            </a:r>
          </a:p>
        </p:txBody>
      </p:sp>
      <p:sp>
        <p:nvSpPr>
          <p:cNvPr id="8" name="final-chart-title">
            <a:extLst xmlns:a="http://schemas.openxmlformats.org/drawingml/2006/main">
              <a:ext uri="{FF2B5EF4-FFF2-40B4-BE49-F238E27FC236}">
                <a16:creationId xmlns:a16="http://schemas.microsoft.com/office/drawing/2014/main" id="{0C5F1998-5D54-4725-A9C4-7B962D9BB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71650"/>
            <a:ext cx="5810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MAE auf dem finalen Test</a:t>
            </a:r>
          </a:p>
        </p:txBody>
      </p:sp>
      <p:sp>
        <p:nvSpPr>
          <p:cNvPr id="9" name="final-metric-one">
            <a:extLst xmlns:a="http://schemas.openxmlformats.org/drawingml/2006/main">
              <a:ext uri="{FF2B5EF4-FFF2-40B4-BE49-F238E27FC236}">
                <a16:creationId xmlns:a16="http://schemas.microsoft.com/office/drawing/2014/main" id="{DF0A22F3-CDF1-4530-8EA8-75B5204F6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76400"/>
            <a:ext cx="43624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5ED"/>
          </a:solidFill>
          <a:ln xmlns:a="http://schemas.openxmlformats.org/drawingml/2006/main" w="0">
            <a:solidFill>
              <a:srgbClr val="DDF5ED"/>
            </a:solidFill>
            <a:prstDash val="solid"/>
          </a:ln>
        </p:spPr>
      </p:sp>
      <p:sp>
        <p:nvSpPr>
          <p:cNvPr id="10" name="final-metric-one-stat">
            <a:extLst xmlns:a="http://schemas.openxmlformats.org/drawingml/2006/main">
              <a:ext uri="{FF2B5EF4-FFF2-40B4-BE49-F238E27FC236}">
                <a16:creationId xmlns:a16="http://schemas.microsoft.com/office/drawing/2014/main" id="{0AEC8CE9-09CB-4CB8-AD3B-54199BB3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924050"/>
            <a:ext cx="37147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38,3 %</a:t>
            </a:r>
          </a:p>
        </p:txBody>
      </p:sp>
      <p:sp>
        <p:nvSpPr>
          <p:cNvPr id="11" name="final-metric-one-body">
            <a:extLst xmlns:a="http://schemas.openxmlformats.org/drawingml/2006/main">
              <a:ext uri="{FF2B5EF4-FFF2-40B4-BE49-F238E27FC236}">
                <a16:creationId xmlns:a16="http://schemas.microsoft.com/office/drawing/2014/main" id="{87112F32-9566-4332-8B1C-A6626572E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24150"/>
            <a:ext cx="3714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weniger MAE als die Kategorie-Baseline</a:t>
            </a:r>
          </a:p>
        </p:txBody>
      </p:sp>
      <p:sp>
        <p:nvSpPr>
          <p:cNvPr id="12" name="final-metric-two">
            <a:extLst xmlns:a="http://schemas.openxmlformats.org/drawingml/2006/main">
              <a:ext uri="{FF2B5EF4-FFF2-40B4-BE49-F238E27FC236}">
                <a16:creationId xmlns:a16="http://schemas.microsoft.com/office/drawing/2014/main" id="{ACDCE033-3ABF-4FA0-AB47-28B9CA80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562350"/>
            <a:ext cx="43624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F"/>
          </a:solidFill>
          <a:ln xmlns:a="http://schemas.openxmlformats.org/drawingml/2006/main" w="0">
            <a:solidFill>
              <a:srgbClr val="E8EDFF"/>
            </a:solidFill>
            <a:prstDash val="solid"/>
          </a:ln>
        </p:spPr>
      </p:sp>
      <p:sp>
        <p:nvSpPr>
          <p:cNvPr id="13" name="final-metric-two-stat">
            <a:extLst xmlns:a="http://schemas.openxmlformats.org/drawingml/2006/main">
              <a:ext uri="{FF2B5EF4-FFF2-40B4-BE49-F238E27FC236}">
                <a16:creationId xmlns:a16="http://schemas.microsoft.com/office/drawing/2014/main" id="{4E3B9EA6-7721-4C36-A597-158EE100B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810000"/>
            <a:ext cx="37147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86,8 %</a:t>
            </a:r>
          </a:p>
        </p:txBody>
      </p:sp>
      <p:sp>
        <p:nvSpPr>
          <p:cNvPr id="14" name="final-metric-two-body">
            <a:extLst xmlns:a="http://schemas.openxmlformats.org/drawingml/2006/main">
              <a:ext uri="{FF2B5EF4-FFF2-40B4-BE49-F238E27FC236}">
                <a16:creationId xmlns:a16="http://schemas.microsoft.com/office/drawing/2014/main" id="{31A8896C-2820-412E-931B-55193BA0F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10100"/>
            <a:ext cx="3714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empirische Coverage des nominalen 90-%-Bands</a:t>
            </a:r>
          </a:p>
        </p:txBody>
      </p:sp>
      <p:sp>
        <p:nvSpPr>
          <p:cNvPr id="15" name="final-warning">
            <a:extLst xmlns:a="http://schemas.openxmlformats.org/drawingml/2006/main">
              <a:ext uri="{FF2B5EF4-FFF2-40B4-BE49-F238E27FC236}">
                <a16:creationId xmlns:a16="http://schemas.microsoft.com/office/drawing/2014/main" id="{C506B9EE-CB35-4185-90D8-D1FB0836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486400"/>
            <a:ext cx="43624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t>Keine 90-%-Garantie: räumlicher Verteilungswechsel verletzt perfekte Austauschbarkeit.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457200" y="2171700"/>
          <a:ext xmlns:a="http://schemas.openxmlformats.org/drawingml/2006/main" cx="581025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e8e9e8242374c1c"/>
          </a:graphicData>
        </a:graphic>
      </p:graphicFrame>
    </p:spTree>
    <p:extLst>
      <p:ext uri="{BB962C8B-B14F-4D97-AF65-F5344CB8AC3E}">
        <p14:creationId xmlns:p14="http://schemas.microsoft.com/office/powerpoint/2010/main" val="29299513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header-9">
            <a:extLst xmlns:a="http://schemas.openxmlformats.org/drawingml/2006/main">
              <a:ext uri="{FF2B5EF4-FFF2-40B4-BE49-F238E27FC236}">
                <a16:creationId xmlns:a16="http://schemas.microsoft.com/office/drawing/2014/main" id="{3E41DA95-87D4-4728-9D31-C09067E5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9">
            <a:extLst xmlns:a="http://schemas.openxmlformats.org/drawingml/2006/main">
              <a:ext uri="{FF2B5EF4-FFF2-40B4-BE49-F238E27FC236}">
                <a16:creationId xmlns:a16="http://schemas.microsoft.com/office/drawing/2014/main" id="{A1FD412A-3773-4A6F-83C4-2A26BE35E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9">
            <a:extLst xmlns:a="http://schemas.openxmlformats.org/drawingml/2006/main">
              <a:ext uri="{FF2B5EF4-FFF2-40B4-BE49-F238E27FC236}">
                <a16:creationId xmlns:a16="http://schemas.microsoft.com/office/drawing/2014/main" id="{57CA692F-7187-4F3D-8B48-847734F7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9">
            <a:extLst xmlns:a="http://schemas.openxmlformats.org/drawingml/2006/main">
              <a:ext uri="{FF2B5EF4-FFF2-40B4-BE49-F238E27FC236}">
                <a16:creationId xmlns:a16="http://schemas.microsoft.com/office/drawing/2014/main" id="{C42A0484-2EB5-4ED1-BFC7-DD96E77F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Berlin zeigt die Lücke zwischen Bestand und Angebot</a:t>
            </a:r>
          </a:p>
        </p:txBody>
      </p:sp>
      <p:sp>
        <p:nvSpPr>
          <p:cNvPr id="5" name="source-9">
            <a:extLst xmlns:a="http://schemas.openxmlformats.org/drawingml/2006/main">
              <a:ext uri="{FF2B5EF4-FFF2-40B4-BE49-F238E27FC236}">
                <a16:creationId xmlns:a16="http://schemas.microsoft.com/office/drawing/2014/main" id="{122B3FAA-7CCC-4143-9C19-9B9FAFCFA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Quelle: GREIX-Mietpreisindex, Kiel Institut / VALUE; Zensus 2022; eigene Verarbeitung. Beispiel: 70 m², bis 1990, &gt;65 m².</a:t>
            </a:r>
          </a:p>
        </p:txBody>
      </p:sp>
      <p:sp>
        <p:nvSpPr>
          <p:cNvPr id="6" name="page-9">
            <a:extLst xmlns:a="http://schemas.openxmlformats.org/drawingml/2006/main">
              <a:ext uri="{FF2B5EF4-FFF2-40B4-BE49-F238E27FC236}">
                <a16:creationId xmlns:a16="http://schemas.microsoft.com/office/drawing/2014/main" id="{22115B0E-7F2B-4C1F-ACC0-1F951AD68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9</a:t>
            </a:r>
          </a:p>
        </p:txBody>
      </p:sp>
      <p:sp>
        <p:nvSpPr>
          <p:cNvPr id="7" name="berlin-chart-title">
            <a:extLst xmlns:a="http://schemas.openxmlformats.org/drawingml/2006/main">
              <a:ext uri="{FF2B5EF4-FFF2-40B4-BE49-F238E27FC236}">
                <a16:creationId xmlns:a16="http://schemas.microsoft.com/office/drawing/2014/main" id="{4107FA98-DD3E-4789-B731-CBECBDF5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09700"/>
            <a:ext cx="6191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GREIX-Angebotsmedian in Berlin</a:t>
            </a:r>
          </a:p>
        </p:txBody>
      </p:sp>
      <p:sp>
        <p:nvSpPr>
          <p:cNvPr id="8" name="berlin-stock">
            <a:extLst xmlns:a="http://schemas.openxmlformats.org/drawingml/2006/main">
              <a:ext uri="{FF2B5EF4-FFF2-40B4-BE49-F238E27FC236}">
                <a16:creationId xmlns:a16="http://schemas.microsoft.com/office/drawing/2014/main" id="{01E36168-1888-4EC3-89DE-87CF53C97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809750"/>
            <a:ext cx="41529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5ED"/>
          </a:solidFill>
          <a:ln xmlns:a="http://schemas.openxmlformats.org/drawingml/2006/main" w="0">
            <a:solidFill>
              <a:srgbClr val="DDF5ED"/>
            </a:solidFill>
            <a:prstDash val="solid"/>
          </a:ln>
        </p:spPr>
      </p:sp>
      <p:sp>
        <p:nvSpPr>
          <p:cNvPr id="9" name="berlin-stock-stat">
            <a:extLst xmlns:a="http://schemas.openxmlformats.org/drawingml/2006/main">
              <a:ext uri="{FF2B5EF4-FFF2-40B4-BE49-F238E27FC236}">
                <a16:creationId xmlns:a16="http://schemas.microsoft.com/office/drawing/2014/main" id="{C5BBCF2E-9784-43C8-ACA9-F476D4D65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981200"/>
            <a:ext cx="35814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7,27 €/m²</a:t>
            </a:r>
          </a:p>
        </p:txBody>
      </p:sp>
      <p:sp>
        <p:nvSpPr>
          <p:cNvPr id="10" name="berlin-stock-body">
            <a:extLst xmlns:a="http://schemas.openxmlformats.org/drawingml/2006/main">
              <a:ext uri="{FF2B5EF4-FFF2-40B4-BE49-F238E27FC236}">
                <a16:creationId xmlns:a16="http://schemas.microsoft.com/office/drawing/2014/main" id="{44A35A95-8260-4E4D-9B69-CE0AEEBE6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52700"/>
            <a:ext cx="35814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ML-Bestandsanker 2022</a:t>
            </a:r>
          </a:p>
        </p:txBody>
      </p:sp>
      <p:sp>
        <p:nvSpPr>
          <p:cNvPr id="11" name="berlin-market">
            <a:extLst xmlns:a="http://schemas.openxmlformats.org/drawingml/2006/main">
              <a:ext uri="{FF2B5EF4-FFF2-40B4-BE49-F238E27FC236}">
                <a16:creationId xmlns:a16="http://schemas.microsoft.com/office/drawing/2014/main" id="{EB538EA1-619A-4473-81F8-B0047F41A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43250"/>
            <a:ext cx="41529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F"/>
          </a:solidFill>
          <a:ln xmlns:a="http://schemas.openxmlformats.org/drawingml/2006/main" w="0">
            <a:solidFill>
              <a:srgbClr val="E8EDFF"/>
            </a:solidFill>
            <a:prstDash val="solid"/>
          </a:ln>
        </p:spPr>
      </p:sp>
      <p:sp>
        <p:nvSpPr>
          <p:cNvPr id="12" name="berlin-market-stat">
            <a:extLst xmlns:a="http://schemas.openxmlformats.org/drawingml/2006/main">
              <a:ext uri="{FF2B5EF4-FFF2-40B4-BE49-F238E27FC236}">
                <a16:creationId xmlns:a16="http://schemas.microsoft.com/office/drawing/2014/main" id="{AE158FBB-EEDC-4904-AC95-71FC6411A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314700"/>
            <a:ext cx="35814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15,50 €/m²</a:t>
            </a:r>
          </a:p>
        </p:txBody>
      </p:sp>
      <p:sp>
        <p:nvSpPr>
          <p:cNvPr id="13" name="berlin-market-body">
            <a:extLst xmlns:a="http://schemas.openxmlformats.org/drawingml/2006/main">
              <a:ext uri="{FF2B5EF4-FFF2-40B4-BE49-F238E27FC236}">
                <a16:creationId xmlns:a16="http://schemas.microsoft.com/office/drawing/2014/main" id="{CB4C7EB7-7DF5-4C38-9ADE-409AABB7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886200"/>
            <a:ext cx="35814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GREIX-Angebotsmedian 2026-Q1</a:t>
            </a:r>
          </a:p>
        </p:txBody>
      </p:sp>
      <p:sp>
        <p:nvSpPr>
          <p:cNvPr id="14" name="berlin-premium">
            <a:extLst xmlns:a="http://schemas.openxmlformats.org/drawingml/2006/main">
              <a:ext uri="{FF2B5EF4-FFF2-40B4-BE49-F238E27FC236}">
                <a16:creationId xmlns:a16="http://schemas.microsoft.com/office/drawing/2014/main" id="{19032784-5F49-4772-9937-BC841C9D1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476750"/>
            <a:ext cx="41529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5" name="berlin-premium-stat">
            <a:extLst xmlns:a="http://schemas.openxmlformats.org/drawingml/2006/main">
              <a:ext uri="{FF2B5EF4-FFF2-40B4-BE49-F238E27FC236}">
                <a16:creationId xmlns:a16="http://schemas.microsoft.com/office/drawing/2014/main" id="{5A307EA9-5B4C-42C1-A03C-145D5BC0F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629150"/>
            <a:ext cx="35814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E85D3F"/>
                </a:solidFill>
                <a:latin typeface="Arial"/>
                <a:ea typeface="Arial"/>
                <a:cs typeface="Arial"/>
              </a:defRPr>
            </a:pPr>
            <a:r>
              <a:t>+113 %</a:t>
            </a:r>
          </a:p>
        </p:txBody>
      </p:sp>
      <p:sp>
        <p:nvSpPr>
          <p:cNvPr id="16" name="berlin-premium-body">
            <a:extLst xmlns:a="http://schemas.openxmlformats.org/drawingml/2006/main">
              <a:ext uri="{FF2B5EF4-FFF2-40B4-BE49-F238E27FC236}">
                <a16:creationId xmlns:a16="http://schemas.microsoft.com/office/drawing/2014/main" id="{E2101CFF-1986-4A66-BDEA-50451E7C3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257800"/>
            <a:ext cx="3581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rund 576 € monatlicher Umzugsaufschlag bei 70 m²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457200" y="1924050"/>
          <a:ext xmlns:a="http://schemas.openxmlformats.org/drawingml/2006/main" cx="61912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3a248e451ce4ac8"/>
          </a:graphicData>
        </a:graphic>
      </p:graphicFrame>
    </p:spTree>
    <p:extLst>
      <p:ext uri="{BB962C8B-B14F-4D97-AF65-F5344CB8AC3E}">
        <p14:creationId xmlns:p14="http://schemas.microsoft.com/office/powerpoint/2010/main" val="96306141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header-10">
            <a:extLst xmlns:a="http://schemas.openxmlformats.org/drawingml/2006/main">
              <a:ext uri="{FF2B5EF4-FFF2-40B4-BE49-F238E27FC236}">
                <a16:creationId xmlns:a16="http://schemas.microsoft.com/office/drawing/2014/main" id="{82D220AE-A37C-40D3-B430-DD3AC338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10">
            <a:extLst xmlns:a="http://schemas.openxmlformats.org/drawingml/2006/main">
              <a:ext uri="{FF2B5EF4-FFF2-40B4-BE49-F238E27FC236}">
                <a16:creationId xmlns:a16="http://schemas.microsoft.com/office/drawing/2014/main" id="{DAC24D5E-7B44-43F7-8880-EC321B19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10">
            <a:extLst xmlns:a="http://schemas.openxmlformats.org/drawingml/2006/main">
              <a:ext uri="{FF2B5EF4-FFF2-40B4-BE49-F238E27FC236}">
                <a16:creationId xmlns:a16="http://schemas.microsoft.com/office/drawing/2014/main" id="{208A45C7-8610-4AC5-AD07-61D42845A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10">
            <a:extLst xmlns:a="http://schemas.openxmlformats.org/drawingml/2006/main">
              <a:ext uri="{FF2B5EF4-FFF2-40B4-BE49-F238E27FC236}">
                <a16:creationId xmlns:a16="http://schemas.microsoft.com/office/drawing/2014/main" id="{0B954E67-B918-4E55-A44B-D12546C1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MietCheck macht Methodik nutzbar</a:t>
            </a:r>
          </a:p>
        </p:txBody>
      </p:sp>
      <p:sp>
        <p:nvSpPr>
          <p:cNvPr id="5" name="source-10">
            <a:extLst xmlns:a="http://schemas.openxmlformats.org/drawingml/2006/main">
              <a:ext uri="{FF2B5EF4-FFF2-40B4-BE49-F238E27FC236}">
                <a16:creationId xmlns:a16="http://schemas.microsoft.com/office/drawing/2014/main" id="{BBBFC246-79F3-405A-A68B-D1C942FE6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6" name="page-10">
            <a:extLst xmlns:a="http://schemas.openxmlformats.org/drawingml/2006/main">
              <a:ext uri="{FF2B5EF4-FFF2-40B4-BE49-F238E27FC236}">
                <a16:creationId xmlns:a16="http://schemas.microsoft.com/office/drawing/2014/main" id="{4B68A03E-D847-40FB-9609-DF5775C6E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10</a:t>
            </a:r>
          </a:p>
        </p:txBody>
      </p:sp>
      <p:sp>
        <p:nvSpPr>
          <p:cNvPr id="7" name="screenshot-back">
            <a:extLst xmlns:a="http://schemas.openxmlformats.org/drawingml/2006/main">
              <a:ext uri="{FF2B5EF4-FFF2-40B4-BE49-F238E27FC236}">
                <a16:creationId xmlns:a16="http://schemas.microsoft.com/office/drawing/2014/main" id="{4BDF2DE0-9C75-4F74-A351-FC51D8546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1049000" cy="434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DF"/>
            </a:solidFill>
            <a:prstDash val="solid"/>
          </a:ln>
        </p:spPr>
      </p:sp>
      <p:sp>
        <p:nvSpPr>
          <p:cNvPr id="8" name="product-one">
            <a:extLst xmlns:a="http://schemas.openxmlformats.org/drawingml/2006/main">
              <a:ext uri="{FF2B5EF4-FFF2-40B4-BE49-F238E27FC236}">
                <a16:creationId xmlns:a16="http://schemas.microsoft.com/office/drawing/2014/main" id="{09F5E031-EF10-4D41-8CE7-40317B2FF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1 · Region &amp; Szenario</a:t>
            </a:r>
          </a:p>
        </p:txBody>
      </p:sp>
      <p:sp>
        <p:nvSpPr>
          <p:cNvPr id="9" name="product-two">
            <a:extLst xmlns:a="http://schemas.openxmlformats.org/drawingml/2006/main">
              <a:ext uri="{FF2B5EF4-FFF2-40B4-BE49-F238E27FC236}">
                <a16:creationId xmlns:a16="http://schemas.microsoft.com/office/drawing/2014/main" id="{70FFCED3-3BF4-498D-86F4-E2F7EBDF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2 · drei getrennte Werte</a:t>
            </a:r>
          </a:p>
        </p:txBody>
      </p:sp>
      <p:sp>
        <p:nvSpPr>
          <p:cNvPr id="10" name="product-three">
            <a:extLst xmlns:a="http://schemas.openxmlformats.org/drawingml/2006/main">
              <a:ext uri="{FF2B5EF4-FFF2-40B4-BE49-F238E27FC236}">
                <a16:creationId xmlns:a16="http://schemas.microsoft.com/office/drawing/2014/main" id="{A29F6F45-2617-4455-A0D0-91E3DBEC1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85D3F"/>
                </a:solidFill>
                <a:latin typeface="Arial"/>
                <a:ea typeface="Arial"/>
                <a:cs typeface="Arial"/>
              </a:defRPr>
            </a:pPr>
            <a:r>
              <a:t>3 · Unsicherheit &amp; Grenzen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4b35af55b44f9f"/>
          <a:srcRect xmlns:a="http://schemas.openxmlformats.org/drawingml/2006/main" l="0" t="24967" r="0" b="249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1485900"/>
            <a:ext cx="10858500" cy="4152900"/>
          </a:xfrm>
          <a:prstGeom xmlns:a="http://schemas.openxmlformats.org/drawingml/2006/main" prst="rect">
            <a:avLst/>
          </a:prstGeom>
        </p:spPr>
      </p:pic>
      <p:sp>
        <p:nvSpPr>
          <p:cNvPr id="12" name="product-mask">
            <a:extLst xmlns:a="http://schemas.openxmlformats.org/drawingml/2006/main">
              <a:ext uri="{FF2B5EF4-FFF2-40B4-BE49-F238E27FC236}">
                <a16:creationId xmlns:a16="http://schemas.microsoft.com/office/drawing/2014/main" id="{62E760CC-F31B-42B2-ABD3-B8E6D68F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485900"/>
            <a:ext cx="7991475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138"/>
          </a:solidFill>
          <a:ln xmlns:a="http://schemas.openxmlformats.org/drawingml/2006/main" w="0">
            <a:solidFill>
              <a:srgbClr val="102138"/>
            </a:solidFill>
            <a:prstDash val="solid"/>
          </a:ln>
        </p:spPr>
      </p:sp>
      <p:sp>
        <p:nvSpPr>
          <p:cNvPr id="13" name="product-mask-copy">
            <a:extLst xmlns:a="http://schemas.openxmlformats.org/drawingml/2006/main">
              <a:ext uri="{FF2B5EF4-FFF2-40B4-BE49-F238E27FC236}">
                <a16:creationId xmlns:a16="http://schemas.microsoft.com/office/drawing/2014/main" id="{0A346937-0234-4B35-9F4B-D02F8DE28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695450"/>
            <a:ext cx="7334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Drei Mietrealitäten · direkt am Ergebnis</a:t>
            </a:r>
          </a:p>
        </p:txBody>
      </p:sp>
      <p:sp>
        <p:nvSpPr>
          <p:cNvPr id="14" name="product-mask-subcopy">
            <a:extLst xmlns:a="http://schemas.openxmlformats.org/drawingml/2006/main">
              <a:ext uri="{FF2B5EF4-FFF2-40B4-BE49-F238E27FC236}">
                <a16:creationId xmlns:a16="http://schemas.microsoft.com/office/drawing/2014/main" id="{8843F53C-923D-460A-B35A-EB8DD0FBD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38375"/>
            <a:ext cx="7334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CFE8DF"/>
                </a:solidFill>
                <a:latin typeface="Arial"/>
                <a:ea typeface="Arial"/>
                <a:cs typeface="Arial"/>
              </a:defRPr>
            </a:pPr>
            <a:r>
              <a:t>Bestand, Angebot und persönliche Belastung bleiben methodisch getrennt.</a:t>
            </a:r>
          </a:p>
        </p:txBody>
      </p:sp>
    </p:spTree>
    <p:extLst>
      <p:ext uri="{BB962C8B-B14F-4D97-AF65-F5344CB8AC3E}">
        <p14:creationId xmlns:p14="http://schemas.microsoft.com/office/powerpoint/2010/main" val="14004512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header-11">
            <a:extLst xmlns:a="http://schemas.openxmlformats.org/drawingml/2006/main">
              <a:ext uri="{FF2B5EF4-FFF2-40B4-BE49-F238E27FC236}">
                <a16:creationId xmlns:a16="http://schemas.microsoft.com/office/drawing/2014/main" id="{69C0D3BE-8666-42D8-A511-6D32A785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11">
            <a:extLst xmlns:a="http://schemas.openxmlformats.org/drawingml/2006/main">
              <a:ext uri="{FF2B5EF4-FFF2-40B4-BE49-F238E27FC236}">
                <a16:creationId xmlns:a16="http://schemas.microsoft.com/office/drawing/2014/main" id="{2241EBF9-3B9C-45FA-BF42-71FDB3E5C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11">
            <a:extLst xmlns:a="http://schemas.openxmlformats.org/drawingml/2006/main">
              <a:ext uri="{FF2B5EF4-FFF2-40B4-BE49-F238E27FC236}">
                <a16:creationId xmlns:a16="http://schemas.microsoft.com/office/drawing/2014/main" id="{4545EEF1-C021-4BA2-9408-E9F43FE8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11">
            <a:extLst xmlns:a="http://schemas.openxmlformats.org/drawingml/2006/main">
              <a:ext uri="{FF2B5EF4-FFF2-40B4-BE49-F238E27FC236}">
                <a16:creationId xmlns:a16="http://schemas.microsoft.com/office/drawing/2014/main" id="{6F7FA0BD-7285-4198-90B3-A6B9DEBFE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Ein gutes Modell kennt seine Einsatzgrenze</a:t>
            </a:r>
          </a:p>
        </p:txBody>
      </p:sp>
      <p:sp>
        <p:nvSpPr>
          <p:cNvPr id="5" name="source-11">
            <a:extLst xmlns:a="http://schemas.openxmlformats.org/drawingml/2006/main">
              <a:ext uri="{FF2B5EF4-FFF2-40B4-BE49-F238E27FC236}">
                <a16:creationId xmlns:a16="http://schemas.microsoft.com/office/drawing/2014/main" id="{960D00F3-3CAE-4A61-B148-62C5D45DF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6" name="page-11">
            <a:extLst xmlns:a="http://schemas.openxmlformats.org/drawingml/2006/main">
              <a:ext uri="{FF2B5EF4-FFF2-40B4-BE49-F238E27FC236}">
                <a16:creationId xmlns:a16="http://schemas.microsoft.com/office/drawing/2014/main" id="{E79274EB-7947-41C3-8A02-3F03F4335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11</a:t>
            </a:r>
          </a:p>
        </p:txBody>
      </p:sp>
      <p:sp>
        <p:nvSpPr>
          <p:cNvPr id="7" name="limits-lead">
            <a:extLst xmlns:a="http://schemas.openxmlformats.org/drawingml/2006/main">
              <a:ext uri="{FF2B5EF4-FFF2-40B4-BE49-F238E27FC236}">
                <a16:creationId xmlns:a16="http://schemas.microsoft.com/office/drawing/2014/main" id="{A2974C9F-7C28-4462-8412-716EF7648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71600"/>
            <a:ext cx="11049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MietCheck unterstützt Exploration und Transparenz – keine rechtliche oder individuelle Preisentscheidung.</a:t>
            </a:r>
          </a:p>
        </p:txBody>
      </p:sp>
      <p:cxnSp>
        <p:nvCxnSpPr>
          <p:cNvPr id="36" name="limits-sep"/>
          <p:cNvCxnSpPr/>
          <p:nvPr/>
        </p:nvCxnSpPr>
        <p:spPr>
          <a:xfrm xmlns:a="http://schemas.openxmlformats.org/drawingml/2006/main">
            <a:off x="6096000" y="2133600"/>
            <a:ext cx="286" cy="3486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6E1DF"/>
            </a:solidFill>
            <a:prstDash val="solid"/>
          </a:ln>
        </p:spPr>
      </p:cxnSp>
      <p:sp>
        <p:nvSpPr>
          <p:cNvPr id="9" name="limits-left-title">
            <a:extLst xmlns:a="http://schemas.openxmlformats.org/drawingml/2006/main">
              <a:ext uri="{FF2B5EF4-FFF2-40B4-BE49-F238E27FC236}">
                <a16:creationId xmlns:a16="http://schemas.microsoft.com/office/drawing/2014/main" id="{032A934B-C847-40C6-A537-458E8AE1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09800"/>
            <a:ext cx="4953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Was fehlt?</a:t>
            </a:r>
          </a:p>
        </p:txBody>
      </p:sp>
      <p:sp>
        <p:nvSpPr>
          <p:cNvPr id="10" name="limits-right-title">
            <a:extLst xmlns:a="http://schemas.openxmlformats.org/drawingml/2006/main">
              <a:ext uri="{FF2B5EF4-FFF2-40B4-BE49-F238E27FC236}">
                <a16:creationId xmlns:a16="http://schemas.microsoft.com/office/drawing/2014/main" id="{8BF5A322-F572-4231-8032-AE559B818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48387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Wie wird das abgefedert?</a:t>
            </a:r>
          </a:p>
        </p:txBody>
      </p:sp>
      <p:sp>
        <p:nvSpPr>
          <p:cNvPr id="11" name="limit-dot-0">
            <a:extLst xmlns:a="http://schemas.openxmlformats.org/drawingml/2006/main">
              <a:ext uri="{FF2B5EF4-FFF2-40B4-BE49-F238E27FC236}">
                <a16:creationId xmlns:a16="http://schemas.microsoft.com/office/drawing/2014/main" id="{DDD37B09-8035-4B89-B47E-734E77909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337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12" name="limit-copy-0">
            <a:extLst xmlns:a="http://schemas.openxmlformats.org/drawingml/2006/main">
              <a:ext uri="{FF2B5EF4-FFF2-40B4-BE49-F238E27FC236}">
                <a16:creationId xmlns:a16="http://schemas.microsoft.com/office/drawing/2014/main" id="{4AC89F28-5CCE-4F3A-AA44-5D84CBE39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4857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Ausstattung, Energiezustand, Etage und Mikrolage</a:t>
            </a:r>
          </a:p>
        </p:txBody>
      </p:sp>
      <p:sp>
        <p:nvSpPr>
          <p:cNvPr id="13" name="mit-dot-0">
            <a:extLst xmlns:a="http://schemas.openxmlformats.org/drawingml/2006/main">
              <a:ext uri="{FF2B5EF4-FFF2-40B4-BE49-F238E27FC236}">
                <a16:creationId xmlns:a16="http://schemas.microsoft.com/office/drawing/2014/main" id="{E4713A01-42DB-4F73-AA07-658794D1B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337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14" name="mit-copy-0">
            <a:extLst xmlns:a="http://schemas.openxmlformats.org/drawingml/2006/main">
              <a:ext uri="{FF2B5EF4-FFF2-40B4-BE49-F238E27FC236}">
                <a16:creationId xmlns:a16="http://schemas.microsoft.com/office/drawing/2014/main" id="{CBE6039B-582C-46A1-A37C-8BA5B2B87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8575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keine adressgenaue oder rechtliche Behauptung</a:t>
            </a:r>
          </a:p>
        </p:txBody>
      </p:sp>
      <p:sp>
        <p:nvSpPr>
          <p:cNvPr id="15" name="limit-dot-1">
            <a:extLst xmlns:a="http://schemas.openxmlformats.org/drawingml/2006/main">
              <a:ext uri="{FF2B5EF4-FFF2-40B4-BE49-F238E27FC236}">
                <a16:creationId xmlns:a16="http://schemas.microsoft.com/office/drawing/2014/main" id="{735C978F-BD3A-4A2F-9F0A-51736733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16" name="limit-copy-1">
            <a:extLst xmlns:a="http://schemas.openxmlformats.org/drawingml/2006/main">
              <a:ext uri="{FF2B5EF4-FFF2-40B4-BE49-F238E27FC236}">
                <a16:creationId xmlns:a16="http://schemas.microsoft.com/office/drawing/2014/main" id="{D421D142-943C-4107-972A-97DC39AA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4857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Vertragsbeginn und rechtliche Besonderheiten</a:t>
            </a:r>
          </a:p>
        </p:txBody>
      </p:sp>
      <p:sp>
        <p:nvSpPr>
          <p:cNvPr id="17" name="mit-dot-1">
            <a:extLst xmlns:a="http://schemas.openxmlformats.org/drawingml/2006/main">
              <a:ext uri="{FF2B5EF4-FFF2-40B4-BE49-F238E27FC236}">
                <a16:creationId xmlns:a16="http://schemas.microsoft.com/office/drawing/2014/main" id="{67B7C1AB-9E09-4067-89BC-3ED8B7600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195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18" name="mit-copy-1">
            <a:extLst xmlns:a="http://schemas.openxmlformats.org/drawingml/2006/main">
              <a:ext uri="{FF2B5EF4-FFF2-40B4-BE49-F238E27FC236}">
                <a16:creationId xmlns:a16="http://schemas.microsoft.com/office/drawing/2014/main" id="{F8644C7B-BF1E-48BC-B788-FD05FE1D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5433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Regionen ohne GREIX werden nicht erfunden</a:t>
            </a:r>
          </a:p>
        </p:txBody>
      </p:sp>
      <p:sp>
        <p:nvSpPr>
          <p:cNvPr id="19" name="limit-dot-2">
            <a:extLst xmlns:a="http://schemas.openxmlformats.org/drawingml/2006/main">
              <a:ext uri="{FF2B5EF4-FFF2-40B4-BE49-F238E27FC236}">
                <a16:creationId xmlns:a16="http://schemas.microsoft.com/office/drawing/2014/main" id="{B72C6549-DA74-4AA6-9F21-90E3D430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053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20" name="limit-copy-2">
            <a:extLst xmlns:a="http://schemas.openxmlformats.org/drawingml/2006/main">
              <a:ext uri="{FF2B5EF4-FFF2-40B4-BE49-F238E27FC236}">
                <a16:creationId xmlns:a16="http://schemas.microsoft.com/office/drawing/2014/main" id="{FD9A2864-D2E7-4D66-A7E6-A1733FD4D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29100"/>
            <a:ext cx="4857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lokale Angebotsdaten außerhalb der 37 GREIX-Märkte</a:t>
            </a:r>
          </a:p>
        </p:txBody>
      </p:sp>
      <p:sp>
        <p:nvSpPr>
          <p:cNvPr id="21" name="mit-dot-2">
            <a:extLst xmlns:a="http://schemas.openxmlformats.org/drawingml/2006/main">
              <a:ext uri="{FF2B5EF4-FFF2-40B4-BE49-F238E27FC236}">
                <a16:creationId xmlns:a16="http://schemas.microsoft.com/office/drawing/2014/main" id="{DBB39BF6-D06F-4604-9961-5696EB5E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053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22" name="mit-copy-2">
            <a:extLst xmlns:a="http://schemas.openxmlformats.org/drawingml/2006/main">
              <a:ext uri="{FF2B5EF4-FFF2-40B4-BE49-F238E27FC236}">
                <a16:creationId xmlns:a16="http://schemas.microsoft.com/office/drawing/2014/main" id="{DEA41A41-08DC-484A-B0EF-4580F6645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2291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empirische 86,8 % statt nominale 90 % anzeigen</a:t>
            </a:r>
          </a:p>
        </p:txBody>
      </p:sp>
      <p:sp>
        <p:nvSpPr>
          <p:cNvPr id="23" name="limit-dot-3">
            <a:extLst xmlns:a="http://schemas.openxmlformats.org/drawingml/2006/main">
              <a:ext uri="{FF2B5EF4-FFF2-40B4-BE49-F238E27FC236}">
                <a16:creationId xmlns:a16="http://schemas.microsoft.com/office/drawing/2014/main" id="{E1065956-2E0E-4DBC-BD7C-899E8FCD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911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24" name="limit-copy-3">
            <a:extLst xmlns:a="http://schemas.openxmlformats.org/drawingml/2006/main">
              <a:ext uri="{FF2B5EF4-FFF2-40B4-BE49-F238E27FC236}">
                <a16:creationId xmlns:a16="http://schemas.microsoft.com/office/drawing/2014/main" id="{4AF22B09-425D-4468-B63E-058F57B6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14900"/>
            <a:ext cx="4857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stabile 90-%-Coverage bei räumlichem Shift</a:t>
            </a:r>
          </a:p>
        </p:txBody>
      </p:sp>
      <p:sp>
        <p:nvSpPr>
          <p:cNvPr id="25" name="mit-dot-3">
            <a:extLst xmlns:a="http://schemas.openxmlformats.org/drawingml/2006/main">
              <a:ext uri="{FF2B5EF4-FFF2-40B4-BE49-F238E27FC236}">
                <a16:creationId xmlns:a16="http://schemas.microsoft.com/office/drawing/2014/main" id="{D1BA2AFD-3626-4EBE-AA4E-4B1BEF48B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911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26" name="mit-copy-3">
            <a:extLst xmlns:a="http://schemas.openxmlformats.org/drawingml/2006/main">
              <a:ext uri="{FF2B5EF4-FFF2-40B4-BE49-F238E27FC236}">
                <a16:creationId xmlns:a16="http://schemas.microsoft.com/office/drawing/2014/main" id="{D17182A3-0D2D-4DF2-A106-4F150423E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9149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Bias, Datenschutz und Missbrauch im Risk Assessment</a:t>
            </a:r>
          </a:p>
        </p:txBody>
      </p:sp>
      <p:sp>
        <p:nvSpPr>
          <p:cNvPr id="27" name="not-advice">
            <a:extLst xmlns:a="http://schemas.openxmlformats.org/drawingml/2006/main">
              <a:ext uri="{FF2B5EF4-FFF2-40B4-BE49-F238E27FC236}">
                <a16:creationId xmlns:a16="http://schemas.microsoft.com/office/drawing/2014/main" id="{D8247965-B413-4039-8BA9-83240F17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91200"/>
            <a:ext cx="1104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8" name="not-advice-text">
            <a:extLst xmlns:a="http://schemas.openxmlformats.org/drawingml/2006/main">
              <a:ext uri="{FF2B5EF4-FFF2-40B4-BE49-F238E27FC236}">
                <a16:creationId xmlns:a16="http://schemas.microsoft.com/office/drawing/2014/main" id="{DD9BC2A2-4C9F-4C0A-B305-B70F79AD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86450"/>
            <a:ext cx="106299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Kein amtlicher Mietspiegel · keine Rechtsberatung · keine Bonitäts- oder Vermieterentscheidung</a:t>
            </a:r>
          </a:p>
        </p:txBody>
      </p:sp>
    </p:spTree>
    <p:extLst>
      <p:ext uri="{BB962C8B-B14F-4D97-AF65-F5344CB8AC3E}">
        <p14:creationId xmlns:p14="http://schemas.microsoft.com/office/powerpoint/2010/main" val="54189213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021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nclusion-kicker">
            <a:extLst xmlns:a="http://schemas.openxmlformats.org/drawingml/2006/main">
              <a:ext uri="{FF2B5EF4-FFF2-40B4-BE49-F238E27FC236}">
                <a16:creationId xmlns:a16="http://schemas.microsoft.com/office/drawing/2014/main" id="{A9783E21-7A02-4E63-BEE7-7D97DBAC2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7200"/>
            <a:ext cx="1905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1E2B7"/>
                </a:solidFill>
                <a:latin typeface="Arial"/>
                <a:ea typeface="Arial"/>
                <a:cs typeface="Arial"/>
              </a:defRPr>
            </a:pPr>
            <a:r>
              <a:t>FAZIT</a:t>
            </a:r>
          </a:p>
        </p:txBody>
      </p:sp>
      <p:sp>
        <p:nvSpPr>
          <p:cNvPr id="2" name="conclusion-title">
            <a:extLst xmlns:a="http://schemas.openxmlformats.org/drawingml/2006/main">
              <a:ext uri="{FF2B5EF4-FFF2-40B4-BE49-F238E27FC236}">
                <a16:creationId xmlns:a16="http://schemas.microsoft.com/office/drawing/2014/main" id="{12A9F7B3-107F-4DA8-BA91-CF1A94295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43050"/>
            <a:ext cx="10668000" cy="2095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Nicht eine „faire“ Miete.
Drei sauber getrennte Realitäten.</a:t>
            </a:r>
          </a:p>
        </p:txBody>
      </p:sp>
      <p:sp>
        <p:nvSpPr>
          <p:cNvPr id="3" name="conclusion-proof">
            <a:extLst xmlns:a="http://schemas.openxmlformats.org/drawingml/2006/main">
              <a:ext uri="{FF2B5EF4-FFF2-40B4-BE49-F238E27FC236}">
                <a16:creationId xmlns:a16="http://schemas.microsoft.com/office/drawing/2014/main" id="{426EFC8B-986D-4707-814A-5F17FA452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D7DEE8"/>
                </a:solidFill>
                <a:latin typeface="Arial"/>
                <a:ea typeface="Arial"/>
                <a:cs typeface="Arial"/>
              </a:defRPr>
            </a:pPr>
            <a:r>
              <a:t>2,06 Mio. Modellzeilen · räumlicher Holdout · 38,3 % Baseline-Verbesserung · transparente 86,8 % Coverage</a:t>
            </a:r>
          </a:p>
        </p:txBody>
      </p:sp>
      <p:cxnSp>
        <p:nvCxnSpPr>
          <p:cNvPr id="10" name="conclusion-rule"/>
          <p:cNvCxnSpPr/>
          <p:nvPr/>
        </p:nvCxnSpPr>
        <p:spPr>
          <a:xfrm xmlns:a="http://schemas.openxmlformats.org/drawingml/2006/main">
            <a:off x="533400" y="5295900"/>
            <a:ext cx="1066800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B4B60"/>
            </a:solidFill>
            <a:prstDash val="solid"/>
          </a:ln>
        </p:spPr>
      </p:cxnSp>
      <p:sp>
        <p:nvSpPr>
          <p:cNvPr id="5" name="conclusion-close">
            <a:extLst xmlns:a="http://schemas.openxmlformats.org/drawingml/2006/main">
              <a:ext uri="{FF2B5EF4-FFF2-40B4-BE49-F238E27FC236}">
                <a16:creationId xmlns:a16="http://schemas.microsoft.com/office/drawing/2014/main" id="{8B624221-185C-4722-8C76-79EA142DE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62600"/>
            <a:ext cx="9906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71E2B7"/>
                </a:solidFill>
                <a:latin typeface="Arial"/>
                <a:ea typeface="Arial"/>
                <a:cs typeface="Arial"/>
              </a:defRPr>
            </a:pPr>
            <a:r>
              <a:t>Der echte Mehrwert ist nicht die Prognose allein – sondern eine nachvollziehbare Umzugsentscheidung.</a:t>
            </a:r>
          </a:p>
        </p:txBody>
      </p:sp>
      <p:sp>
        <p:nvSpPr>
          <p:cNvPr id="6" name="conclusion-page">
            <a:extLst xmlns:a="http://schemas.openxmlformats.org/drawingml/2006/main">
              <a:ext uri="{FF2B5EF4-FFF2-40B4-BE49-F238E27FC236}">
                <a16:creationId xmlns:a16="http://schemas.microsoft.com/office/drawing/2014/main" id="{FD6BCA4C-6701-4E94-94B4-47B92254C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AAB5C3"/>
                </a:solidFill>
                <a:latin typeface="Arial"/>
                <a:ea typeface="Arial"/>
                <a:cs typeface="Arial"/>
              </a:defRPr>
            </a:pPr>
            <a: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517038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header-13">
            <a:extLst xmlns:a="http://schemas.openxmlformats.org/drawingml/2006/main">
              <a:ext uri="{FF2B5EF4-FFF2-40B4-BE49-F238E27FC236}">
                <a16:creationId xmlns:a16="http://schemas.microsoft.com/office/drawing/2014/main" id="{2CD076FD-D4E2-433F-B474-C7867F3D5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13">
            <a:extLst xmlns:a="http://schemas.openxmlformats.org/drawingml/2006/main">
              <a:ext uri="{FF2B5EF4-FFF2-40B4-BE49-F238E27FC236}">
                <a16:creationId xmlns:a16="http://schemas.microsoft.com/office/drawing/2014/main" id="{6E18CD19-21E4-4971-B783-F35A938F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13">
            <a:extLst xmlns:a="http://schemas.openxmlformats.org/drawingml/2006/main">
              <a:ext uri="{FF2B5EF4-FFF2-40B4-BE49-F238E27FC236}">
                <a16:creationId xmlns:a16="http://schemas.microsoft.com/office/drawing/2014/main" id="{CCF94777-7A5C-4147-B3E4-A13E01D3E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13">
            <a:extLst xmlns:a="http://schemas.openxmlformats.org/drawingml/2006/main">
              <a:ext uri="{FF2B5EF4-FFF2-40B4-BE49-F238E27FC236}">
                <a16:creationId xmlns:a16="http://schemas.microsoft.com/office/drawing/2014/main" id="{E920D481-0D5D-4D08-BDF4-AF2BE3028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Quellen und Reproduzierbarkeit</a:t>
            </a:r>
          </a:p>
        </p:txBody>
      </p:sp>
      <p:sp>
        <p:nvSpPr>
          <p:cNvPr id="5" name="source-13">
            <a:extLst xmlns:a="http://schemas.openxmlformats.org/drawingml/2006/main">
              <a:ext uri="{FF2B5EF4-FFF2-40B4-BE49-F238E27FC236}">
                <a16:creationId xmlns:a16="http://schemas.microsoft.com/office/drawing/2014/main" id="{22EF8BF9-60F6-4D2D-BF33-19F40312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6" name="page-13">
            <a:extLst xmlns:a="http://schemas.openxmlformats.org/drawingml/2006/main">
              <a:ext uri="{FF2B5EF4-FFF2-40B4-BE49-F238E27FC236}">
                <a16:creationId xmlns:a16="http://schemas.microsoft.com/office/drawing/2014/main" id="{6530395F-337D-4405-9E2C-F25840B63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13</a:t>
            </a:r>
          </a:p>
        </p:txBody>
      </p:sp>
      <p:sp>
        <p:nvSpPr>
          <p:cNvPr id="7" name="sources-one-title">
            <a:extLst xmlns:a="http://schemas.openxmlformats.org/drawingml/2006/main">
              <a:ext uri="{FF2B5EF4-FFF2-40B4-BE49-F238E27FC236}">
                <a16:creationId xmlns:a16="http://schemas.microsoft.com/office/drawing/2014/main" id="{B47C0066-7B17-4687-B334-E76AEA45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Zensus 2022</a:t>
            </a:r>
          </a:p>
        </p:txBody>
      </p:sp>
      <p:sp>
        <p:nvSpPr>
          <p:cNvPr id="8" name="sources-one-body">
            <a:extLst xmlns:a="http://schemas.openxmlformats.org/drawingml/2006/main">
              <a:ext uri="{FF2B5EF4-FFF2-40B4-BE49-F238E27FC236}">
                <a16:creationId xmlns:a16="http://schemas.microsoft.com/office/drawing/2014/main" id="{52420C3A-CEA9-4C96-B15D-52FA05D22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00250"/>
            <a:ext cx="4953000" cy="1181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Statistische Ämter des Bundes und der Länder
100-m-Gitterdaten · Datenlizenz Deutschland – Namensnennung 2.0
Stichtag: 15.05.2022 · Veröffentlichung 2025</a:t>
            </a:r>
          </a:p>
        </p:txBody>
      </p:sp>
      <p:sp>
        <p:nvSpPr>
          <p:cNvPr id="9" name="sources-two-title">
            <a:extLst xmlns:a="http://schemas.openxmlformats.org/drawingml/2006/main">
              <a:ext uri="{FF2B5EF4-FFF2-40B4-BE49-F238E27FC236}">
                <a16:creationId xmlns:a16="http://schemas.microsoft.com/office/drawing/2014/main" id="{73B91E00-1407-4856-8C68-6E11CE870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24000"/>
            <a:ext cx="400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GREIX Mietpreisindex</a:t>
            </a:r>
          </a:p>
        </p:txBody>
      </p:sp>
      <p:sp>
        <p:nvSpPr>
          <p:cNvPr id="10" name="sources-two-body">
            <a:extLst xmlns:a="http://schemas.openxmlformats.org/drawingml/2006/main">
              <a:ext uri="{FF2B5EF4-FFF2-40B4-BE49-F238E27FC236}">
                <a16:creationId xmlns:a16="http://schemas.microsoft.com/office/drawing/2014/main" id="{07CB8445-206B-4569-8FB3-E385D5A62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0250"/>
            <a:ext cx="5219700" cy="1181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Kiel Institut für Weltwirtschaft auf Basis der VALUE Marktdatenbank
Nominale Quartalswerte 2012-Q1 bis 2026-Q1
37 lokale Märkte plus Deutschlandreferenz</a:t>
            </a:r>
          </a:p>
        </p:txBody>
      </p:sp>
      <p:cxnSp>
        <p:nvCxnSpPr>
          <p:cNvPr id="26" name="sources-divider"/>
          <p:cNvCxnSpPr/>
          <p:nvPr/>
        </p:nvCxnSpPr>
        <p:spPr>
          <a:xfrm xmlns:a="http://schemas.openxmlformats.org/drawingml/2006/main">
            <a:off x="457200" y="3543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6E1DF"/>
            </a:solidFill>
            <a:prstDash val="solid"/>
          </a:ln>
        </p:spPr>
      </p:cxnSp>
      <p:sp>
        <p:nvSpPr>
          <p:cNvPr id="12" name="sources-repro-title">
            <a:extLst xmlns:a="http://schemas.openxmlformats.org/drawingml/2006/main">
              <a:ext uri="{FF2B5EF4-FFF2-40B4-BE49-F238E27FC236}">
                <a16:creationId xmlns:a16="http://schemas.microsoft.com/office/drawing/2014/main" id="{F8D67AEF-8165-4356-B8ED-2A174E8AE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05250"/>
            <a:ext cx="400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Reproduzierbar im Repository</a:t>
            </a:r>
          </a:p>
        </p:txBody>
      </p:sp>
      <p:sp>
        <p:nvSpPr>
          <p:cNvPr id="13" name="sources-repro-body">
            <a:extLst xmlns:a="http://schemas.openxmlformats.org/drawingml/2006/main">
              <a:ext uri="{FF2B5EF4-FFF2-40B4-BE49-F238E27FC236}">
                <a16:creationId xmlns:a16="http://schemas.microsoft.com/office/drawing/2014/main" id="{74CED86B-6349-4E4D-996A-92AAF05EE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19600"/>
            <a:ext cx="11049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Download → Build → Spatial CV → Tuning → finales Training → GREIX-Profile → Notebooks → Streamlit</a:t>
            </a:r>
          </a:p>
        </p:txBody>
      </p:sp>
      <p:sp>
        <p:nvSpPr>
          <p:cNvPr id="14" name="sources-code">
            <a:extLst xmlns:a="http://schemas.openxmlformats.org/drawingml/2006/main">
              <a:ext uri="{FF2B5EF4-FFF2-40B4-BE49-F238E27FC236}">
                <a16:creationId xmlns:a16="http://schemas.microsoft.com/office/drawing/2014/main" id="{A6283417-4B44-4B98-BB27-C7DA65ADE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62550"/>
            <a:ext cx="1104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5" name="sources-code-text">
            <a:extLst xmlns:a="http://schemas.openxmlformats.org/drawingml/2006/main">
              <a:ext uri="{FF2B5EF4-FFF2-40B4-BE49-F238E27FC236}">
                <a16:creationId xmlns:a16="http://schemas.microsoft.com/office/drawing/2014/main" id="{F34B8F02-9BD0-4C66-B679-6A54855A7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105918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scripts/ · notebooks/ · reports/ · models/ · tests/ · docs/DATA_CARD.md · docs/MODEL_CARD.md</a:t>
            </a:r>
          </a:p>
        </p:txBody>
      </p:sp>
    </p:spTree>
    <p:extLst>
      <p:ext uri="{BB962C8B-B14F-4D97-AF65-F5344CB8AC3E}">
        <p14:creationId xmlns:p14="http://schemas.microsoft.com/office/powerpoint/2010/main" val="81501933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header-14">
            <a:extLst xmlns:a="http://schemas.openxmlformats.org/drawingml/2006/main">
              <a:ext uri="{FF2B5EF4-FFF2-40B4-BE49-F238E27FC236}">
                <a16:creationId xmlns:a16="http://schemas.microsoft.com/office/drawing/2014/main" id="{E261884E-116B-4B66-8E75-4712AA8E4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14">
            <a:extLst xmlns:a="http://schemas.openxmlformats.org/drawingml/2006/main">
              <a:ext uri="{FF2B5EF4-FFF2-40B4-BE49-F238E27FC236}">
                <a16:creationId xmlns:a16="http://schemas.microsoft.com/office/drawing/2014/main" id="{3B84F365-066A-4BFA-B48A-96B253318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14">
            <a:extLst xmlns:a="http://schemas.openxmlformats.org/drawingml/2006/main">
              <a:ext uri="{FF2B5EF4-FFF2-40B4-BE49-F238E27FC236}">
                <a16:creationId xmlns:a16="http://schemas.microsoft.com/office/drawing/2014/main" id="{AA8CB4CA-CD3E-48FA-969E-749C88489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14">
            <a:extLst xmlns:a="http://schemas.openxmlformats.org/drawingml/2006/main">
              <a:ext uri="{FF2B5EF4-FFF2-40B4-BE49-F238E27FC236}">
                <a16:creationId xmlns:a16="http://schemas.microsoft.com/office/drawing/2014/main" id="{101A38BC-0DA2-48A8-8F9E-E1B6AF093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Methodische Detailwerte für Rückfragen</a:t>
            </a:r>
          </a:p>
        </p:txBody>
      </p:sp>
      <p:sp>
        <p:nvSpPr>
          <p:cNvPr id="5" name="source-14">
            <a:extLst xmlns:a="http://schemas.openxmlformats.org/drawingml/2006/main">
              <a:ext uri="{FF2B5EF4-FFF2-40B4-BE49-F238E27FC236}">
                <a16:creationId xmlns:a16="http://schemas.microsoft.com/office/drawing/2014/main" id="{2104415F-5FB0-4BF8-A836-F3616AC2B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Quelle: models/zensus_hgb_meta.json und reports/final_model_evaluation.json.</a:t>
            </a:r>
          </a:p>
        </p:txBody>
      </p:sp>
      <p:sp>
        <p:nvSpPr>
          <p:cNvPr id="6" name="page-14">
            <a:extLst xmlns:a="http://schemas.openxmlformats.org/drawingml/2006/main">
              <a:ext uri="{FF2B5EF4-FFF2-40B4-BE49-F238E27FC236}">
                <a16:creationId xmlns:a16="http://schemas.microsoft.com/office/drawing/2014/main" id="{F9F78A5B-62B3-4372-AB70-A2FE5159D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14</a:t>
            </a:r>
          </a:p>
        </p:txBody>
      </p:sp>
      <p:sp>
        <p:nvSpPr>
          <p:cNvPr id="7" name="method-detail-lead">
            <a:extLst xmlns:a="http://schemas.openxmlformats.org/drawingml/2006/main">
              <a:ext uri="{FF2B5EF4-FFF2-40B4-BE49-F238E27FC236}">
                <a16:creationId xmlns:a16="http://schemas.microsoft.com/office/drawing/2014/main" id="{8F2FB01A-1EBA-4530-AD71-CD7346F8F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10490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Finales HGB: learning_rate 0,06 · 300 Iterationen · 127 Blätter · min. 100 Zeilen/Blatt · L2 = 5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457200" y="2190750"/>
          <a:ext xmlns:a="http://schemas.openxmlformats.org/drawingml/2006/main" cx="110490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2000250"/>
                <a:gridCol w="2000250"/>
                <a:gridCol w="2476500"/>
              </a:tblGrid>
              <a:tr h="5715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Subgruppe</a:t>
                      </a:r>
                    </a:p>
                  </a:txBody>
                  <a:tcPr marL="114300" marR="114300" marT="114300" marB="114300">
                    <a:solidFill>
                      <a:srgbClr val="1021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Zeilen</a:t>
                      </a:r>
                    </a:p>
                  </a:txBody>
                  <a:tcPr marL="114300" marR="114300" marT="114300" marB="114300">
                    <a:solidFill>
                      <a:srgbClr val="1021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MAE €/m²</a:t>
                      </a:r>
                    </a:p>
                  </a:txBody>
                  <a:tcPr marL="114300" marR="114300" marT="114300" marB="114300">
                    <a:solidFill>
                      <a:srgbClr val="1021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Intervall-Coverage</a:t>
                      </a:r>
                    </a:p>
                  </a:txBody>
                  <a:tcPr marL="114300" marR="114300" marT="114300" marB="114300">
                    <a:solidFill>
                      <a:srgbClr val="10213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02138"/>
                          </a:solidFill>
                        </a:rPr>
                        <a:t>Gebäude bis 1990 · ≤65 m²</a:t>
                      </a:r>
                    </a:p>
                  </a:txBody>
                  <a:tcPr marL="114300" marR="114300" marT="114300" marB="11430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02138"/>
                          </a:solidFill>
                        </a:rPr>
                        <a:t>81.662</a:t>
                      </a:r>
                    </a:p>
                  </a:txBody>
                  <a:tcPr marL="114300" marR="114300" marT="114300" marB="11430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02138"/>
                          </a:solidFill>
                        </a:rPr>
                        <a:t>1,436</a:t>
                      </a:r>
                    </a:p>
                  </a:txBody>
                  <a:tcPr marL="114300" marR="114300" marT="114300" marB="11430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02138"/>
                          </a:solidFill>
                        </a:rPr>
                        <a:t>87,4 %</a:t>
                      </a:r>
                    </a:p>
                  </a:txBody>
                  <a:tcPr marL="114300" marR="114300" marT="114300" marB="11430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02138"/>
                          </a:solidFill>
                        </a:rPr>
                        <a:t>Gebäude bis 1990 · &gt;65 m²</a:t>
                      </a:r>
                    </a:p>
                  </a:txBody>
                  <a:tcPr marL="114300" marR="114300" marT="114300" marB="11430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02138"/>
                          </a:solidFill>
                        </a:rPr>
                        <a:t>114.791</a:t>
                      </a:r>
                    </a:p>
                  </a:txBody>
                  <a:tcPr marL="114300" marR="114300" marT="114300" marB="11430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02138"/>
                          </a:solidFill>
                        </a:rPr>
                        <a:t>1,170</a:t>
                      </a:r>
                    </a:p>
                  </a:txBody>
                  <a:tcPr marL="114300" marR="114300" marT="114300" marB="11430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02138"/>
                          </a:solidFill>
                        </a:rPr>
                        <a:t>87,6 %</a:t>
                      </a:r>
                    </a:p>
                  </a:txBody>
                  <a:tcPr marL="114300" marR="114300" marT="114300" marB="11430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02138"/>
                          </a:solidFill>
                        </a:rPr>
                        <a:t>Gebäude nach 1990 · ≤65 m²</a:t>
                      </a:r>
                    </a:p>
                  </a:txBody>
                  <a:tcPr marL="114300" marR="114300" marT="114300" marB="114300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02138"/>
                          </a:solidFill>
                        </a:rPr>
                        <a:t>29.417</a:t>
                      </a:r>
                    </a:p>
                  </a:txBody>
                  <a:tcPr marL="114300" marR="114300" marT="114300" marB="114300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02138"/>
                          </a:solidFill>
                        </a:rPr>
                        <a:t>1,907</a:t>
                      </a:r>
                    </a:p>
                  </a:txBody>
                  <a:tcPr marL="114300" marR="114300" marT="114300" marB="114300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02138"/>
                          </a:solidFill>
                        </a:rPr>
                        <a:t>85,2 %</a:t>
                      </a:r>
                    </a:p>
                  </a:txBody>
                  <a:tcPr marL="114300" marR="114300" marT="114300" marB="114300">
                    <a:solidFill>
                      <a:srgbClr val="FEF3C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02138"/>
                          </a:solidFill>
                        </a:rPr>
                        <a:t>Gebäude nach 1990 · &gt;65 m²</a:t>
                      </a:r>
                    </a:p>
                  </a:txBody>
                  <a:tcPr marL="114300" marR="114300" marT="114300" marB="114300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02138"/>
                          </a:solidFill>
                        </a:rPr>
                        <a:t>50.588</a:t>
                      </a:r>
                    </a:p>
                  </a:txBody>
                  <a:tcPr marL="114300" marR="114300" marT="114300" marB="114300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02138"/>
                          </a:solidFill>
                        </a:rPr>
                        <a:t>1,642</a:t>
                      </a:r>
                    </a:p>
                  </a:txBody>
                  <a:tcPr marL="114300" marR="114300" marT="114300" marB="114300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02138"/>
                          </a:solidFill>
                        </a:rPr>
                        <a:t>85,1 %</a:t>
                      </a:r>
                    </a:p>
                  </a:txBody>
                  <a:tcPr marL="114300" marR="114300" marT="114300" marB="114300">
                    <a:solidFill>
                      <a:srgbClr val="FEF3C7"/>
                    </a:solidFill>
                  </a:tcPr>
                </a:tc>
              </a:tr>
            </a:tbl>
          </a:graphicData>
        </a:graphic>
      </p:graphicFrame>
      <p:sp>
        <p:nvSpPr>
          <p:cNvPr id="9" name="method-detail-conclusion">
            <a:extLst xmlns:a="http://schemas.openxmlformats.org/drawingml/2006/main">
              <a:ext uri="{FF2B5EF4-FFF2-40B4-BE49-F238E27FC236}">
                <a16:creationId xmlns:a16="http://schemas.microsoft.com/office/drawing/2014/main" id="{93BB9590-1783-4A46-9CDB-B658ADECD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1049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t>Neubauten generalisieren schwächer – deshalb nutzt MietCheck kategoriespezifische Intervallbreiten.</a:t>
            </a:r>
          </a:p>
        </p:txBody>
      </p:sp>
    </p:spTree>
    <p:extLst>
      <p:ext uri="{BB962C8B-B14F-4D97-AF65-F5344CB8AC3E}">
        <p14:creationId xmlns:p14="http://schemas.microsoft.com/office/powerpoint/2010/main" val="2798295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2026-07-17T09:46:44.9010000Z</dcterms:created>
  <dcterms:modified xsi:type="dcterms:W3CDTF">2026-07-17T09:46:44.9010000Z</dcterms:modified>
</coreProperties>
</file>