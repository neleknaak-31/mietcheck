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7eb63abb414f5c" /><Relationship Type="http://schemas.openxmlformats.org/officeDocument/2006/relationships/extended-properties" Target="/docProps/app.xml" Id="R8fcd3b89694147ad" /><Relationship Type="http://schemas.openxmlformats.org/officeDocument/2006/relationships/officeDocument" Target="/ppt/presentation.xml" Id="R916977b7ff2045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324078bb3946eb"/>
  </p:sldMasterIdLst>
  <p:notesMasterIdLst>
    <p:notesMasterId xmlns:r="http://schemas.openxmlformats.org/officeDocument/2006/relationships" r:id="Rc88d52f636064f83"/>
  </p:notesMasterIdLst>
  <p:sldIdLst>
    <p:sldId xmlns:r="http://schemas.openxmlformats.org/officeDocument/2006/relationships" id="256" r:id="Raefb9e3d115e42a5"/>
    <p:sldId xmlns:r="http://schemas.openxmlformats.org/officeDocument/2006/relationships" id="257" r:id="R0c587ce39be94f38"/>
    <p:sldId xmlns:r="http://schemas.openxmlformats.org/officeDocument/2006/relationships" id="258" r:id="R3adbdf37452548a0"/>
    <p:sldId xmlns:r="http://schemas.openxmlformats.org/officeDocument/2006/relationships" id="259" r:id="Rcba21ef9a72b478b"/>
    <p:sldId xmlns:r="http://schemas.openxmlformats.org/officeDocument/2006/relationships" id="260" r:id="R82ddeb0468324f48"/>
    <p:sldId xmlns:r="http://schemas.openxmlformats.org/officeDocument/2006/relationships" id="261" r:id="R2dc2a4cb7146437e"/>
    <p:sldId xmlns:r="http://schemas.openxmlformats.org/officeDocument/2006/relationships" id="262" r:id="R7731acd1ad27433b"/>
    <p:sldId xmlns:r="http://schemas.openxmlformats.org/officeDocument/2006/relationships" id="263" r:id="Rbea6ca6a1a8f4494"/>
    <p:sldId xmlns:r="http://schemas.openxmlformats.org/officeDocument/2006/relationships" id="264" r:id="Rc807cf6e4487470e"/>
    <p:sldId xmlns:r="http://schemas.openxmlformats.org/officeDocument/2006/relationships" id="265" r:id="R9b4c01135850469d"/>
    <p:sldId xmlns:r="http://schemas.openxmlformats.org/officeDocument/2006/relationships" id="266" r:id="R4fab4fe5c88642f7"/>
    <p:sldId xmlns:r="http://schemas.openxmlformats.org/officeDocument/2006/relationships" id="267" r:id="R4380dbda21f74c65"/>
    <p:sldId xmlns:r="http://schemas.openxmlformats.org/officeDocument/2006/relationships" id="268" r:id="R0da7e247681840a3"/>
    <p:sldId xmlns:r="http://schemas.openxmlformats.org/officeDocument/2006/relationships" id="269" r:id="R3b57737208c040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e260ede1cb4460" /><Relationship Type="http://schemas.openxmlformats.org/officeDocument/2006/relationships/slideMaster" Target="/ppt/slideMasters/slideMaster1.xml" Id="R75324078bb3946eb" /><Relationship Type="http://schemas.openxmlformats.org/officeDocument/2006/relationships/notesMaster" Target="/ppt/notesMasters/notesMaster1.xml" Id="Rc88d52f636064f83" /><Relationship Type="http://schemas.openxmlformats.org/officeDocument/2006/relationships/presProps" Target="/ppt/presProps.xml" Id="R0c6922495d8743bd" /><Relationship Type="http://schemas.openxmlformats.org/officeDocument/2006/relationships/tableStyles" Target="/ppt/tableStyles.xml" Id="R653cca7ee1ec47e9" /><Relationship Type="http://schemas.openxmlformats.org/officeDocument/2006/relationships/slide" Target="/ppt/slides/slide1.xml" Id="Raefb9e3d115e42a5" /><Relationship Type="http://schemas.openxmlformats.org/officeDocument/2006/relationships/slide" Target="/ppt/slides/slide2.xml" Id="R0c587ce39be94f38" /><Relationship Type="http://schemas.openxmlformats.org/officeDocument/2006/relationships/slide" Target="/ppt/slides/slide3.xml" Id="R3adbdf37452548a0" /><Relationship Type="http://schemas.openxmlformats.org/officeDocument/2006/relationships/slide" Target="/ppt/slides/slide4.xml" Id="Rcba21ef9a72b478b" /><Relationship Type="http://schemas.openxmlformats.org/officeDocument/2006/relationships/slide" Target="/ppt/slides/slide5.xml" Id="R82ddeb0468324f48" /><Relationship Type="http://schemas.openxmlformats.org/officeDocument/2006/relationships/slide" Target="/ppt/slides/slide6.xml" Id="R2dc2a4cb7146437e" /><Relationship Type="http://schemas.openxmlformats.org/officeDocument/2006/relationships/slide" Target="/ppt/slides/slide7.xml" Id="R7731acd1ad27433b" /><Relationship Type="http://schemas.openxmlformats.org/officeDocument/2006/relationships/slide" Target="/ppt/slides/slide8.xml" Id="Rbea6ca6a1a8f4494" /><Relationship Type="http://schemas.openxmlformats.org/officeDocument/2006/relationships/slide" Target="/ppt/slides/slide9.xml" Id="Rc807cf6e4487470e" /><Relationship Type="http://schemas.openxmlformats.org/officeDocument/2006/relationships/slide" Target="/ppt/slides/slide10.xml" Id="R9b4c01135850469d" /><Relationship Type="http://schemas.openxmlformats.org/officeDocument/2006/relationships/slide" Target="/ppt/slides/slide11.xml" Id="R4fab4fe5c88642f7" /><Relationship Type="http://schemas.openxmlformats.org/officeDocument/2006/relationships/slide" Target="/ppt/slides/slide12.xml" Id="R4380dbda21f74c65" /><Relationship Type="http://schemas.openxmlformats.org/officeDocument/2006/relationships/slide" Target="/ppt/slides/slide13.xml" Id="R0da7e247681840a3" /><Relationship Type="http://schemas.openxmlformats.org/officeDocument/2006/relationships/slide" Target="/ppt/slides/slide14.xml" Id="R3b57737208c040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b2efd2288d41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564ee871e949dc" /><Relationship Type="http://schemas.openxmlformats.org/officeDocument/2006/relationships/notesMaster" Target="/ppt/notesMasters/notesMaster1.xml" Id="R6ff4e9baa8854c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b5bc4f1cae49f1" /><Relationship Type="http://schemas.openxmlformats.org/officeDocument/2006/relationships/notesMaster" Target="/ppt/notesMasters/notesMaster1.xml" Id="Rb64d570649bc45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88d2dded1f4f49" /><Relationship Type="http://schemas.openxmlformats.org/officeDocument/2006/relationships/notesMaster" Target="/ppt/notesMasters/notesMaster1.xml" Id="R8413b8a6374247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fa25fec01a4bf7" /><Relationship Type="http://schemas.openxmlformats.org/officeDocument/2006/relationships/notesMaster" Target="/ppt/notesMasters/notesMaster1.xml" Id="Rfc3632e4541a44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189eeb14f7460d" /><Relationship Type="http://schemas.openxmlformats.org/officeDocument/2006/relationships/notesMaster" Target="/ppt/notesMasters/notesMaster1.xml" Id="Rb12729bb6b1f4d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23f97d834b41cc" /><Relationship Type="http://schemas.openxmlformats.org/officeDocument/2006/relationships/notesMaster" Target="/ppt/notesMasters/notesMaster1.xml" Id="R1e13e19e01bf4a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e45b6f76ae4d54" /><Relationship Type="http://schemas.openxmlformats.org/officeDocument/2006/relationships/notesMaster" Target="/ppt/notesMasters/notesMaster1.xml" Id="R1b8266b7b24a4a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2b749db8dd4842" /><Relationship Type="http://schemas.openxmlformats.org/officeDocument/2006/relationships/notesMaster" Target="/ppt/notesMasters/notesMaster1.xml" Id="R6f3256a84bfa4c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9fb58d95d94ff5" /><Relationship Type="http://schemas.openxmlformats.org/officeDocument/2006/relationships/notesMaster" Target="/ppt/notesMasters/notesMaster1.xml" Id="Rf017a6c9d8874b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f0c92156d74eb3" /><Relationship Type="http://schemas.openxmlformats.org/officeDocument/2006/relationships/notesMaster" Target="/ppt/notesMasters/notesMaster1.xml" Id="R176a6d2743d24c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38d28854be4963" /><Relationship Type="http://schemas.openxmlformats.org/officeDocument/2006/relationships/notesMaster" Target="/ppt/notesMasters/notesMaster1.xml" Id="Rd49b77a207da4d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869ae0ae1343af" /><Relationship Type="http://schemas.openxmlformats.org/officeDocument/2006/relationships/notesMaster" Target="/ppt/notesMasters/notesMaster1.xml" Id="Ra1a89d4acb9f496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e1a71abcc154157" /><Relationship Type="http://schemas.openxmlformats.org/officeDocument/2006/relationships/notesMaster" Target="/ppt/notesMasters/notesMaster1.xml" Id="R5cb00dd5c883443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14a56ceed748ac" /><Relationship Type="http://schemas.openxmlformats.org/officeDocument/2006/relationships/notesMaster" Target="/ppt/notesMasters/notesMaster1.xml" Id="Rf6ec5411e6b64f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40 Sekunden.</a:t>
            </a:r>
          </a:p>
          <a:p xmlns:a="http://schemas.openxmlformats.org/drawingml/2006/main">
            <a:r>
              <a:t>Einstieg: Ein Mietrechner suggeriert oft, es gebe genau eine faire Miete. Das ist fachlich problematisch.</a:t>
            </a:r>
          </a:p>
          <a:p xmlns:a="http://schemas.openxmlformats.org/drawingml/2006/main">
            <a:r>
              <a:t>MietCheck trennt deshalb drei Messkonzepte und macht ihren Unterschied zur eigentlichen Entscheidungshilfe.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Bestandsmiete ist ein historischer Vertragsbestand, Angebotsmiete ein aktueller Suchmarkt. Beides darf nicht als rechtlich zulässige Miete gelesen werden.</a:t>
            </a:r>
          </a:p>
          <a:p xmlns:a="http://schemas.openxmlformats.org/drawingml/2006/main">
            <a:r>
              <a:t>Die persönliche Miete ergänzt den eigentlichen Nutzen: Was würde ein Umzug monatlich verändern?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60 Sekunden.</a:t>
            </a:r>
          </a:p>
          <a:p xmlns:a="http://schemas.openxmlformats.org/drawingml/2006/main">
            <a:r>
              <a:t>Die Matrix ist bewusst vorsichtig formuliert. 'Nicht offen' bedeutet: auf der geprüften öffentlichen Produktseite war die Information nicht belastbar dokumentiert.</a:t>
            </a:r>
          </a:p>
          <a:p xmlns:a="http://schemas.openxmlformats.org/drawingml/2006/main">
            <a:r>
              <a:t>Der USP ist also eine nachgewiesene Kombination, keine absolute Weltneuheitsbehauptung.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70 Sekunden.</a:t>
            </a:r>
          </a:p>
          <a:p xmlns:a="http://schemas.openxmlformats.org/drawingml/2006/main">
            <a:r>
              <a:t>Der alte Kaggle-Datensatz von 2018/2019 wurde verworfen: zu alt und lizenzrechtlich weniger sauber für ein öffentliches Produkt.</a:t>
            </a:r>
          </a:p>
          <a:p xmlns:a="http://schemas.openxmlformats.org/drawingml/2006/main">
            <a:r>
              <a:t>Der neue Download protokolliert URL, Abrufzeitpunkt, Dateigröße und SHA-256. Die Rohdaten bleiben außerhalb von 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70 Sekunden.</a:t>
            </a:r>
          </a:p>
          <a:p xmlns:a="http://schemas.openxmlformats.org/drawingml/2006/main">
            <a:r>
              <a:t>Die rechenintensiven Schritte liegen in getesteten Skripten. Die Notebooks lesen dieselben versionierten Reports und können nicht unbemerkt andere Zahlen zeigen.</a:t>
            </a:r>
          </a:p>
          <a:p xmlns:a="http://schemas.openxmlformats.org/drawingml/2006/main">
            <a:r>
              <a:t>Das ist wichtig für Reproduzierbarkeit und verhindert Notebook-Drift.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Das ist die wichtigste methodische Entscheidung. Bei einem zufälligen Split wären nahe Zellen mit fast identischem Umfeld in Training und Test.</a:t>
            </a:r>
          </a:p>
          <a:p xmlns:a="http://schemas.openxmlformats.org/drawingml/2006/main">
            <a:r>
              <a:t>Die räumliche Trennung misst Generalisierung auf neue Gebiete und erklärt, warum das finale Ergebnis strenger ausfällt als frühere Prototypwerte.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Fünf Modellfamilien laufen auf exakt denselben räumlichen Folds. So ist der Vergleich fair.</a:t>
            </a:r>
          </a:p>
          <a:p xmlns:a="http://schemas.openxmlformats.org/drawingml/2006/main">
            <a:r>
              <a:t>HGB gewinnt knapp vor Random Forest. Die Wahl beruht zusätzlich auf Laufzeit, Modellgröße und Deployment-Eignung – nicht nur auf der dritten Nachkommastelle.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Sekunden.</a:t>
            </a:r>
          </a:p>
          <a:p xmlns:a="http://schemas.openxmlformats.org/drawingml/2006/main">
            <a:r>
              <a:t>Das finale Modell erreicht MAE 1,413 Euro pro Quadratmeter, Median-AE 0,956 und R² 0,584.</a:t>
            </a:r>
          </a:p>
          <a:p xmlns:a="http://schemas.openxmlformats.org/drawingml/2006/main">
            <a:r>
              <a:t>Die Intervalle wurden separat kalibriert. Nominal waren 90 Prozent geplant, auf neuen Raumblöcken sind es 86,8 Prozent.</a:t>
            </a:r>
          </a:p>
          <a:p xmlns:a="http://schemas.openxmlformats.org/drawingml/2006/main">
            <a:r>
              <a:t>Genau diese Abweichung zeigt die App offen. Das ist wissenschaftlich stärker als eine falsche Garantie.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Der Verlauf ist der aktuelle Angebotsmarkt. Der grüne Bestandsanker ist bewusst nicht auf 2026 hochgerechnet.</a:t>
            </a:r>
          </a:p>
          <a:p xmlns:a="http://schemas.openxmlformats.org/drawingml/2006/main">
            <a:r>
              <a:t>Die 113 Prozent sind daher ein deskriptiver Umzugsaufschlag, keine Mietpreisbremse- oder Fairnessaussage.</a:t>
            </a:r>
          </a:p>
          <a:p xmlns:a="http://schemas.openxmlformats.org/drawingml/2006/main">
            <a:r>
              <a:t>Genau diese saubere Trennung ist der Kern der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 plus kurze Live-Demo.</a:t>
            </a:r>
          </a:p>
          <a:p xmlns:a="http://schemas.openxmlformats.org/drawingml/2006/main">
            <a:r>
              <a:t>Demo: Region Berlin, 70 Quadratmeter, Baujahr 1985, aktuelle Kaltmiete 850 Euro, Einkommen 3.200 Euro.</a:t>
            </a:r>
          </a:p>
          <a:p xmlns:a="http://schemas.openxmlformats.org/drawingml/2006/main">
            <a:r>
              <a:t>Dann Region wechseln oder Wohnfläche auf 90 Quadratmeter setzen und zeigen, dass Werte und Belastung sofort neu berechnet werden.</a:t>
            </a:r>
          </a:p>
          <a:p xmlns:a="http://schemas.openxmlformats.org/drawingml/2006/main">
            <a:r>
              <a:t>Zum Schluss Methodik-Tab öffnen: Quellen, Modellvergleich und 86,8-Prozent-Coverage sind direkt im Produkt sichtbar.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Räumliche und sozioökonomische Merkmale können bestehende Ungleichheiten abbilden. Eine gute Prognose legitimiert deshalb keine Miete.</a:t>
            </a:r>
          </a:p>
          <a:p xmlns:a="http://schemas.openxmlformats.org/drawingml/2006/main">
            <a:r>
              <a:t>Das System ist ausdrücklich nicht für Vermieterpreisoptimierung, Bonität oder Rechtsentscheidungen vorgesehen.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Rückbezug auf die Eröffnung: Das Projekt ersetzt eine Scheingenauigkeit durch drei verständliche, belegte Realitäten.</a:t>
            </a:r>
          </a:p>
          <a:p xmlns:a="http://schemas.openxmlformats.org/drawingml/2006/main">
            <a:r>
              <a:t>Schluss: Ich zeige damit nicht nur ein Modell, sondern eine vollständige Nachweiskette vom öffentlichen Download bis zur getesteten App.</a:t>
            </a:r>
          </a:p>
          <a:p xmlns:a="http://schemas.openxmlformats.org/drawingml/2006/main">
            <a:r>
              <a:t>Danach Fragen oder bei Bedarf direkt zur Live-Demo wechseln.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Appendix / Quellenfolie. Bei Fragen zur Datenlizenz oder Reproduzierbarkeit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Appendix / methodische Detailfolie. Bei Fragen zu Parametern, Subgruppen oder Neubaufehlern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94753152cd45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0ec6a8be1b4954" /><Relationship Type="http://schemas.openxmlformats.org/officeDocument/2006/relationships/slideLayout" Target="/ppt/slideLayouts/slideLayout1.xml" Id="R53a3f5236ca54f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a3f5236ca54f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22e4dfad94206" /><Relationship Type="http://schemas.openxmlformats.org/officeDocument/2006/relationships/image" Target="/ppt/media/image.png" Id="Re18e8b7855a64dad" /><Relationship Type="http://schemas.openxmlformats.org/officeDocument/2006/relationships/notesSlide" Target="/ppt/notesSlides/notesSlide1.xml" Id="Re4d8e1014b0d4e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ef36f9c0f4df8" /><Relationship Type="http://schemas.openxmlformats.org/officeDocument/2006/relationships/notesSlide" Target="/ppt/notesSlides/notesSlide2.xml" Id="R9725dda0e65c4c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24dd931ec4c96" /><Relationship Type="http://schemas.openxmlformats.org/officeDocument/2006/relationships/notesSlide" Target="/ppt/notesSlides/notesSlide3.xml" Id="R2a160896340348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a5ef294164eeb" /><Relationship Type="http://schemas.openxmlformats.org/officeDocument/2006/relationships/notesSlide" Target="/ppt/notesSlides/notesSlide4.xml" Id="Rc5e4b5c0c97642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ddd1b887a4f04" /><Relationship Type="http://schemas.openxmlformats.org/officeDocument/2006/relationships/notesSlide" Target="/ppt/notesSlides/notesSlide5.xml" Id="R97ab51312ff24d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c02ea004f4af3" /><Relationship Type="http://schemas.openxmlformats.org/officeDocument/2006/relationships/notesSlide" Target="/ppt/notesSlides/notesSlide6.xml" Id="R5553d4e90fd24d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d36c3c7eb4384" /><Relationship Type="http://schemas.openxmlformats.org/officeDocument/2006/relationships/chart" Target="/ppt/slides/charts/chart1.xml" Id="R9dad57064fe64ac6" /><Relationship Type="http://schemas.openxmlformats.org/officeDocument/2006/relationships/notesSlide" Target="/ppt/notesSlides/notesSlide7.xml" Id="R8c65dbed20aa4d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d3ae54d584356" /><Relationship Type="http://schemas.openxmlformats.org/officeDocument/2006/relationships/chart" Target="/ppt/slides/charts/chart2.xml" Id="Ra7aee7af29d541bf" /><Relationship Type="http://schemas.openxmlformats.org/officeDocument/2006/relationships/notesSlide" Target="/ppt/notesSlides/notesSlide8.xml" Id="R08d936cee64849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d6eb7443e4ed3" /><Relationship Type="http://schemas.openxmlformats.org/officeDocument/2006/relationships/chart" Target="/ppt/slides/charts/chart3.xml" Id="R9d942f04fe354b26" /><Relationship Type="http://schemas.openxmlformats.org/officeDocument/2006/relationships/notesSlide" Target="/ppt/notesSlides/notesSlide9.xml" Id="R37b55ab08a4848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2efb3c79d485b" /><Relationship Type="http://schemas.openxmlformats.org/officeDocument/2006/relationships/image" Target="/ppt/media/image2.png" Id="Rf4602a6bfaa14377" /><Relationship Type="http://schemas.openxmlformats.org/officeDocument/2006/relationships/notesSlide" Target="/ppt/notesSlides/notesSlide10.xml" Id="Rb47a62d931d34c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9395195734e4f" /><Relationship Type="http://schemas.openxmlformats.org/officeDocument/2006/relationships/notesSlide" Target="/ppt/notesSlides/notesSlide11.xml" Id="R9319945fcae640f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0a2f34eb7493f" /><Relationship Type="http://schemas.openxmlformats.org/officeDocument/2006/relationships/notesSlide" Target="/ppt/notesSlides/notesSlide12.xml" Id="R715c7d8038b447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e7506282c4448" /><Relationship Type="http://schemas.openxmlformats.org/officeDocument/2006/relationships/notesSlide" Target="/ppt/notesSlides/notesSlide13.xml" Id="Ra64219c12fbd4f1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ea89aa41442e3" /><Relationship Type="http://schemas.openxmlformats.org/officeDocument/2006/relationships/notesSlide" Target="/ppt/notesSlides/notesSlide14.xml" Id="R2d43ee10b284439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2D5BFF"/>
            </a:solidFill>
          </c:spPr>
          <c:dPt>
            <c:idx val="4"/>
            <c:spPr>
              <a:solidFill xmlns:a="http://schemas.openxmlformats.org/drawingml/2006/main">
                <a:srgbClr val="0B6E4F"/>
              </a:solidFill>
            </c:spPr>
          </c:dPt>
          <c:cat>
            <c:strLit>
              <c:ptCount val="5"/>
              <c:pt idx="0">
                <c:v>Kategorie-Median</c:v>
              </c:pt>
              <c:pt idx="1">
                <c:v>Ridge</c:v>
              </c:pt>
              <c:pt idx="2">
                <c:v>MLP</c:v>
              </c:pt>
              <c:pt idx="3">
                <c:v>Random Forest</c:v>
              </c:pt>
              <c:pt idx="4">
                <c:v>HGB</c:v>
              </c:pt>
            </c:strLit>
          </c:cat>
          <c:val>
            <c:numLit>
              <c:formatCode>General</c:formatCode>
              <c:ptCount val="5"/>
              <c:pt idx="0">
                <c:v>1.719</c:v>
              </c:pt>
              <c:pt idx="1">
                <c:v>1.632</c:v>
              </c:pt>
              <c:pt idx="2">
                <c:v>1.397</c:v>
              </c:pt>
              <c:pt idx="3">
                <c:v>1.32</c:v>
              </c:pt>
              <c:pt idx="4">
                <c:v>1.305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322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0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085"/>
                    </a:solidFill>
                  </a:rPr>
                  <a:t>mittlerer 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0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0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3223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085"/>
            </a:solidFill>
          </c:spPr>
          <c:dPt>
            <c:idx val="1"/>
            <c:spPr>
              <a:solidFill xmlns:a="http://schemas.openxmlformats.org/drawingml/2006/main">
                <a:srgbClr val="0B6E4F"/>
              </a:solidFill>
            </c:spPr>
          </c:dPt>
          <c:cat>
            <c:strLit>
              <c:ptCount val="2"/>
              <c:pt idx="0">
                <c:v>Kategorie-Baseline</c:v>
              </c:pt>
              <c:pt idx="1">
                <c:v>MietCheck HGB</c:v>
              </c:pt>
            </c:strLit>
          </c:cat>
          <c:val>
            <c:numLit>
              <c:formatCode>General</c:formatCode>
              <c:ptCount val="2"/>
              <c:pt idx="0">
                <c:v>2.292</c:v>
              </c:pt>
              <c:pt idx="1">
                <c:v>1.413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322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0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3223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0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085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Median</c:v>
          </c:tx>
          <c:spPr>
            <a:ln xmlns:a="http://schemas.openxmlformats.org/drawingml/2006/main" w="38100">
              <a:solidFill>
                <a:srgbClr val="2D5BFF"/>
              </a:solidFill>
              <a:prstDash val="solid"/>
            </a:ln>
          </c:spPr>
          <c:marker>
            <c:symbol val="circle"/>
            <c:size val="7"/>
          </c:marker>
          <c:cat>
            <c:numLit>
              <c:formatCode>General</c:formatCode>
              <c:ptCount val="8"/>
              <c:pt idx="0">
                <c:v>2012</c:v>
              </c:pt>
              <c:pt idx="1">
                <c:v>2014</c:v>
              </c:pt>
              <c:pt idx="2">
                <c:v>2016</c:v>
              </c:pt>
              <c:pt idx="3">
                <c:v>2018</c:v>
              </c:pt>
              <c:pt idx="4">
                <c:v>2020</c:v>
              </c:pt>
              <c:pt idx="5">
                <c:v>2022</c:v>
              </c:pt>
              <c:pt idx="6">
                <c:v>2024</c:v>
              </c:pt>
              <c:pt idx="7">
                <c:v>2026</c:v>
              </c:pt>
            </c:numLit>
          </c:cat>
          <c:val>
            <c:numLit>
              <c:formatCode>General</c:formatCode>
              <c:ptCount val="8"/>
              <c:pt idx="0">
                <c:v>6.86</c:v>
              </c:pt>
              <c:pt idx="1">
                <c:v>8</c:v>
              </c:pt>
              <c:pt idx="2">
                <c:v>8.53</c:v>
              </c:pt>
              <c:pt idx="3">
                <c:v>10</c:v>
              </c:pt>
              <c:pt idx="4">
                <c:v>10</c:v>
              </c:pt>
              <c:pt idx="5">
                <c:v>10.88</c:v>
              </c:pt>
              <c:pt idx="6">
                <c:v>15.45</c:v>
              </c:pt>
              <c:pt idx="7">
                <c:v>15.5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0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7"/>
          <c:min val="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0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085"/>
                    </a:solidFill>
                  </a:rPr>
                  <a:t>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F1F1316B-D515-4648-A459-EA877B85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14946499-5AA2-4443-9570-4E799151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MietCheck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841AD42-A1BC-4705-A78A-39496CE0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334000" cy="224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Drei
Mietrealitäten.
Klare Entscheidung.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9659566-A5F0-4C00-B92C-3D082B57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5143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Machine Learning verbindet Zensus-Bestand, aktuellen GREIX-Angebotsmarkt und persönliche Mietbelastung.</a:t>
            </a:r>
          </a:p>
        </p:txBody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D48E3171-14C8-40F7-AAE2-DC5E9D24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Nele Knaak · Data Analytics &amp; Big Data · 2026</a:t>
            </a:r>
          </a:p>
        </p:txBody>
      </p:sp>
      <p:sp>
        <p:nvSpPr>
          <p:cNvPr id="6" name="cover-image-back">
            <a:extLst xmlns:a="http://schemas.openxmlformats.org/drawingml/2006/main">
              <a:ext uri="{FF2B5EF4-FFF2-40B4-BE49-F238E27FC236}">
                <a16:creationId xmlns:a16="http://schemas.microsoft.com/office/drawing/2014/main" id="{E6CC6C6B-3A8D-468E-9928-E4F8C0B4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"/>
            <a:ext cx="5543550" cy="582930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8e8b7855a64dad"/>
          <a:srcRect xmlns:a="http://schemas.openxmlformats.org/drawingml/2006/main" l="13781" t="0" r="13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495300"/>
            <a:ext cx="5238750" cy="5524500"/>
          </a:xfrm>
          <a:prstGeom xmlns:a="http://schemas.openxmlformats.org/drawingml/2006/main" prst="roundRect">
            <a:avLst>
              <a:gd name="adj" fmla="val 2909"/>
            </a:avLst>
          </a:prstGeom>
        </p:spPr>
      </p:pic>
    </p:spTree>
    <p:extLst>
      <p:ext uri="{BB962C8B-B14F-4D97-AF65-F5344CB8AC3E}">
        <p14:creationId xmlns:p14="http://schemas.microsoft.com/office/powerpoint/2010/main" val="4777901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2">
            <a:extLst xmlns:a="http://schemas.openxmlformats.org/drawingml/2006/main">
              <a:ext uri="{FF2B5EF4-FFF2-40B4-BE49-F238E27FC236}">
                <a16:creationId xmlns:a16="http://schemas.microsoft.com/office/drawing/2014/main" id="{5FAA324E-0DFB-4A56-B8C6-153098CD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Es gibt nicht die eine Miete</a:t>
            </a:r>
          </a:p>
        </p:txBody>
      </p:sp>
      <p:sp>
        <p:nvSpPr>
          <p:cNvPr id="2" name="source-2">
            <a:extLst xmlns:a="http://schemas.openxmlformats.org/drawingml/2006/main">
              <a:ext uri="{FF2B5EF4-FFF2-40B4-BE49-F238E27FC236}">
                <a16:creationId xmlns:a16="http://schemas.microsoft.com/office/drawing/2014/main" id="{3CB24587-3765-4C73-8B08-3931D6B5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28E4AC30-8487-4A7F-AAC6-A972C4C5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4" name="three-lead">
            <a:extLst xmlns:a="http://schemas.openxmlformats.org/drawingml/2006/main">
              <a:ext uri="{FF2B5EF4-FFF2-40B4-BE49-F238E27FC236}">
                <a16:creationId xmlns:a16="http://schemas.microsoft.com/office/drawing/2014/main" id="{281C62F7-95D5-4E3C-AAFD-87DDB7AA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Bestand, Angebot und persönliche Belastung messen unterschiedliche Realitäten. Erst ihre Trennung macht den Umzugseffekt sichtbar.</a:t>
            </a:r>
          </a:p>
        </p:txBody>
      </p:sp>
      <p:cxnSp>
        <p:nvCxnSpPr>
          <p:cNvPr id="25" name="sep-one"/>
          <p:cNvCxnSpPr/>
          <p:nvPr/>
        </p:nvCxnSpPr>
        <p:spPr>
          <a:xfrm xmlns:a="http://schemas.openxmlformats.org/drawingml/2006/main">
            <a:off x="4029075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cxnSp>
        <p:nvCxnSpPr>
          <p:cNvPr id="26" name="sep-two"/>
          <p:cNvCxnSpPr/>
          <p:nvPr/>
        </p:nvCxnSpPr>
        <p:spPr>
          <a:xfrm xmlns:a="http://schemas.openxmlformats.org/drawingml/2006/main">
            <a:off x="7829550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sp>
        <p:nvSpPr>
          <p:cNvPr id="7" name="accent-0">
            <a:extLst xmlns:a="http://schemas.openxmlformats.org/drawingml/2006/main">
              <a:ext uri="{FF2B5EF4-FFF2-40B4-BE49-F238E27FC236}">
                <a16:creationId xmlns:a16="http://schemas.microsoft.com/office/drawing/2014/main" id="{5B8BF3E1-641B-42A5-86E5-944EC308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8" name="reality-label-0">
            <a:extLst xmlns:a="http://schemas.openxmlformats.org/drawingml/2006/main">
              <a:ext uri="{FF2B5EF4-FFF2-40B4-BE49-F238E27FC236}">
                <a16:creationId xmlns:a16="http://schemas.microsoft.com/office/drawing/2014/main" id="{0AB4AD9F-1936-49CA-B4D1-31E05223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BESTAND</a:t>
            </a:r>
          </a:p>
        </p:txBody>
      </p:sp>
      <p:sp>
        <p:nvSpPr>
          <p:cNvPr id="9" name="reality-stat-0">
            <a:extLst xmlns:a="http://schemas.openxmlformats.org/drawingml/2006/main">
              <a:ext uri="{FF2B5EF4-FFF2-40B4-BE49-F238E27FC236}">
                <a16:creationId xmlns:a16="http://schemas.microsoft.com/office/drawing/2014/main" id="{836CAD72-BF5F-439A-B7D6-4A88DA63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15.05.2022</a:t>
            </a:r>
          </a:p>
        </p:txBody>
      </p:sp>
      <p:sp>
        <p:nvSpPr>
          <p:cNvPr id="10" name="reality-body-0">
            <a:extLst xmlns:a="http://schemas.openxmlformats.org/drawingml/2006/main">
              <a:ext uri="{FF2B5EF4-FFF2-40B4-BE49-F238E27FC236}">
                <a16:creationId xmlns:a16="http://schemas.microsoft.com/office/drawing/2014/main" id="{648F92E6-69B2-4F9A-8D68-B547EC10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Amtliche Zensus-Miete im lokalen Wohnungsbestand</a:t>
            </a:r>
          </a:p>
        </p:txBody>
      </p:sp>
      <p:sp>
        <p:nvSpPr>
          <p:cNvPr id="11" name="accent-1">
            <a:extLst xmlns:a="http://schemas.openxmlformats.org/drawingml/2006/main">
              <a:ext uri="{FF2B5EF4-FFF2-40B4-BE49-F238E27FC236}">
                <a16:creationId xmlns:a16="http://schemas.microsoft.com/office/drawing/2014/main" id="{2EC37963-11E0-45E7-8789-DF272026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BFF"/>
          </a:solidFill>
          <a:ln xmlns:a="http://schemas.openxmlformats.org/drawingml/2006/main" w="0">
            <a:solidFill>
              <a:srgbClr val="2D5BFF"/>
            </a:solidFill>
            <a:prstDash val="solid"/>
          </a:ln>
        </p:spPr>
      </p:sp>
      <p:sp>
        <p:nvSpPr>
          <p:cNvPr id="12" name="reality-label-1">
            <a:extLst xmlns:a="http://schemas.openxmlformats.org/drawingml/2006/main">
              <a:ext uri="{FF2B5EF4-FFF2-40B4-BE49-F238E27FC236}">
                <a16:creationId xmlns:a16="http://schemas.microsoft.com/office/drawing/2014/main" id="{86477400-0364-418E-89DD-8357BF1B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ANGEBOT</a:t>
            </a:r>
          </a:p>
        </p:txBody>
      </p:sp>
      <p:sp>
        <p:nvSpPr>
          <p:cNvPr id="13" name="reality-stat-1">
            <a:extLst xmlns:a="http://schemas.openxmlformats.org/drawingml/2006/main">
              <a:ext uri="{FF2B5EF4-FFF2-40B4-BE49-F238E27FC236}">
                <a16:creationId xmlns:a16="http://schemas.microsoft.com/office/drawing/2014/main" id="{9C31B26C-9FF1-4026-96F1-3CFA8657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4" name="reality-body-1">
            <a:extLst xmlns:a="http://schemas.openxmlformats.org/drawingml/2006/main">
              <a:ext uri="{FF2B5EF4-FFF2-40B4-BE49-F238E27FC236}">
                <a16:creationId xmlns:a16="http://schemas.microsoft.com/office/drawing/2014/main" id="{E4D71CD3-15BE-4AC7-91D7-DCF614E0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GREIX-Median aktueller Inserate im lokalen Markt</a:t>
            </a:r>
          </a:p>
        </p:txBody>
      </p:sp>
      <p:sp>
        <p:nvSpPr>
          <p:cNvPr id="15" name="accent-2">
            <a:extLst xmlns:a="http://schemas.openxmlformats.org/drawingml/2006/main">
              <a:ext uri="{FF2B5EF4-FFF2-40B4-BE49-F238E27FC236}">
                <a16:creationId xmlns:a16="http://schemas.microsoft.com/office/drawing/2014/main" id="{A156479A-3D15-4E55-89DF-232C4BF7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6" name="reality-label-2">
            <a:extLst xmlns:a="http://schemas.openxmlformats.org/drawingml/2006/main">
              <a:ext uri="{FF2B5EF4-FFF2-40B4-BE49-F238E27FC236}">
                <a16:creationId xmlns:a16="http://schemas.microsoft.com/office/drawing/2014/main" id="{A352DE9D-41C9-45FB-8B70-A9EA637E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PERSÖNLICH</a:t>
            </a:r>
          </a:p>
        </p:txBody>
      </p:sp>
      <p:sp>
        <p:nvSpPr>
          <p:cNvPr id="17" name="reality-stat-2">
            <a:extLst xmlns:a="http://schemas.openxmlformats.org/drawingml/2006/main">
              <a:ext uri="{FF2B5EF4-FFF2-40B4-BE49-F238E27FC236}">
                <a16:creationId xmlns:a16="http://schemas.microsoft.com/office/drawing/2014/main" id="{50BA2036-C596-4974-B3BB-36281496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Deine Miete</a:t>
            </a:r>
          </a:p>
        </p:txBody>
      </p:sp>
      <p:sp>
        <p:nvSpPr>
          <p:cNvPr id="18" name="reality-body-2">
            <a:extLst xmlns:a="http://schemas.openxmlformats.org/drawingml/2006/main">
              <a:ext uri="{FF2B5EF4-FFF2-40B4-BE49-F238E27FC236}">
                <a16:creationId xmlns:a16="http://schemas.microsoft.com/office/drawing/2014/main" id="{6DBBC3B1-681D-4797-A242-51AB12D9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Vertrag, Wohnfläche und Haushaltsnettoeinkommen</a:t>
            </a:r>
          </a:p>
        </p:txBody>
      </p:sp>
      <p:sp>
        <p:nvSpPr>
          <p:cNvPr id="19" name="hook-band">
            <a:extLst xmlns:a="http://schemas.openxmlformats.org/drawingml/2006/main">
              <a:ext uri="{FF2B5EF4-FFF2-40B4-BE49-F238E27FC236}">
                <a16:creationId xmlns:a16="http://schemas.microsoft.com/office/drawing/2014/main" id="{BDB4896C-CB8C-4F7D-8BA5-563B66C4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11049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20" name="hook-copy">
            <a:extLst xmlns:a="http://schemas.openxmlformats.org/drawingml/2006/main">
              <a:ext uri="{FF2B5EF4-FFF2-40B4-BE49-F238E27FC236}">
                <a16:creationId xmlns:a16="http://schemas.microsoft.com/office/drawing/2014/main" id="{FE4FAEEC-A005-4EE8-B3F0-5826E151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10572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MietChecks USP: Der Umzugsaufschlag quantifiziert die Lücke – mit Datenstand, Marktstreuung und Modellunsicherheit.</a:t>
            </a:r>
          </a:p>
        </p:txBody>
      </p:sp>
    </p:spTree>
    <p:extLst>
      <p:ext uri="{BB962C8B-B14F-4D97-AF65-F5344CB8AC3E}">
        <p14:creationId xmlns:p14="http://schemas.microsoft.com/office/powerpoint/2010/main" val="12155545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344A33AD-324D-4C12-95F8-5F07399A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Der USP ist die Kombination, nicht der Preisrechner</a:t>
            </a:r>
          </a:p>
        </p:txBody>
      </p:sp>
      <p:sp>
        <p:nvSpPr>
          <p:cNvPr id="2" name="source-3">
            <a:extLst xmlns:a="http://schemas.openxmlformats.org/drawingml/2006/main">
              <a:ext uri="{FF2B5EF4-FFF2-40B4-BE49-F238E27FC236}">
                <a16:creationId xmlns:a16="http://schemas.microsoft.com/office/drawing/2014/main" id="{FD35377B-B123-460E-962F-5B9DAF1E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Quellen: öffentliche Produktseiten von Destatis, Immowelt, Immolyze und kommunalen Mietspiegeln; Audit vom 16.07.2026.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C4BC6862-134C-460B-9F5D-A7672C0D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4" name="competitor-lead">
            <a:extLst xmlns:a="http://schemas.openxmlformats.org/drawingml/2006/main">
              <a:ext uri="{FF2B5EF4-FFF2-40B4-BE49-F238E27FC236}">
                <a16:creationId xmlns:a16="http://schemas.microsoft.com/office/drawing/2014/main" id="{94B49650-A259-48DB-B881-89A3164C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Kein geprüftes Angebot verbindet alle fünf Bausteine in einer quellenoffenen Anwendung.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457200" y="2133600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24150"/>
                <a:gridCol w="1333500"/>
                <a:gridCol w="1333500"/>
                <a:gridCol w="1485900"/>
                <a:gridCol w="1809750"/>
                <a:gridCol w="2362200"/>
              </a:tblGrid>
              <a:tr h="5905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Angebot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Bestand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aktuell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persönlich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Unsicherheit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offene ML-Methode</a:t>
                      </a:r>
                    </a:p>
                  </a:txBody>
                  <a:tcPr marL="95250" marR="95250" marT="95250" marB="95250">
                    <a:solidFill>
                      <a:srgbClr val="13223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Destatis-Vergleich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Immowelt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Immolyze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unklar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nicht offen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Kommunale Mietspiegel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2238"/>
                          </a:solidFill>
                        </a:rPr>
                        <a:t>unterschiedlich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MietCheck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B6E4F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FF3E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07290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itle-4">
            <a:extLst xmlns:a="http://schemas.openxmlformats.org/drawingml/2006/main">
              <a:ext uri="{FF2B5EF4-FFF2-40B4-BE49-F238E27FC236}">
                <a16:creationId xmlns:a16="http://schemas.microsoft.com/office/drawing/2014/main" id="{479E83E3-46DB-47E6-AE19-B892EB19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2,06 Mio. Rasterwerte – mit prüfbarer Herkunft</a:t>
            </a:r>
          </a:p>
        </p:txBody>
      </p:sp>
      <p:sp>
        <p:nvSpPr>
          <p:cNvPr id="2" name="source-4">
            <a:extLst xmlns:a="http://schemas.openxmlformats.org/drawingml/2006/main">
              <a:ext uri="{FF2B5EF4-FFF2-40B4-BE49-F238E27FC236}">
                <a16:creationId xmlns:a16="http://schemas.microsoft.com/office/drawing/2014/main" id="{23BB8AD7-5A80-4465-B404-E09345CB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Quellen: Statistische Ämter des Bundes und der Länder, Zensus 2022; Kiel Institut / VALUE; eigene Verarbeitung.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F9C5ED72-C4EE-4CAA-A9AB-55C3663D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4" name="data-lead">
            <a:extLst xmlns:a="http://schemas.openxmlformats.org/drawingml/2006/main">
              <a:ext uri="{FF2B5EF4-FFF2-40B4-BE49-F238E27FC236}">
                <a16:creationId xmlns:a16="http://schemas.microsoft.com/office/drawing/2014/main" id="{F5B55161-7B4F-45A2-BAD8-A4B961CA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Sieben Zensusprodukte bilden die ML-Basis; GREIX bleibt als aktuelle Marktquelle methodisch getrennt.</a:t>
            </a:r>
          </a:p>
        </p:txBody>
      </p:sp>
      <p:sp>
        <p:nvSpPr>
          <p:cNvPr id="5" name="data-panel-0">
            <a:extLst xmlns:a="http://schemas.openxmlformats.org/drawingml/2006/main">
              <a:ext uri="{FF2B5EF4-FFF2-40B4-BE49-F238E27FC236}">
                <a16:creationId xmlns:a16="http://schemas.microsoft.com/office/drawing/2014/main" id="{43F8DFC6-D341-44CA-A385-9891837F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6" name="data-stat-0">
            <a:extLst xmlns:a="http://schemas.openxmlformats.org/drawingml/2006/main">
              <a:ext uri="{FF2B5EF4-FFF2-40B4-BE49-F238E27FC236}">
                <a16:creationId xmlns:a16="http://schemas.microsoft.com/office/drawing/2014/main" id="{885472D8-CE89-4105-A871-5BC56556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2,06 Mio.</a:t>
            </a:r>
          </a:p>
        </p:txBody>
      </p:sp>
      <p:sp>
        <p:nvSpPr>
          <p:cNvPr id="7" name="data-label-0">
            <a:extLst xmlns:a="http://schemas.openxmlformats.org/drawingml/2006/main">
              <a:ext uri="{FF2B5EF4-FFF2-40B4-BE49-F238E27FC236}">
                <a16:creationId xmlns:a16="http://schemas.microsoft.com/office/drawing/2014/main" id="{4FACC127-15CB-40D4-BEA2-DD2932FF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Modellzeilen</a:t>
            </a:r>
          </a:p>
        </p:txBody>
      </p:sp>
      <p:sp>
        <p:nvSpPr>
          <p:cNvPr id="8" name="data-detail-0">
            <a:extLst xmlns:a="http://schemas.openxmlformats.org/drawingml/2006/main">
              <a:ext uri="{FF2B5EF4-FFF2-40B4-BE49-F238E27FC236}">
                <a16:creationId xmlns:a16="http://schemas.microsoft.com/office/drawing/2014/main" id="{E71A81B2-3B44-4978-ACD3-F30C10D2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Miete × Gebäudealter × Wohnungsgröße</a:t>
            </a:r>
          </a:p>
        </p:txBody>
      </p:sp>
      <p:sp>
        <p:nvSpPr>
          <p:cNvPr id="9" name="data-panel-1">
            <a:extLst xmlns:a="http://schemas.openxmlformats.org/drawingml/2006/main">
              <a:ext uri="{FF2B5EF4-FFF2-40B4-BE49-F238E27FC236}">
                <a16:creationId xmlns:a16="http://schemas.microsoft.com/office/drawing/2014/main" id="{E56B163E-97E6-4FA2-993B-B9C56114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10" name="data-stat-1">
            <a:extLst xmlns:a="http://schemas.openxmlformats.org/drawingml/2006/main">
              <a:ext uri="{FF2B5EF4-FFF2-40B4-BE49-F238E27FC236}">
                <a16:creationId xmlns:a16="http://schemas.microsoft.com/office/drawing/2014/main" id="{F8B0A15A-AC10-4328-934C-7CDA0534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1,18 Mio.</a:t>
            </a:r>
          </a:p>
        </p:txBody>
      </p:sp>
      <p:sp>
        <p:nvSpPr>
          <p:cNvPr id="11" name="data-label-1">
            <a:extLst xmlns:a="http://schemas.openxmlformats.org/drawingml/2006/main">
              <a:ext uri="{FF2B5EF4-FFF2-40B4-BE49-F238E27FC236}">
                <a16:creationId xmlns:a16="http://schemas.microsoft.com/office/drawing/2014/main" id="{547FC88A-99B1-49B4-9986-62DAAC8E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100-m-Gitter</a:t>
            </a:r>
          </a:p>
        </p:txBody>
      </p:sp>
      <p:sp>
        <p:nvSpPr>
          <p:cNvPr id="12" name="data-detail-1">
            <a:extLst xmlns:a="http://schemas.openxmlformats.org/drawingml/2006/main">
              <a:ext uri="{FF2B5EF4-FFF2-40B4-BE49-F238E27FC236}">
                <a16:creationId xmlns:a16="http://schemas.microsoft.com/office/drawing/2014/main" id="{0ABC5800-94B7-460D-A359-156D9A60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kleinräumige amtliche Zensuszellen</a:t>
            </a:r>
          </a:p>
        </p:txBody>
      </p:sp>
      <p:sp>
        <p:nvSpPr>
          <p:cNvPr id="13" name="data-panel-2">
            <a:extLst xmlns:a="http://schemas.openxmlformats.org/drawingml/2006/main">
              <a:ext uri="{FF2B5EF4-FFF2-40B4-BE49-F238E27FC236}">
                <a16:creationId xmlns:a16="http://schemas.microsoft.com/office/drawing/2014/main" id="{70EB243C-7509-43F7-8EB9-B275A0D6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14" name="data-stat-2">
            <a:extLst xmlns:a="http://schemas.openxmlformats.org/drawingml/2006/main">
              <a:ext uri="{FF2B5EF4-FFF2-40B4-BE49-F238E27FC236}">
                <a16:creationId xmlns:a16="http://schemas.microsoft.com/office/drawing/2014/main" id="{85DB4DD1-03DC-4C08-9114-94DE0C0B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5" name="data-label-2">
            <a:extLst xmlns:a="http://schemas.openxmlformats.org/drawingml/2006/main">
              <a:ext uri="{FF2B5EF4-FFF2-40B4-BE49-F238E27FC236}">
                <a16:creationId xmlns:a16="http://schemas.microsoft.com/office/drawing/2014/main" id="{E7698AAA-5C32-418E-BDCD-4ACE967B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aktuelle Referenz</a:t>
            </a:r>
          </a:p>
        </p:txBody>
      </p:sp>
      <p:sp>
        <p:nvSpPr>
          <p:cNvPr id="16" name="data-detail-2">
            <a:extLst xmlns:a="http://schemas.openxmlformats.org/drawingml/2006/main">
              <a:ext uri="{FF2B5EF4-FFF2-40B4-BE49-F238E27FC236}">
                <a16:creationId xmlns:a16="http://schemas.microsoft.com/office/drawing/2014/main" id="{9F8850F0-C8EB-43FA-B23C-0A304745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37 lokale GREIX-Märkte + Deutschland</a:t>
            </a:r>
          </a:p>
        </p:txBody>
      </p:sp>
      <p:cxnSp>
        <p:nvCxnSpPr>
          <p:cNvPr id="38" name="provenance-line"/>
          <p:cNvCxnSpPr/>
          <p:nvPr/>
        </p:nvCxnSpPr>
        <p:spPr>
          <a:xfrm xmlns:a="http://schemas.openxmlformats.org/drawingml/2006/main">
            <a:off x="704850" y="5391150"/>
            <a:ext cx="10287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sp>
        <p:nvSpPr>
          <p:cNvPr id="18" name="prov-1">
            <a:extLst xmlns:a="http://schemas.openxmlformats.org/drawingml/2006/main">
              <a:ext uri="{FF2B5EF4-FFF2-40B4-BE49-F238E27FC236}">
                <a16:creationId xmlns:a16="http://schemas.microsoft.com/office/drawing/2014/main" id="{1B5DF4B0-D18B-4788-A0CD-41C5EAF1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Offizielle URL</a:t>
            </a:r>
          </a:p>
        </p:txBody>
      </p:sp>
      <p:sp>
        <p:nvSpPr>
          <p:cNvPr id="19" name="prov-2">
            <a:extLst xmlns:a="http://schemas.openxmlformats.org/drawingml/2006/main">
              <a:ext uri="{FF2B5EF4-FFF2-40B4-BE49-F238E27FC236}">
                <a16:creationId xmlns:a16="http://schemas.microsoft.com/office/drawing/2014/main" id="{69671826-0EB7-49E8-883B-49117365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SHA-256-Manifest</a:t>
            </a:r>
          </a:p>
        </p:txBody>
      </p:sp>
      <p:sp>
        <p:nvSpPr>
          <p:cNvPr id="20" name="prov-3">
            <a:extLst xmlns:a="http://schemas.openxmlformats.org/drawingml/2006/main">
              <a:ext uri="{FF2B5EF4-FFF2-40B4-BE49-F238E27FC236}">
                <a16:creationId xmlns:a16="http://schemas.microsoft.com/office/drawing/2014/main" id="{AAC86265-B275-4BA5-ACEF-5D2F7762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Datenverträge</a:t>
            </a:r>
          </a:p>
        </p:txBody>
      </p:sp>
      <p:sp>
        <p:nvSpPr>
          <p:cNvPr id="21" name="prov-4">
            <a:extLst xmlns:a="http://schemas.openxmlformats.org/drawingml/2006/main">
              <a:ext uri="{FF2B5EF4-FFF2-40B4-BE49-F238E27FC236}">
                <a16:creationId xmlns:a16="http://schemas.microsoft.com/office/drawing/2014/main" id="{C7204973-CECE-4CF0-A2D3-EAF337FA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6260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reproduzierbarer Build</a:t>
            </a:r>
          </a:p>
        </p:txBody>
      </p:sp>
    </p:spTree>
    <p:extLst>
      <p:ext uri="{BB962C8B-B14F-4D97-AF65-F5344CB8AC3E}">
        <p14:creationId xmlns:p14="http://schemas.microsoft.com/office/powerpoint/2010/main" val="15847015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itle-5">
            <a:extLst xmlns:a="http://schemas.openxmlformats.org/drawingml/2006/main">
              <a:ext uri="{FF2B5EF4-FFF2-40B4-BE49-F238E27FC236}">
                <a16:creationId xmlns:a16="http://schemas.microsoft.com/office/drawing/2014/main" id="{F31215A4-CE5D-4213-9F95-3C35F1DC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QUA³CK ist eine Nachweiskette – kein Inhaltsverzeichnis</a:t>
            </a:r>
          </a:p>
        </p:txBody>
      </p:sp>
      <p:sp>
        <p:nvSpPr>
          <p:cNvPr id="2" name="source-5">
            <a:extLst xmlns:a="http://schemas.openxmlformats.org/drawingml/2006/main">
              <a:ext uri="{FF2B5EF4-FFF2-40B4-BE49-F238E27FC236}">
                <a16:creationId xmlns:a16="http://schemas.microsoft.com/office/drawing/2014/main" id="{87591DCB-7CEA-4DB3-888A-C76DC9F4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E33FCFC7-5863-42C5-B894-ED86D5F9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4" name="qua-lead">
            <a:extLst xmlns:a="http://schemas.openxmlformats.org/drawingml/2006/main">
              <a:ext uri="{FF2B5EF4-FFF2-40B4-BE49-F238E27FC236}">
                <a16:creationId xmlns:a16="http://schemas.microsoft.com/office/drawing/2014/main" id="{8809B4C2-632F-4C95-99E8-2A1F650F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Jede Phase endet in versionierten Reports, ausgeführten Notebooks und einem überprüfbaren Gate.</a:t>
            </a:r>
          </a:p>
        </p:txBody>
      </p:sp>
      <p:cxnSp>
        <p:nvCxnSpPr>
          <p:cNvPr id="40" name="qua-line"/>
          <p:cNvCxnSpPr/>
          <p:nvPr/>
        </p:nvCxnSpPr>
        <p:spPr>
          <a:xfrm xmlns:a="http://schemas.openxmlformats.org/drawingml/2006/main">
            <a:off x="819150" y="3105150"/>
            <a:ext cx="100012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E0E8"/>
            </a:solidFill>
            <a:prstDash val="solid"/>
          </a:ln>
        </p:spPr>
      </p:cxnSp>
      <p:sp>
        <p:nvSpPr>
          <p:cNvPr id="6" name="qua-node-0">
            <a:extLst xmlns:a="http://schemas.openxmlformats.org/drawingml/2006/main">
              <a:ext uri="{FF2B5EF4-FFF2-40B4-BE49-F238E27FC236}">
                <a16:creationId xmlns:a16="http://schemas.microsoft.com/office/drawing/2014/main" id="{A6B791C4-9845-4290-8ACF-EF22879C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7" name="qua-code-0">
            <a:extLst xmlns:a="http://schemas.openxmlformats.org/drawingml/2006/main">
              <a:ext uri="{FF2B5EF4-FFF2-40B4-BE49-F238E27FC236}">
                <a16:creationId xmlns:a16="http://schemas.microsoft.com/office/drawing/2014/main" id="{7C26EFA0-BDA3-43AA-81D7-01B95D59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</a:t>
            </a:r>
          </a:p>
        </p:txBody>
      </p:sp>
      <p:sp>
        <p:nvSpPr>
          <p:cNvPr id="8" name="qua-title-0">
            <a:extLst xmlns:a="http://schemas.openxmlformats.org/drawingml/2006/main">
              <a:ext uri="{FF2B5EF4-FFF2-40B4-BE49-F238E27FC236}">
                <a16:creationId xmlns:a16="http://schemas.microsoft.com/office/drawing/2014/main" id="{4E37A3DC-17D3-4341-9FFE-906D0307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Qualität</a:t>
            </a:r>
          </a:p>
        </p:txBody>
      </p:sp>
      <p:sp>
        <p:nvSpPr>
          <p:cNvPr id="9" name="qua-body-0">
            <a:extLst xmlns:a="http://schemas.openxmlformats.org/drawingml/2006/main">
              <a:ext uri="{FF2B5EF4-FFF2-40B4-BE49-F238E27FC236}">
                <a16:creationId xmlns:a16="http://schemas.microsoft.com/office/drawing/2014/main" id="{8C924F8E-A376-410F-BF0A-BFB591A7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Hashes, Grain,
Missingness</a:t>
            </a:r>
          </a:p>
        </p:txBody>
      </p:sp>
      <p:sp>
        <p:nvSpPr>
          <p:cNvPr id="10" name="qua-node-1">
            <a:extLst xmlns:a="http://schemas.openxmlformats.org/drawingml/2006/main">
              <a:ext uri="{FF2B5EF4-FFF2-40B4-BE49-F238E27FC236}">
                <a16:creationId xmlns:a16="http://schemas.microsoft.com/office/drawing/2014/main" id="{808437AE-DA35-45CF-AF1E-CB15CD23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1" name="qua-code-1">
            <a:extLst xmlns:a="http://schemas.openxmlformats.org/drawingml/2006/main">
              <a:ext uri="{FF2B5EF4-FFF2-40B4-BE49-F238E27FC236}">
                <a16:creationId xmlns:a16="http://schemas.microsoft.com/office/drawing/2014/main" id="{25213DBE-1ED6-49AA-B49D-35D5AE79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</a:t>
            </a:r>
          </a:p>
        </p:txBody>
      </p:sp>
      <p:sp>
        <p:nvSpPr>
          <p:cNvPr id="12" name="qua-title-1">
            <a:extLst xmlns:a="http://schemas.openxmlformats.org/drawingml/2006/main">
              <a:ext uri="{FF2B5EF4-FFF2-40B4-BE49-F238E27FC236}">
                <a16:creationId xmlns:a16="http://schemas.microsoft.com/office/drawing/2014/main" id="{6B78B685-2F54-41B1-AD52-EB07E007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Understanding</a:t>
            </a:r>
          </a:p>
        </p:txBody>
      </p:sp>
      <p:sp>
        <p:nvSpPr>
          <p:cNvPr id="13" name="qua-body-1">
            <a:extLst xmlns:a="http://schemas.openxmlformats.org/drawingml/2006/main">
              <a:ext uri="{FF2B5EF4-FFF2-40B4-BE49-F238E27FC236}">
                <a16:creationId xmlns:a16="http://schemas.microsoft.com/office/drawing/2014/main" id="{5EC54B92-8AAA-42C4-8286-6C3225F9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EDA, Raum,
Zielverteilung</a:t>
            </a:r>
          </a:p>
        </p:txBody>
      </p:sp>
      <p:sp>
        <p:nvSpPr>
          <p:cNvPr id="14" name="qua-node-2">
            <a:extLst xmlns:a="http://schemas.openxmlformats.org/drawingml/2006/main">
              <a:ext uri="{FF2B5EF4-FFF2-40B4-BE49-F238E27FC236}">
                <a16:creationId xmlns:a16="http://schemas.microsoft.com/office/drawing/2014/main" id="{201EDF1B-2880-4CEE-95FC-BEA86D9A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5" name="qua-code-2">
            <a:extLst xmlns:a="http://schemas.openxmlformats.org/drawingml/2006/main">
              <a:ext uri="{FF2B5EF4-FFF2-40B4-BE49-F238E27FC236}">
                <a16:creationId xmlns:a16="http://schemas.microsoft.com/office/drawing/2014/main" id="{F72D5A98-7002-45F6-84BF-3F7975C1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A¹</a:t>
            </a:r>
          </a:p>
        </p:txBody>
      </p:sp>
      <p:sp>
        <p:nvSpPr>
          <p:cNvPr id="16" name="qua-title-2">
            <a:extLst xmlns:a="http://schemas.openxmlformats.org/drawingml/2006/main">
              <a:ext uri="{FF2B5EF4-FFF2-40B4-BE49-F238E27FC236}">
                <a16:creationId xmlns:a16="http://schemas.microsoft.com/office/drawing/2014/main" id="{1C6CCCF7-D0B3-4299-87D2-952D6ED5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Auswahl</a:t>
            </a:r>
          </a:p>
        </p:txBody>
      </p:sp>
      <p:sp>
        <p:nvSpPr>
          <p:cNvPr id="17" name="qua-body-2">
            <a:extLst xmlns:a="http://schemas.openxmlformats.org/drawingml/2006/main">
              <a:ext uri="{FF2B5EF4-FFF2-40B4-BE49-F238E27FC236}">
                <a16:creationId xmlns:a16="http://schemas.microsoft.com/office/drawing/2014/main" id="{F1418D42-A8AB-4E2F-8DB1-F15D5A23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5 Modelle,
Spatial CV</a:t>
            </a:r>
          </a:p>
        </p:txBody>
      </p:sp>
      <p:sp>
        <p:nvSpPr>
          <p:cNvPr id="18" name="qua-node-3">
            <a:extLst xmlns:a="http://schemas.openxmlformats.org/drawingml/2006/main">
              <a:ext uri="{FF2B5EF4-FFF2-40B4-BE49-F238E27FC236}">
                <a16:creationId xmlns:a16="http://schemas.microsoft.com/office/drawing/2014/main" id="{196F1E35-22B0-4895-8D96-EE699AD0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9" name="qua-code-3">
            <a:extLst xmlns:a="http://schemas.openxmlformats.org/drawingml/2006/main">
              <a:ext uri="{FF2B5EF4-FFF2-40B4-BE49-F238E27FC236}">
                <a16:creationId xmlns:a16="http://schemas.microsoft.com/office/drawing/2014/main" id="{045A54CD-0B27-4DA5-BE39-50E0DBDD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A²</a:t>
            </a:r>
          </a:p>
        </p:txBody>
      </p:sp>
      <p:sp>
        <p:nvSpPr>
          <p:cNvPr id="20" name="qua-title-3">
            <a:extLst xmlns:a="http://schemas.openxmlformats.org/drawingml/2006/main">
              <a:ext uri="{FF2B5EF4-FFF2-40B4-BE49-F238E27FC236}">
                <a16:creationId xmlns:a16="http://schemas.microsoft.com/office/drawing/2014/main" id="{0D1D3419-BF59-428C-89A1-F9CF4A10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Anpassung</a:t>
            </a:r>
          </a:p>
        </p:txBody>
      </p:sp>
      <p:sp>
        <p:nvSpPr>
          <p:cNvPr id="21" name="qua-body-3">
            <a:extLst xmlns:a="http://schemas.openxmlformats.org/drawingml/2006/main">
              <a:ext uri="{FF2B5EF4-FFF2-40B4-BE49-F238E27FC236}">
                <a16:creationId xmlns:a16="http://schemas.microsoft.com/office/drawing/2014/main" id="{D9760C0A-FFCA-4F96-B62B-E98234AF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8 Tunings,
4 Ablationen</a:t>
            </a:r>
          </a:p>
        </p:txBody>
      </p:sp>
      <p:sp>
        <p:nvSpPr>
          <p:cNvPr id="22" name="qua-node-4">
            <a:extLst xmlns:a="http://schemas.openxmlformats.org/drawingml/2006/main">
              <a:ext uri="{FF2B5EF4-FFF2-40B4-BE49-F238E27FC236}">
                <a16:creationId xmlns:a16="http://schemas.microsoft.com/office/drawing/2014/main" id="{B2E0407D-9BA0-4FAB-94CD-53CCE42D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23" name="qua-code-4">
            <a:extLst xmlns:a="http://schemas.openxmlformats.org/drawingml/2006/main">
              <a:ext uri="{FF2B5EF4-FFF2-40B4-BE49-F238E27FC236}">
                <a16:creationId xmlns:a16="http://schemas.microsoft.com/office/drawing/2014/main" id="{7B1A4B9A-CC75-4B22-9F00-D0146535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A³</a:t>
            </a:r>
          </a:p>
        </p:txBody>
      </p:sp>
      <p:sp>
        <p:nvSpPr>
          <p:cNvPr id="24" name="qua-title-4">
            <a:extLst xmlns:a="http://schemas.openxmlformats.org/drawingml/2006/main">
              <a:ext uri="{FF2B5EF4-FFF2-40B4-BE49-F238E27FC236}">
                <a16:creationId xmlns:a16="http://schemas.microsoft.com/office/drawing/2014/main" id="{59D1F001-D476-4126-9BD5-E439B520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Anwendung</a:t>
            </a:r>
          </a:p>
        </p:txBody>
      </p:sp>
      <p:sp>
        <p:nvSpPr>
          <p:cNvPr id="25" name="qua-body-4">
            <a:extLst xmlns:a="http://schemas.openxmlformats.org/drawingml/2006/main">
              <a:ext uri="{FF2B5EF4-FFF2-40B4-BE49-F238E27FC236}">
                <a16:creationId xmlns:a16="http://schemas.microsoft.com/office/drawing/2014/main" id="{3AD0DC6F-2EA8-49B9-A369-2B1EF9DC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Artefakt,
Kalibrierung</a:t>
            </a:r>
          </a:p>
        </p:txBody>
      </p:sp>
      <p:sp>
        <p:nvSpPr>
          <p:cNvPr id="26" name="qua-node-5">
            <a:extLst xmlns:a="http://schemas.openxmlformats.org/drawingml/2006/main">
              <a:ext uri="{FF2B5EF4-FFF2-40B4-BE49-F238E27FC236}">
                <a16:creationId xmlns:a16="http://schemas.microsoft.com/office/drawing/2014/main" id="{C90F6A88-740A-4BA2-AFBA-EA96DC3A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5BFF"/>
          </a:solidFill>
          <a:ln xmlns:a="http://schemas.openxmlformats.org/drawingml/2006/main" w="0">
            <a:solidFill>
              <a:srgbClr val="2D5BFF"/>
            </a:solidFill>
            <a:prstDash val="solid"/>
          </a:ln>
        </p:spPr>
      </p:sp>
      <p:sp>
        <p:nvSpPr>
          <p:cNvPr id="27" name="qua-code-5">
            <a:extLst xmlns:a="http://schemas.openxmlformats.org/drawingml/2006/main">
              <a:ext uri="{FF2B5EF4-FFF2-40B4-BE49-F238E27FC236}">
                <a16:creationId xmlns:a16="http://schemas.microsoft.com/office/drawing/2014/main" id="{99509251-8305-479A-A33D-43955CB2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</a:t>
            </a:r>
          </a:p>
        </p:txBody>
      </p:sp>
      <p:sp>
        <p:nvSpPr>
          <p:cNvPr id="28" name="qua-title-5">
            <a:extLst xmlns:a="http://schemas.openxmlformats.org/drawingml/2006/main">
              <a:ext uri="{FF2B5EF4-FFF2-40B4-BE49-F238E27FC236}">
                <a16:creationId xmlns:a16="http://schemas.microsoft.com/office/drawing/2014/main" id="{E47FA6E2-E90F-408A-9575-BCF318DF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Comparing</a:t>
            </a:r>
          </a:p>
        </p:txBody>
      </p:sp>
      <p:sp>
        <p:nvSpPr>
          <p:cNvPr id="29" name="qua-body-5">
            <a:extLst xmlns:a="http://schemas.openxmlformats.org/drawingml/2006/main">
              <a:ext uri="{FF2B5EF4-FFF2-40B4-BE49-F238E27FC236}">
                <a16:creationId xmlns:a16="http://schemas.microsoft.com/office/drawing/2014/main" id="{49677FCC-B148-40BE-9C91-80148547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finaler Test,
Subgruppen</a:t>
            </a:r>
          </a:p>
        </p:txBody>
      </p:sp>
      <p:sp>
        <p:nvSpPr>
          <p:cNvPr id="30" name="qua-node-6">
            <a:extLst xmlns:a="http://schemas.openxmlformats.org/drawingml/2006/main">
              <a:ext uri="{FF2B5EF4-FFF2-40B4-BE49-F238E27FC236}">
                <a16:creationId xmlns:a16="http://schemas.microsoft.com/office/drawing/2014/main" id="{0305275A-F453-476A-9105-588555D6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5BFF"/>
          </a:solidFill>
          <a:ln xmlns:a="http://schemas.openxmlformats.org/drawingml/2006/main" w="0">
            <a:solidFill>
              <a:srgbClr val="2D5BFF"/>
            </a:solidFill>
            <a:prstDash val="solid"/>
          </a:ln>
        </p:spPr>
      </p:sp>
      <p:sp>
        <p:nvSpPr>
          <p:cNvPr id="31" name="qua-code-6">
            <a:extLst xmlns:a="http://schemas.openxmlformats.org/drawingml/2006/main">
              <a:ext uri="{FF2B5EF4-FFF2-40B4-BE49-F238E27FC236}">
                <a16:creationId xmlns:a16="http://schemas.microsoft.com/office/drawing/2014/main" id="{6B6AE767-95A8-4218-A02B-002AA112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</a:t>
            </a:r>
          </a:p>
        </p:txBody>
      </p:sp>
      <p:sp>
        <p:nvSpPr>
          <p:cNvPr id="32" name="qua-title-6">
            <a:extLst xmlns:a="http://schemas.openxmlformats.org/drawingml/2006/main">
              <a:ext uri="{FF2B5EF4-FFF2-40B4-BE49-F238E27FC236}">
                <a16:creationId xmlns:a16="http://schemas.microsoft.com/office/drawing/2014/main" id="{E55CF6C3-51B2-449D-BDBF-B1DBB7BD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Knowledge</a:t>
            </a:r>
          </a:p>
        </p:txBody>
      </p:sp>
      <p:sp>
        <p:nvSpPr>
          <p:cNvPr id="33" name="qua-body-6">
            <a:extLst xmlns:a="http://schemas.openxmlformats.org/drawingml/2006/main">
              <a:ext uri="{FF2B5EF4-FFF2-40B4-BE49-F238E27FC236}">
                <a16:creationId xmlns:a16="http://schemas.microsoft.com/office/drawing/2014/main" id="{6481681E-1E60-486E-BE14-38C2E3D2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App, USP,
Umzugsaufschlag</a:t>
            </a:r>
          </a:p>
        </p:txBody>
      </p:sp>
      <p:sp>
        <p:nvSpPr>
          <p:cNvPr id="34" name="qua-proof">
            <a:extLst xmlns:a="http://schemas.openxmlformats.org/drawingml/2006/main">
              <a:ext uri="{FF2B5EF4-FFF2-40B4-BE49-F238E27FC236}">
                <a16:creationId xmlns:a16="http://schemas.microsoft.com/office/drawing/2014/main" id="{297E1E9A-CC61-4996-9E73-BE9800AE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FF"/>
          </a:solidFill>
          <a:ln xmlns:a="http://schemas.openxmlformats.org/drawingml/2006/main" w="0">
            <a:solidFill>
              <a:srgbClr val="E7ECFF"/>
            </a:solidFill>
            <a:prstDash val="solid"/>
          </a:ln>
        </p:spPr>
      </p:sp>
      <p:sp>
        <p:nvSpPr>
          <p:cNvPr id="35" name="qua-proof-text">
            <a:extLst xmlns:a="http://schemas.openxmlformats.org/drawingml/2006/main">
              <a:ext uri="{FF2B5EF4-FFF2-40B4-BE49-F238E27FC236}">
                <a16:creationId xmlns:a16="http://schemas.microsoft.com/office/drawing/2014/main" id="{ED71B806-9F27-4B6B-89D0-0BC4C995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19725"/>
            <a:ext cx="8801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7/7 Notebooks · 33/33 Codezellen · 0 Fehleroutputs · automatisierter Ausführungsbericht</a:t>
            </a:r>
          </a:p>
        </p:txBody>
      </p:sp>
    </p:spTree>
    <p:extLst>
      <p:ext uri="{BB962C8B-B14F-4D97-AF65-F5344CB8AC3E}">
        <p14:creationId xmlns:p14="http://schemas.microsoft.com/office/powerpoint/2010/main" val="10600549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-6">
            <a:extLst xmlns:a="http://schemas.openxmlformats.org/drawingml/2006/main">
              <a:ext uri="{FF2B5EF4-FFF2-40B4-BE49-F238E27FC236}">
                <a16:creationId xmlns:a16="http://schemas.microsoft.com/office/drawing/2014/main" id="{269CDC5D-10D1-4458-9026-7DC26ABC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Nachbarzellen dürfen den Test nicht verraten</a:t>
            </a:r>
          </a:p>
        </p:txBody>
      </p:sp>
      <p:sp>
        <p:nvSpPr>
          <p:cNvPr id="2" name="source-6">
            <a:extLst xmlns:a="http://schemas.openxmlformats.org/drawingml/2006/main">
              <a:ext uri="{FF2B5EF4-FFF2-40B4-BE49-F238E27FC236}">
                <a16:creationId xmlns:a16="http://schemas.microsoft.com/office/drawing/2014/main" id="{300A5C6B-7D67-4092-A1FA-326C55C3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5D7A9F77-30EF-4597-9262-B3742DF0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sp>
        <p:nvSpPr>
          <p:cNvPr id="4" name="spatial-lead">
            <a:extLst xmlns:a="http://schemas.openxmlformats.org/drawingml/2006/main">
              <a:ext uri="{FF2B5EF4-FFF2-40B4-BE49-F238E27FC236}">
                <a16:creationId xmlns:a16="http://schemas.microsoft.com/office/drawing/2014/main" id="{148E5136-FC5C-44F8-BE9F-736A3D0B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Deshalb gruppiert MietCheck 100-m-Zellen in 25-km-Blöcke und trennt ganze Räume.</a:t>
            </a:r>
          </a:p>
        </p:txBody>
      </p:sp>
      <p:cxnSp>
        <p:nvCxnSpPr>
          <p:cNvPr id="30" name="spatial-connector"/>
          <p:cNvCxnSpPr/>
          <p:nvPr/>
        </p:nvCxnSpPr>
        <p:spPr>
          <a:xfrm xmlns:a="http://schemas.openxmlformats.org/drawingml/2006/main">
            <a:off x="2266950" y="3867150"/>
            <a:ext cx="7658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E0E8"/>
            </a:solidFill>
            <a:prstDash val="solid"/>
          </a:ln>
        </p:spPr>
      </p:cxnSp>
      <p:sp>
        <p:nvSpPr>
          <p:cNvPr id="6" name="spatial-panel-0">
            <a:extLst xmlns:a="http://schemas.openxmlformats.org/drawingml/2006/main">
              <a:ext uri="{FF2B5EF4-FFF2-40B4-BE49-F238E27FC236}">
                <a16:creationId xmlns:a16="http://schemas.microsoft.com/office/drawing/2014/main" id="{E117E14D-B6BB-4353-B150-AB02D01F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sp>
        <p:nvSpPr>
          <p:cNvPr id="7" name="spatial-bar-0">
            <a:extLst xmlns:a="http://schemas.openxmlformats.org/drawingml/2006/main">
              <a:ext uri="{FF2B5EF4-FFF2-40B4-BE49-F238E27FC236}">
                <a16:creationId xmlns:a16="http://schemas.microsoft.com/office/drawing/2014/main" id="{C1C80CA7-9B85-435F-9C01-102CCF18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8" name="spatial-title-0">
            <a:extLst xmlns:a="http://schemas.openxmlformats.org/drawingml/2006/main">
              <a:ext uri="{FF2B5EF4-FFF2-40B4-BE49-F238E27FC236}">
                <a16:creationId xmlns:a16="http://schemas.microsoft.com/office/drawing/2014/main" id="{CD7FF3A2-A3ED-4EF2-A81A-912A8CB2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Entwicklung</a:t>
            </a:r>
          </a:p>
        </p:txBody>
      </p:sp>
      <p:sp>
        <p:nvSpPr>
          <p:cNvPr id="9" name="spatial-rows-0">
            <a:extLst xmlns:a="http://schemas.openxmlformats.org/drawingml/2006/main">
              <a:ext uri="{FF2B5EF4-FFF2-40B4-BE49-F238E27FC236}">
                <a16:creationId xmlns:a16="http://schemas.microsoft.com/office/drawing/2014/main" id="{EB3F9650-5411-4196-9016-54469753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1.518.322</a:t>
            </a:r>
          </a:p>
        </p:txBody>
      </p:sp>
      <p:sp>
        <p:nvSpPr>
          <p:cNvPr id="10" name="spatial-blocks-0">
            <a:extLst xmlns:a="http://schemas.openxmlformats.org/drawingml/2006/main">
              <a:ext uri="{FF2B5EF4-FFF2-40B4-BE49-F238E27FC236}">
                <a16:creationId xmlns:a16="http://schemas.microsoft.com/office/drawing/2014/main" id="{D717487A-3308-41DA-AA71-109D5C10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465 Raumblöcke</a:t>
            </a:r>
          </a:p>
        </p:txBody>
      </p:sp>
      <p:sp>
        <p:nvSpPr>
          <p:cNvPr id="11" name="spatial-body-0">
            <a:extLst xmlns:a="http://schemas.openxmlformats.org/drawingml/2006/main">
              <a:ext uri="{FF2B5EF4-FFF2-40B4-BE49-F238E27FC236}">
                <a16:creationId xmlns:a16="http://schemas.microsoft.com/office/drawing/2014/main" id="{CF315AAF-FF0C-46F1-94BF-C41396B3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Modellwahl, Tuning und Featureentscheidungen</a:t>
            </a:r>
          </a:p>
        </p:txBody>
      </p:sp>
      <p:sp>
        <p:nvSpPr>
          <p:cNvPr id="12" name="spatial-panel-1">
            <a:extLst xmlns:a="http://schemas.openxmlformats.org/drawingml/2006/main">
              <a:ext uri="{FF2B5EF4-FFF2-40B4-BE49-F238E27FC236}">
                <a16:creationId xmlns:a16="http://schemas.microsoft.com/office/drawing/2014/main" id="{F67AC26A-BCBD-44B1-86ED-2AB6DF65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sp>
        <p:nvSpPr>
          <p:cNvPr id="13" name="spatial-bar-1">
            <a:extLst xmlns:a="http://schemas.openxmlformats.org/drawingml/2006/main">
              <a:ext uri="{FF2B5EF4-FFF2-40B4-BE49-F238E27FC236}">
                <a16:creationId xmlns:a16="http://schemas.microsoft.com/office/drawing/2014/main" id="{0F2A520F-434D-497E-A185-6A6D9887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BFF"/>
          </a:solidFill>
          <a:ln xmlns:a="http://schemas.openxmlformats.org/drawingml/2006/main" w="0">
            <a:solidFill>
              <a:srgbClr val="2D5BFF"/>
            </a:solidFill>
            <a:prstDash val="solid"/>
          </a:ln>
        </p:spPr>
      </p:sp>
      <p:sp>
        <p:nvSpPr>
          <p:cNvPr id="14" name="spatial-title-1">
            <a:extLst xmlns:a="http://schemas.openxmlformats.org/drawingml/2006/main">
              <a:ext uri="{FF2B5EF4-FFF2-40B4-BE49-F238E27FC236}">
                <a16:creationId xmlns:a16="http://schemas.microsoft.com/office/drawing/2014/main" id="{13AAF135-375D-4982-BE24-1247DC30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Kalibrierung</a:t>
            </a:r>
          </a:p>
        </p:txBody>
      </p:sp>
      <p:sp>
        <p:nvSpPr>
          <p:cNvPr id="15" name="spatial-rows-1">
            <a:extLst xmlns:a="http://schemas.openxmlformats.org/drawingml/2006/main">
              <a:ext uri="{FF2B5EF4-FFF2-40B4-BE49-F238E27FC236}">
                <a16:creationId xmlns:a16="http://schemas.microsoft.com/office/drawing/2014/main" id="{1938720D-C4BD-4C2B-82E9-189DAB5B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263.789</a:t>
            </a:r>
          </a:p>
        </p:txBody>
      </p:sp>
      <p:sp>
        <p:nvSpPr>
          <p:cNvPr id="16" name="spatial-blocks-1">
            <a:extLst xmlns:a="http://schemas.openxmlformats.org/drawingml/2006/main">
              <a:ext uri="{FF2B5EF4-FFF2-40B4-BE49-F238E27FC236}">
                <a16:creationId xmlns:a16="http://schemas.microsoft.com/office/drawing/2014/main" id="{842D2001-B0E7-4699-987B-D3BA4486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17" name="spatial-body-1">
            <a:extLst xmlns:a="http://schemas.openxmlformats.org/drawingml/2006/main">
              <a:ext uri="{FF2B5EF4-FFF2-40B4-BE49-F238E27FC236}">
                <a16:creationId xmlns:a16="http://schemas.microsoft.com/office/drawing/2014/main" id="{8E611AB0-4A7F-4F55-8074-232172FA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ausschließlich für Prognoseintervalle</a:t>
            </a:r>
          </a:p>
        </p:txBody>
      </p:sp>
      <p:sp>
        <p:nvSpPr>
          <p:cNvPr id="18" name="spatial-panel-2">
            <a:extLst xmlns:a="http://schemas.openxmlformats.org/drawingml/2006/main">
              <a:ext uri="{FF2B5EF4-FFF2-40B4-BE49-F238E27FC236}">
                <a16:creationId xmlns:a16="http://schemas.microsoft.com/office/drawing/2014/main" id="{A5C272F3-2BCF-4FE2-A122-C5F3FA63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sp>
        <p:nvSpPr>
          <p:cNvPr id="19" name="spatial-bar-2">
            <a:extLst xmlns:a="http://schemas.openxmlformats.org/drawingml/2006/main">
              <a:ext uri="{FF2B5EF4-FFF2-40B4-BE49-F238E27FC236}">
                <a16:creationId xmlns:a16="http://schemas.microsoft.com/office/drawing/2014/main" id="{4FB2AADC-3763-44B5-85C6-954CDE97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0" name="spatial-title-2">
            <a:extLst xmlns:a="http://schemas.openxmlformats.org/drawingml/2006/main">
              <a:ext uri="{FF2B5EF4-FFF2-40B4-BE49-F238E27FC236}">
                <a16:creationId xmlns:a16="http://schemas.microsoft.com/office/drawing/2014/main" id="{AB78CD1F-37E1-4F74-94B7-AA2239B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Finaler Test</a:t>
            </a:r>
          </a:p>
        </p:txBody>
      </p:sp>
      <p:sp>
        <p:nvSpPr>
          <p:cNvPr id="21" name="spatial-rows-2">
            <a:extLst xmlns:a="http://schemas.openxmlformats.org/drawingml/2006/main">
              <a:ext uri="{FF2B5EF4-FFF2-40B4-BE49-F238E27FC236}">
                <a16:creationId xmlns:a16="http://schemas.microsoft.com/office/drawing/2014/main" id="{4C7B6950-52E0-45D4-AD0E-823CB893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276.458</a:t>
            </a:r>
          </a:p>
        </p:txBody>
      </p:sp>
      <p:sp>
        <p:nvSpPr>
          <p:cNvPr id="22" name="spatial-blocks-2">
            <a:extLst xmlns:a="http://schemas.openxmlformats.org/drawingml/2006/main">
              <a:ext uri="{FF2B5EF4-FFF2-40B4-BE49-F238E27FC236}">
                <a16:creationId xmlns:a16="http://schemas.microsoft.com/office/drawing/2014/main" id="{320C8E59-74D7-4FF0-AA77-979CD3CC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3" name="spatial-body-2">
            <a:extLst xmlns:a="http://schemas.openxmlformats.org/drawingml/2006/main">
              <a:ext uri="{FF2B5EF4-FFF2-40B4-BE49-F238E27FC236}">
                <a16:creationId xmlns:a16="http://schemas.microsoft.com/office/drawing/2014/main" id="{F2DEF1A2-1F6B-44B1-B880-84A5F90F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einmalige Güte- und Subgruppenmessung</a:t>
            </a:r>
          </a:p>
        </p:txBody>
      </p:sp>
      <p:sp>
        <p:nvSpPr>
          <p:cNvPr id="24" name="zero-overlap">
            <a:extLst xmlns:a="http://schemas.openxmlformats.org/drawingml/2006/main">
              <a:ext uri="{FF2B5EF4-FFF2-40B4-BE49-F238E27FC236}">
                <a16:creationId xmlns:a16="http://schemas.microsoft.com/office/drawing/2014/main" id="{34ECEC5E-6CBD-48E1-A9C1-BC0D90F4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6197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25" name="zero-overlap-text">
            <a:extLst xmlns:a="http://schemas.openxmlformats.org/drawingml/2006/main">
              <a:ext uri="{FF2B5EF4-FFF2-40B4-BE49-F238E27FC236}">
                <a16:creationId xmlns:a16="http://schemas.microsoft.com/office/drawing/2014/main" id="{177B73BB-A1A0-4B58-A56D-FDD29323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753100"/>
            <a:ext cx="5638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0 gemeinsame 25-km-Blöcke zwischen den drei Teilmengen</a:t>
            </a:r>
          </a:p>
        </p:txBody>
      </p:sp>
    </p:spTree>
    <p:extLst>
      <p:ext uri="{BB962C8B-B14F-4D97-AF65-F5344CB8AC3E}">
        <p14:creationId xmlns:p14="http://schemas.microsoft.com/office/powerpoint/2010/main" val="2935643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7">
            <a:extLst xmlns:a="http://schemas.openxmlformats.org/drawingml/2006/main">
              <a:ext uri="{FF2B5EF4-FFF2-40B4-BE49-F238E27FC236}">
                <a16:creationId xmlns:a16="http://schemas.microsoft.com/office/drawing/2014/main" id="{CD2000E0-140D-46DD-AB88-D83C73DF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HGB gewinnt – Random Forest bleibt dicht dahinter</a:t>
            </a:r>
          </a:p>
        </p:txBody>
      </p:sp>
      <p:sp>
        <p:nvSpPr>
          <p:cNvPr id="2" name="source-7">
            <a:extLst xmlns:a="http://schemas.openxmlformats.org/drawingml/2006/main">
              <a:ext uri="{FF2B5EF4-FFF2-40B4-BE49-F238E27FC236}">
                <a16:creationId xmlns:a16="http://schemas.microsoft.com/office/drawing/2014/main" id="{699EB310-5A70-46F6-93DA-2A3B1B1B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Eigene Berechnung: 600.000 Entwicklungszeilen, identische 3-Fold-Spatial-CV; reports/algorithm_benchmark.json.</a:t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D7D95732-C78F-47A6-8956-E1C3B479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4" name="benchmark-callout-one">
            <a:extLst xmlns:a="http://schemas.openxmlformats.org/drawingml/2006/main">
              <a:ext uri="{FF2B5EF4-FFF2-40B4-BE49-F238E27FC236}">
                <a16:creationId xmlns:a16="http://schemas.microsoft.com/office/drawing/2014/main" id="{C726DE14-ED9E-4204-8FA2-8ADA5CD0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716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5" name="benchmark-callout-one-title">
            <a:extLst xmlns:a="http://schemas.openxmlformats.org/drawingml/2006/main">
              <a:ext uri="{FF2B5EF4-FFF2-40B4-BE49-F238E27FC236}">
                <a16:creationId xmlns:a16="http://schemas.microsoft.com/office/drawing/2014/main" id="{9E1DC7F9-94DC-4485-B4CE-D5BFDEC7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1,305 €/m²</a:t>
            </a:r>
          </a:p>
        </p:txBody>
      </p:sp>
      <p:sp>
        <p:nvSpPr>
          <p:cNvPr id="6" name="benchmark-callout-one-body">
            <a:extLst xmlns:a="http://schemas.openxmlformats.org/drawingml/2006/main">
              <a:ext uri="{FF2B5EF4-FFF2-40B4-BE49-F238E27FC236}">
                <a16:creationId xmlns:a16="http://schemas.microsoft.com/office/drawing/2014/main" id="{E8DC41BB-2DCE-4F10-95D2-89DFB850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niedrigster mittlerer CV-MAE</a:t>
            </a:r>
          </a:p>
        </p:txBody>
      </p:sp>
      <p:sp>
        <p:nvSpPr>
          <p:cNvPr id="7" name="benchmark-callout-two">
            <a:extLst xmlns:a="http://schemas.openxmlformats.org/drawingml/2006/main">
              <a:ext uri="{FF2B5EF4-FFF2-40B4-BE49-F238E27FC236}">
                <a16:creationId xmlns:a16="http://schemas.microsoft.com/office/drawing/2014/main" id="{DF0BD567-5D01-4635-AD64-BF89D921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575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8" name="benchmark-callout-two-title">
            <a:extLst xmlns:a="http://schemas.openxmlformats.org/drawingml/2006/main">
              <a:ext uri="{FF2B5EF4-FFF2-40B4-BE49-F238E27FC236}">
                <a16:creationId xmlns:a16="http://schemas.microsoft.com/office/drawing/2014/main" id="{8A5CE399-EBB0-435C-89EA-74592B23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nur 0,016</a:t>
            </a:r>
          </a:p>
        </p:txBody>
      </p:sp>
      <p:sp>
        <p:nvSpPr>
          <p:cNvPr id="9" name="benchmark-callout-two-body">
            <a:extLst xmlns:a="http://schemas.openxmlformats.org/drawingml/2006/main">
              <a:ext uri="{FF2B5EF4-FFF2-40B4-BE49-F238E27FC236}">
                <a16:creationId xmlns:a16="http://schemas.microsoft.com/office/drawing/2014/main" id="{B942740B-FA9F-46D4-80F6-2A18C81B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767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Vorsprung vor Random Forest</a:t>
            </a:r>
          </a:p>
        </p:txBody>
      </p:sp>
      <p:sp>
        <p:nvSpPr>
          <p:cNvPr id="10" name="benchmark-interpretation">
            <a:extLst xmlns:a="http://schemas.openxmlformats.org/drawingml/2006/main">
              <a:ext uri="{FF2B5EF4-FFF2-40B4-BE49-F238E27FC236}">
                <a16:creationId xmlns:a16="http://schemas.microsoft.com/office/drawing/2014/main" id="{CE3780BF-7C42-4004-860C-09B39991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339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Entscheidung: HGB bietet beste Güte, kleine Artefaktgröße und schnelle Inferenz. RF bleibt dokumentierter Challenger.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457200" y="1524000"/>
          <a:ext xmlns:a="http://schemas.openxmlformats.org/drawingml/2006/main" cx="6572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ad57064fe64ac6"/>
          </a:graphicData>
        </a:graphic>
      </p:graphicFrame>
    </p:spTree>
    <p:extLst>
      <p:ext uri="{BB962C8B-B14F-4D97-AF65-F5344CB8AC3E}">
        <p14:creationId xmlns:p14="http://schemas.microsoft.com/office/powerpoint/2010/main" val="16951827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8">
            <a:extLst xmlns:a="http://schemas.openxmlformats.org/drawingml/2006/main">
              <a:ext uri="{FF2B5EF4-FFF2-40B4-BE49-F238E27FC236}">
                <a16:creationId xmlns:a16="http://schemas.microsoft.com/office/drawing/2014/main" id="{5EF18D27-C117-4201-B0D3-714B6D57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Finaler Test: 38,3 % weniger Fehler</a:t>
            </a:r>
          </a:p>
        </p:txBody>
      </p:sp>
      <p:sp>
        <p:nvSpPr>
          <p:cNvPr id="2" name="source-8">
            <a:extLst xmlns:a="http://schemas.openxmlformats.org/drawingml/2006/main">
              <a:ext uri="{FF2B5EF4-FFF2-40B4-BE49-F238E27FC236}">
                <a16:creationId xmlns:a16="http://schemas.microsoft.com/office/drawing/2014/main" id="{B1A72826-F67D-43E7-B01F-BB5D527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Eigene Berechnung auf 276.458 Zeilen aus 99 gesperrten Raumblöcken; reports/final_model_evaluation.json.</a:t>
            </a:r>
          </a:p>
        </p:txBody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C60C5534-7E77-448F-9CC5-0FE021F5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  <p:sp>
        <p:nvSpPr>
          <p:cNvPr id="4" name="final-lead">
            <a:extLst xmlns:a="http://schemas.openxmlformats.org/drawingml/2006/main">
              <a:ext uri="{FF2B5EF4-FFF2-40B4-BE49-F238E27FC236}">
                <a16:creationId xmlns:a16="http://schemas.microsoft.com/office/drawing/2014/main" id="{1BCBDD14-6987-48BF-B6B6-5357C1A2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Das nominale 90-%-Intervall erreicht räumlich 86,8 % – und genau das zeigt die App.</a:t>
            </a:r>
          </a:p>
        </p:txBody>
      </p:sp>
      <p:sp>
        <p:nvSpPr>
          <p:cNvPr id="5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12A3E849-6FE7-432A-AD8A-F7BEFCD0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MAE auf dem finalen Test</a:t>
            </a:r>
          </a:p>
        </p:txBody>
      </p:sp>
      <p:sp>
        <p:nvSpPr>
          <p:cNvPr id="6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819608CE-74B9-40F6-A6C6-0B0D0409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7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F17895AF-5EE6-40C7-848F-9A2B5D73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38,3 %</a:t>
            </a:r>
          </a:p>
        </p:txBody>
      </p:sp>
      <p:sp>
        <p:nvSpPr>
          <p:cNvPr id="8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E7BB7297-1C37-46DF-8F58-83C864D4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weniger MAE als die Kategorie-Baseline</a:t>
            </a:r>
          </a:p>
        </p:txBody>
      </p:sp>
      <p:sp>
        <p:nvSpPr>
          <p:cNvPr id="9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B211FB01-69E3-4B52-88D9-810C6644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FF"/>
          </a:solidFill>
          <a:ln xmlns:a="http://schemas.openxmlformats.org/drawingml/2006/main" w="0">
            <a:solidFill>
              <a:srgbClr val="E7ECFF"/>
            </a:solidFill>
            <a:prstDash val="solid"/>
          </a:ln>
        </p:spPr>
      </p:sp>
      <p:sp>
        <p:nvSpPr>
          <p:cNvPr id="10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23481738-E7BC-43E1-822A-7B8C8197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86,8 %</a:t>
            </a:r>
          </a:p>
        </p:txBody>
      </p:sp>
      <p:sp>
        <p:nvSpPr>
          <p:cNvPr id="11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63D9C7DC-2BC8-4AD5-9DD4-C5ABF61B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empirische Coverage des nominalen 90-%-Bands</a:t>
            </a:r>
          </a:p>
        </p:txBody>
      </p:sp>
      <p:sp>
        <p:nvSpPr>
          <p:cNvPr id="12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14A5A0F6-413C-4FC2-ADA6-616CC3E0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Keine 90-%-Garantie: räumlicher Verteilungswechsel verletzt perfekte Austauschbarkeit.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aee7af29d541bf"/>
          </a:graphicData>
        </a:graphic>
      </p:graphicFrame>
    </p:spTree>
    <p:extLst>
      <p:ext uri="{BB962C8B-B14F-4D97-AF65-F5344CB8AC3E}">
        <p14:creationId xmlns:p14="http://schemas.microsoft.com/office/powerpoint/2010/main" val="7195552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9">
            <a:extLst xmlns:a="http://schemas.openxmlformats.org/drawingml/2006/main">
              <a:ext uri="{FF2B5EF4-FFF2-40B4-BE49-F238E27FC236}">
                <a16:creationId xmlns:a16="http://schemas.microsoft.com/office/drawing/2014/main" id="{172E5AF7-75A2-413B-9E39-29E4C697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Berlin zeigt die Lücke zwischen Bestand und Angebot</a:t>
            </a:r>
          </a:p>
        </p:txBody>
      </p:sp>
      <p:sp>
        <p:nvSpPr>
          <p:cNvPr id="2" name="source-9">
            <a:extLst xmlns:a="http://schemas.openxmlformats.org/drawingml/2006/main">
              <a:ext uri="{FF2B5EF4-FFF2-40B4-BE49-F238E27FC236}">
                <a16:creationId xmlns:a16="http://schemas.microsoft.com/office/drawing/2014/main" id="{7A61F4CC-10C0-4AFD-8625-4530D34B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Quelle: GREIX-Mietpreisindex, Kiel Institut / VALUE; Zensus 2022; eigene Verarbeitung. Beispiel: 70 m², bis 1990, &gt;65 m².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FA5F541D-6325-4958-A24E-28C91438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9</a:t>
            </a:r>
          </a:p>
        </p:txBody>
      </p:sp>
      <p:sp>
        <p:nvSpPr>
          <p:cNvPr id="4" name="berlin-chart-title">
            <a:extLst xmlns:a="http://schemas.openxmlformats.org/drawingml/2006/main">
              <a:ext uri="{FF2B5EF4-FFF2-40B4-BE49-F238E27FC236}">
                <a16:creationId xmlns:a16="http://schemas.microsoft.com/office/drawing/2014/main" id="{C244159F-C262-431D-9638-CEFDDC84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619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GREIX-Angebotsmedian in Berlin</a:t>
            </a:r>
          </a:p>
        </p:txBody>
      </p:sp>
      <p:sp>
        <p:nvSpPr>
          <p:cNvPr id="5" name="berlin-stock">
            <a:extLst xmlns:a="http://schemas.openxmlformats.org/drawingml/2006/main">
              <a:ext uri="{FF2B5EF4-FFF2-40B4-BE49-F238E27FC236}">
                <a16:creationId xmlns:a16="http://schemas.microsoft.com/office/drawing/2014/main" id="{9E6C409E-39C8-449C-9281-C1F88E60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9750"/>
            <a:ext cx="4152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C"/>
          </a:solidFill>
          <a:ln xmlns:a="http://schemas.openxmlformats.org/drawingml/2006/main" w="0">
            <a:solidFill>
              <a:srgbClr val="DFF3EC"/>
            </a:solidFill>
            <a:prstDash val="solid"/>
          </a:ln>
        </p:spPr>
      </p:sp>
      <p:sp>
        <p:nvSpPr>
          <p:cNvPr id="6" name="berlin-stock-stat">
            <a:extLst xmlns:a="http://schemas.openxmlformats.org/drawingml/2006/main">
              <a:ext uri="{FF2B5EF4-FFF2-40B4-BE49-F238E27FC236}">
                <a16:creationId xmlns:a16="http://schemas.microsoft.com/office/drawing/2014/main" id="{10B43C9A-B296-4938-B3EA-B3CBE14B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81200"/>
            <a:ext cx="35814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7,27 €/m²</a:t>
            </a:r>
          </a:p>
        </p:txBody>
      </p:sp>
      <p:sp>
        <p:nvSpPr>
          <p:cNvPr id="7" name="berlin-stock-body">
            <a:extLst xmlns:a="http://schemas.openxmlformats.org/drawingml/2006/main">
              <a:ext uri="{FF2B5EF4-FFF2-40B4-BE49-F238E27FC236}">
                <a16:creationId xmlns:a16="http://schemas.microsoft.com/office/drawing/2014/main" id="{5FA07464-12CF-4FF5-9121-F7C5F389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52700"/>
            <a:ext cx="3581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ML-Bestandsanker 2022</a:t>
            </a:r>
          </a:p>
        </p:txBody>
      </p:sp>
      <p:sp>
        <p:nvSpPr>
          <p:cNvPr id="8" name="berlin-market">
            <a:extLst xmlns:a="http://schemas.openxmlformats.org/drawingml/2006/main">
              <a:ext uri="{FF2B5EF4-FFF2-40B4-BE49-F238E27FC236}">
                <a16:creationId xmlns:a16="http://schemas.microsoft.com/office/drawing/2014/main" id="{D7A24E9E-B9BB-4AC5-8EB0-9BDE4BCF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4152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FF"/>
          </a:solidFill>
          <a:ln xmlns:a="http://schemas.openxmlformats.org/drawingml/2006/main" w="0">
            <a:solidFill>
              <a:srgbClr val="E7ECFF"/>
            </a:solidFill>
            <a:prstDash val="solid"/>
          </a:ln>
        </p:spPr>
      </p:sp>
      <p:sp>
        <p:nvSpPr>
          <p:cNvPr id="9" name="berlin-market-stat">
            <a:extLst xmlns:a="http://schemas.openxmlformats.org/drawingml/2006/main">
              <a:ext uri="{FF2B5EF4-FFF2-40B4-BE49-F238E27FC236}">
                <a16:creationId xmlns:a16="http://schemas.microsoft.com/office/drawing/2014/main" id="{47C3C0E2-1382-4A2B-A66D-50C0313F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14700"/>
            <a:ext cx="35814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15,50 €/m²</a:t>
            </a:r>
          </a:p>
        </p:txBody>
      </p:sp>
      <p:sp>
        <p:nvSpPr>
          <p:cNvPr id="10" name="berlin-market-body">
            <a:extLst xmlns:a="http://schemas.openxmlformats.org/drawingml/2006/main">
              <a:ext uri="{FF2B5EF4-FFF2-40B4-BE49-F238E27FC236}">
                <a16:creationId xmlns:a16="http://schemas.microsoft.com/office/drawing/2014/main" id="{67CC61D2-6CC0-4E3D-A84F-0E363F65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3581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GREIX-Angebotsmedian 2026-Q1</a:t>
            </a:r>
          </a:p>
        </p:txBody>
      </p:sp>
      <p:sp>
        <p:nvSpPr>
          <p:cNvPr id="11" name="berlin-premium">
            <a:extLst xmlns:a="http://schemas.openxmlformats.org/drawingml/2006/main">
              <a:ext uri="{FF2B5EF4-FFF2-40B4-BE49-F238E27FC236}">
                <a16:creationId xmlns:a16="http://schemas.microsoft.com/office/drawing/2014/main" id="{C63D4638-33E2-44B7-8D88-364B9398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76750"/>
            <a:ext cx="41529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12" name="berlin-premium-stat">
            <a:extLst xmlns:a="http://schemas.openxmlformats.org/drawingml/2006/main">
              <a:ext uri="{FF2B5EF4-FFF2-40B4-BE49-F238E27FC236}">
                <a16:creationId xmlns:a16="http://schemas.microsoft.com/office/drawing/2014/main" id="{3F510D24-0291-42FF-9394-6D465A8A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29150"/>
            <a:ext cx="35814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+113 %</a:t>
            </a:r>
          </a:p>
        </p:txBody>
      </p:sp>
      <p:sp>
        <p:nvSpPr>
          <p:cNvPr id="13" name="berlin-premium-body">
            <a:extLst xmlns:a="http://schemas.openxmlformats.org/drawingml/2006/main">
              <a:ext uri="{FF2B5EF4-FFF2-40B4-BE49-F238E27FC236}">
                <a16:creationId xmlns:a16="http://schemas.microsoft.com/office/drawing/2014/main" id="{1282808E-F6BC-4CD7-82DA-7551A689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578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rund 576 € monatlicher Umzugsaufschlag bei 70 m²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457200" y="1924050"/>
          <a:ext xmlns:a="http://schemas.openxmlformats.org/drawingml/2006/main" cx="6191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942f04fe354b26"/>
          </a:graphicData>
        </a:graphic>
      </p:graphicFrame>
    </p:spTree>
    <p:extLst>
      <p:ext uri="{BB962C8B-B14F-4D97-AF65-F5344CB8AC3E}">
        <p14:creationId xmlns:p14="http://schemas.microsoft.com/office/powerpoint/2010/main" val="10337010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10">
            <a:extLst xmlns:a="http://schemas.openxmlformats.org/drawingml/2006/main">
              <a:ext uri="{FF2B5EF4-FFF2-40B4-BE49-F238E27FC236}">
                <a16:creationId xmlns:a16="http://schemas.microsoft.com/office/drawing/2014/main" id="{4B9364AA-F9A3-49E5-8436-F638A1C1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MietCheck macht Methodik nutzbar</a:t>
            </a:r>
          </a:p>
        </p:txBody>
      </p:sp>
      <p:sp>
        <p:nvSpPr>
          <p:cNvPr id="2" name="source-10">
            <a:extLst xmlns:a="http://schemas.openxmlformats.org/drawingml/2006/main">
              <a:ext uri="{FF2B5EF4-FFF2-40B4-BE49-F238E27FC236}">
                <a16:creationId xmlns:a16="http://schemas.microsoft.com/office/drawing/2014/main" id="{1DBA291C-AE64-4FE8-8428-A5E05977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10">
            <a:extLst xmlns:a="http://schemas.openxmlformats.org/drawingml/2006/main">
              <a:ext uri="{FF2B5EF4-FFF2-40B4-BE49-F238E27FC236}">
                <a16:creationId xmlns:a16="http://schemas.microsoft.com/office/drawing/2014/main" id="{E2939921-442B-4265-B625-A56F3D36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4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17D67F0C-339F-47F4-9070-CA4B01C0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sp>
        <p:nvSpPr>
          <p:cNvPr id="5" name="product-one">
            <a:extLst xmlns:a="http://schemas.openxmlformats.org/drawingml/2006/main">
              <a:ext uri="{FF2B5EF4-FFF2-40B4-BE49-F238E27FC236}">
                <a16:creationId xmlns:a16="http://schemas.microsoft.com/office/drawing/2014/main" id="{18442B5D-D9C7-433D-B333-4FB435E2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1 · Region &amp; Szenario</a:t>
            </a:r>
          </a:p>
        </p:txBody>
      </p:sp>
      <p:sp>
        <p:nvSpPr>
          <p:cNvPr id="6" name="product-two">
            <a:extLst xmlns:a="http://schemas.openxmlformats.org/drawingml/2006/main">
              <a:ext uri="{FF2B5EF4-FFF2-40B4-BE49-F238E27FC236}">
                <a16:creationId xmlns:a16="http://schemas.microsoft.com/office/drawing/2014/main" id="{C7AB43F5-0FB0-465E-9B93-FE3965E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2 · drei getrennte Werte</a:t>
            </a:r>
          </a:p>
        </p:txBody>
      </p:sp>
      <p:sp>
        <p:nvSpPr>
          <p:cNvPr id="7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43003FAB-111B-4EA5-876E-ADB5CC3D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Unsicherheit &amp; Grenzen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02a6bfaa14377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9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EE2E2D41-5816-469E-AB5D-D2A53F1F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0">
            <a:solidFill>
              <a:srgbClr val="132238"/>
            </a:solidFill>
            <a:prstDash val="solid"/>
          </a:ln>
        </p:spPr>
      </p:sp>
      <p:sp>
        <p:nvSpPr>
          <p:cNvPr id="10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3400BC87-1B46-4448-B5C2-268CA512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Drei Mietrealitäten · direkt am Ergebnis</a:t>
            </a:r>
          </a:p>
        </p:txBody>
      </p:sp>
      <p:sp>
        <p:nvSpPr>
          <p:cNvPr id="11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7AA43EFA-20C6-416D-BA01-7134A61D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Bestand, Angebot und persönliche Belastung bleiben methodisch getrennt.</a:t>
            </a:r>
          </a:p>
        </p:txBody>
      </p:sp>
    </p:spTree>
    <p:extLst>
      <p:ext uri="{BB962C8B-B14F-4D97-AF65-F5344CB8AC3E}">
        <p14:creationId xmlns:p14="http://schemas.microsoft.com/office/powerpoint/2010/main" val="15660916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-11">
            <a:extLst xmlns:a="http://schemas.openxmlformats.org/drawingml/2006/main">
              <a:ext uri="{FF2B5EF4-FFF2-40B4-BE49-F238E27FC236}">
                <a16:creationId xmlns:a16="http://schemas.microsoft.com/office/drawing/2014/main" id="{4BBFF05A-DB1A-43E9-B33F-3C6C3234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Ein gutes Modell kennt seine Einsatzgrenze</a:t>
            </a:r>
          </a:p>
        </p:txBody>
      </p:sp>
      <p:sp>
        <p:nvSpPr>
          <p:cNvPr id="2" name="source-11">
            <a:extLst xmlns:a="http://schemas.openxmlformats.org/drawingml/2006/main">
              <a:ext uri="{FF2B5EF4-FFF2-40B4-BE49-F238E27FC236}">
                <a16:creationId xmlns:a16="http://schemas.microsoft.com/office/drawing/2014/main" id="{A1ED67E4-3683-4C5A-BACA-73D4F5F1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11">
            <a:extLst xmlns:a="http://schemas.openxmlformats.org/drawingml/2006/main">
              <a:ext uri="{FF2B5EF4-FFF2-40B4-BE49-F238E27FC236}">
                <a16:creationId xmlns:a16="http://schemas.microsoft.com/office/drawing/2014/main" id="{FA7BB8DF-83ED-4AE5-A729-61F959A6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4" name="limits-lead">
            <a:extLst xmlns:a="http://schemas.openxmlformats.org/drawingml/2006/main">
              <a:ext uri="{FF2B5EF4-FFF2-40B4-BE49-F238E27FC236}">
                <a16:creationId xmlns:a16="http://schemas.microsoft.com/office/drawing/2014/main" id="{458E9E20-7FA8-494D-BB57-BDC2A4A6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MietCheck unterstützt Exploration und Transparenz – keine rechtliche oder individuelle Preisentscheidung.</a:t>
            </a:r>
          </a:p>
        </p:txBody>
      </p:sp>
      <p:cxnSp>
        <p:nvCxnSpPr>
          <p:cNvPr id="30" name="limits-sep"/>
          <p:cNvCxnSpPr/>
          <p:nvPr/>
        </p:nvCxnSpPr>
        <p:spPr>
          <a:xfrm xmlns:a="http://schemas.openxmlformats.org/drawingml/2006/main">
            <a:off x="6096000" y="2133600"/>
            <a:ext cx="286" cy="3486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sp>
        <p:nvSpPr>
          <p:cNvPr id="6" name="limits-left-title">
            <a:extLst xmlns:a="http://schemas.openxmlformats.org/drawingml/2006/main">
              <a:ext uri="{FF2B5EF4-FFF2-40B4-BE49-F238E27FC236}">
                <a16:creationId xmlns:a16="http://schemas.microsoft.com/office/drawing/2014/main" id="{2B010F2C-CD01-4831-943E-D50EC248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Was fehlt?</a:t>
            </a:r>
          </a:p>
        </p:txBody>
      </p:sp>
      <p:sp>
        <p:nvSpPr>
          <p:cNvPr id="7" name="limits-right-title">
            <a:extLst xmlns:a="http://schemas.openxmlformats.org/drawingml/2006/main">
              <a:ext uri="{FF2B5EF4-FFF2-40B4-BE49-F238E27FC236}">
                <a16:creationId xmlns:a16="http://schemas.microsoft.com/office/drawing/2014/main" id="{F80A7937-AE6F-4883-A1C9-631E459A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838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Wie wird das abgefedert?</a:t>
            </a:r>
          </a:p>
        </p:txBody>
      </p:sp>
      <p:sp>
        <p:nvSpPr>
          <p:cNvPr id="8" name="limit-dot-0">
            <a:extLst xmlns:a="http://schemas.openxmlformats.org/drawingml/2006/main">
              <a:ext uri="{FF2B5EF4-FFF2-40B4-BE49-F238E27FC236}">
                <a16:creationId xmlns:a16="http://schemas.microsoft.com/office/drawing/2014/main" id="{4B4CB273-96C9-4A7D-AD3F-1DB66B2D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9" name="limit-copy-0">
            <a:extLst xmlns:a="http://schemas.openxmlformats.org/drawingml/2006/main">
              <a:ext uri="{FF2B5EF4-FFF2-40B4-BE49-F238E27FC236}">
                <a16:creationId xmlns:a16="http://schemas.microsoft.com/office/drawing/2014/main" id="{DADC4C46-CD09-4830-B207-AFFE631B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Ausstattung, Energiezustand, Etage und Mikrolage</a:t>
            </a:r>
          </a:p>
        </p:txBody>
      </p:sp>
      <p:sp>
        <p:nvSpPr>
          <p:cNvPr id="10" name="mit-dot-0">
            <a:extLst xmlns:a="http://schemas.openxmlformats.org/drawingml/2006/main">
              <a:ext uri="{FF2B5EF4-FFF2-40B4-BE49-F238E27FC236}">
                <a16:creationId xmlns:a16="http://schemas.microsoft.com/office/drawing/2014/main" id="{7DF84267-BB72-40BF-BCB7-78360A22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1" name="mit-copy-0">
            <a:extLst xmlns:a="http://schemas.openxmlformats.org/drawingml/2006/main">
              <a:ext uri="{FF2B5EF4-FFF2-40B4-BE49-F238E27FC236}">
                <a16:creationId xmlns:a16="http://schemas.microsoft.com/office/drawing/2014/main" id="{6FBECAE1-2BC3-47C3-A156-64EC6A68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keine adressgenaue oder rechtliche Behauptung</a:t>
            </a:r>
          </a:p>
        </p:txBody>
      </p:sp>
      <p:sp>
        <p:nvSpPr>
          <p:cNvPr id="12" name="limit-dot-1">
            <a:extLst xmlns:a="http://schemas.openxmlformats.org/drawingml/2006/main">
              <a:ext uri="{FF2B5EF4-FFF2-40B4-BE49-F238E27FC236}">
                <a16:creationId xmlns:a16="http://schemas.microsoft.com/office/drawing/2014/main" id="{AA4A3F48-4FB0-47DF-9EA6-A403CBA6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3" name="limit-copy-1">
            <a:extLst xmlns:a="http://schemas.openxmlformats.org/drawingml/2006/main">
              <a:ext uri="{FF2B5EF4-FFF2-40B4-BE49-F238E27FC236}">
                <a16:creationId xmlns:a16="http://schemas.microsoft.com/office/drawing/2014/main" id="{F7D00C48-914E-454D-89CB-9EBF5C9E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Vertragsbeginn und rechtliche Besonderheiten</a:t>
            </a:r>
          </a:p>
        </p:txBody>
      </p:sp>
      <p:sp>
        <p:nvSpPr>
          <p:cNvPr id="14" name="mit-dot-1">
            <a:extLst xmlns:a="http://schemas.openxmlformats.org/drawingml/2006/main">
              <a:ext uri="{FF2B5EF4-FFF2-40B4-BE49-F238E27FC236}">
                <a16:creationId xmlns:a16="http://schemas.microsoft.com/office/drawing/2014/main" id="{6EE432FE-82D6-493A-873C-B72EAB17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5" name="mit-copy-1">
            <a:extLst xmlns:a="http://schemas.openxmlformats.org/drawingml/2006/main">
              <a:ext uri="{FF2B5EF4-FFF2-40B4-BE49-F238E27FC236}">
                <a16:creationId xmlns:a16="http://schemas.microsoft.com/office/drawing/2014/main" id="{ED4267F0-704D-4A72-BAEB-1D174DBE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433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Regionen ohne GREIX werden nicht erfunden</a:t>
            </a:r>
          </a:p>
        </p:txBody>
      </p:sp>
      <p:sp>
        <p:nvSpPr>
          <p:cNvPr id="16" name="limit-dot-2">
            <a:extLst xmlns:a="http://schemas.openxmlformats.org/drawingml/2006/main">
              <a:ext uri="{FF2B5EF4-FFF2-40B4-BE49-F238E27FC236}">
                <a16:creationId xmlns:a16="http://schemas.microsoft.com/office/drawing/2014/main" id="{3B21C23A-E168-481A-966F-031DAA99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7" name="limit-copy-2">
            <a:extLst xmlns:a="http://schemas.openxmlformats.org/drawingml/2006/main">
              <a:ext uri="{FF2B5EF4-FFF2-40B4-BE49-F238E27FC236}">
                <a16:creationId xmlns:a16="http://schemas.microsoft.com/office/drawing/2014/main" id="{EC936815-BBEA-461B-A016-EE78461B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lokale Angebotsdaten außerhalb der 37 GREIX-Märkte</a:t>
            </a:r>
          </a:p>
        </p:txBody>
      </p:sp>
      <p:sp>
        <p:nvSpPr>
          <p:cNvPr id="18" name="mit-dot-2">
            <a:extLst xmlns:a="http://schemas.openxmlformats.org/drawingml/2006/main">
              <a:ext uri="{FF2B5EF4-FFF2-40B4-BE49-F238E27FC236}">
                <a16:creationId xmlns:a16="http://schemas.microsoft.com/office/drawing/2014/main" id="{79604495-474E-4179-8EDE-3BBA8CE5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19" name="mit-copy-2">
            <a:extLst xmlns:a="http://schemas.openxmlformats.org/drawingml/2006/main">
              <a:ext uri="{FF2B5EF4-FFF2-40B4-BE49-F238E27FC236}">
                <a16:creationId xmlns:a16="http://schemas.microsoft.com/office/drawing/2014/main" id="{0E4E0922-2343-4572-9FC9-11F7B63E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291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empirische 86,8 % statt nominale 90 % anzeigen</a:t>
            </a:r>
          </a:p>
        </p:txBody>
      </p:sp>
      <p:sp>
        <p:nvSpPr>
          <p:cNvPr id="20" name="limit-dot-3">
            <a:extLst xmlns:a="http://schemas.openxmlformats.org/drawingml/2006/main">
              <a:ext uri="{FF2B5EF4-FFF2-40B4-BE49-F238E27FC236}">
                <a16:creationId xmlns:a16="http://schemas.microsoft.com/office/drawing/2014/main" id="{F058B7EB-37EE-44BF-A590-1D268A52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1" name="limit-copy-3">
            <a:extLst xmlns:a="http://schemas.openxmlformats.org/drawingml/2006/main">
              <a:ext uri="{FF2B5EF4-FFF2-40B4-BE49-F238E27FC236}">
                <a16:creationId xmlns:a16="http://schemas.microsoft.com/office/drawing/2014/main" id="{03AC0479-EAC2-4F90-BD08-B31BBF42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stabile 90-%-Coverage bei räumlichem Shift</a:t>
            </a:r>
          </a:p>
        </p:txBody>
      </p:sp>
      <p:sp>
        <p:nvSpPr>
          <p:cNvPr id="22" name="mit-dot-3">
            <a:extLst xmlns:a="http://schemas.openxmlformats.org/drawingml/2006/main">
              <a:ext uri="{FF2B5EF4-FFF2-40B4-BE49-F238E27FC236}">
                <a16:creationId xmlns:a16="http://schemas.microsoft.com/office/drawing/2014/main" id="{98FA0BED-1842-4B25-9AE6-B9C807A5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E4F"/>
          </a:solidFill>
          <a:ln xmlns:a="http://schemas.openxmlformats.org/drawingml/2006/main" w="0">
            <a:solidFill>
              <a:srgbClr val="0B6E4F"/>
            </a:solidFill>
            <a:prstDash val="solid"/>
          </a:ln>
        </p:spPr>
      </p:sp>
      <p:sp>
        <p:nvSpPr>
          <p:cNvPr id="23" name="mit-copy-3">
            <a:extLst xmlns:a="http://schemas.openxmlformats.org/drawingml/2006/main">
              <a:ext uri="{FF2B5EF4-FFF2-40B4-BE49-F238E27FC236}">
                <a16:creationId xmlns:a16="http://schemas.microsoft.com/office/drawing/2014/main" id="{8DB310D9-3BC1-4794-B741-EF256C42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Bias, Datenschutz und Missbrauch im Risk Assessment</a:t>
            </a:r>
          </a:p>
        </p:txBody>
      </p:sp>
      <p:sp>
        <p:nvSpPr>
          <p:cNvPr id="24" name="not-advice">
            <a:extLst xmlns:a="http://schemas.openxmlformats.org/drawingml/2006/main">
              <a:ext uri="{FF2B5EF4-FFF2-40B4-BE49-F238E27FC236}">
                <a16:creationId xmlns:a16="http://schemas.microsoft.com/office/drawing/2014/main" id="{E341E591-6528-4876-9BC4-9D123655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25" name="not-advice-text">
            <a:extLst xmlns:a="http://schemas.openxmlformats.org/drawingml/2006/main">
              <a:ext uri="{FF2B5EF4-FFF2-40B4-BE49-F238E27FC236}">
                <a16:creationId xmlns:a16="http://schemas.microsoft.com/office/drawing/2014/main" id="{6EEDBEA8-D767-498C-B514-A6548A2B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6299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Kein amtlicher Mietspiegel · keine Rechtsberatung · keine Bonitäts- oder Vermieterentscheidung</a:t>
            </a:r>
          </a:p>
        </p:txBody>
      </p:sp>
    </p:spTree>
    <p:extLst>
      <p:ext uri="{BB962C8B-B14F-4D97-AF65-F5344CB8AC3E}">
        <p14:creationId xmlns:p14="http://schemas.microsoft.com/office/powerpoint/2010/main" val="20606077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322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lusion-kicker">
            <a:extLst xmlns:a="http://schemas.openxmlformats.org/drawingml/2006/main">
              <a:ext uri="{FF2B5EF4-FFF2-40B4-BE49-F238E27FC236}">
                <a16:creationId xmlns:a16="http://schemas.microsoft.com/office/drawing/2014/main" id="{9527694B-1903-4275-A679-9A94340E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FAZIT</a:t>
            </a:r>
          </a:p>
        </p:txBody>
      </p:sp>
      <p:sp>
        <p:nvSpPr>
          <p:cNvPr id="2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8F4DD74-A46E-4D43-B356-8E5EB251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06680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Nicht eine „faire“ Miete.
Drei sauber getrennte Realitäten.</a:t>
            </a:r>
          </a:p>
        </p:txBody>
      </p:sp>
      <p:sp>
        <p:nvSpPr>
          <p:cNvPr id="3" name="conclusion-proof">
            <a:extLst xmlns:a="http://schemas.openxmlformats.org/drawingml/2006/main">
              <a:ext uri="{FF2B5EF4-FFF2-40B4-BE49-F238E27FC236}">
                <a16:creationId xmlns:a16="http://schemas.microsoft.com/office/drawing/2014/main" id="{4B54F1A7-18D8-46FB-9692-7FC3D574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DEE8"/>
                </a:solidFill>
                <a:latin typeface="Arial"/>
                <a:ea typeface="Arial"/>
                <a:cs typeface="Arial"/>
              </a:defRPr>
            </a:pPr>
            <a:r>
              <a:t>2,06 Mio. Modellzeilen · räumlicher Holdout · 38,3 % Baseline-Verbesserung · transparente 86,8 % Coverage</a:t>
            </a:r>
          </a:p>
        </p:txBody>
      </p:sp>
      <p:cxnSp>
        <p:nvCxnSpPr>
          <p:cNvPr id="10" name="conclusion-rule"/>
          <p:cNvCxnSpPr/>
          <p:nvPr/>
        </p:nvCxnSpPr>
        <p:spPr>
          <a:xfrm xmlns:a="http://schemas.openxmlformats.org/drawingml/2006/main">
            <a:off x="533400" y="5295900"/>
            <a:ext cx="10668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B4B60"/>
            </a:solidFill>
            <a:prstDash val="solid"/>
          </a:ln>
        </p:spPr>
      </p:cxnSp>
      <p:sp>
        <p:nvSpPr>
          <p:cNvPr id="5" name="conclusion-close">
            <a:extLst xmlns:a="http://schemas.openxmlformats.org/drawingml/2006/main">
              <a:ext uri="{FF2B5EF4-FFF2-40B4-BE49-F238E27FC236}">
                <a16:creationId xmlns:a16="http://schemas.microsoft.com/office/drawing/2014/main" id="{CCAE4B8C-9E84-4819-A9C1-C01A18C1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9906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Der echte Mehrwert ist nicht die Prognose allein – sondern eine nachvollziehbare Umzugsentscheidung.</a:t>
            </a:r>
          </a:p>
        </p:txBody>
      </p:sp>
      <p:sp>
        <p:nvSpPr>
          <p:cNvPr id="6" name="conclusion-page">
            <a:extLst xmlns:a="http://schemas.openxmlformats.org/drawingml/2006/main">
              <a:ext uri="{FF2B5EF4-FFF2-40B4-BE49-F238E27FC236}">
                <a16:creationId xmlns:a16="http://schemas.microsoft.com/office/drawing/2014/main" id="{96D2B463-2AAB-42AF-BE55-1AC77568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AAB5C3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781055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13">
            <a:extLst xmlns:a="http://schemas.openxmlformats.org/drawingml/2006/main">
              <a:ext uri="{FF2B5EF4-FFF2-40B4-BE49-F238E27FC236}">
                <a16:creationId xmlns:a16="http://schemas.microsoft.com/office/drawing/2014/main" id="{93696119-DDA9-4A2C-9A48-982602F6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Quellen und Reproduzierbarkeit</a:t>
            </a:r>
          </a:p>
        </p:txBody>
      </p:sp>
      <p:sp>
        <p:nvSpPr>
          <p:cNvPr id="2" name="source-13">
            <a:extLst xmlns:a="http://schemas.openxmlformats.org/drawingml/2006/main">
              <a:ext uri="{FF2B5EF4-FFF2-40B4-BE49-F238E27FC236}">
                <a16:creationId xmlns:a16="http://schemas.microsoft.com/office/drawing/2014/main" id="{83707F87-5B9C-4B66-9D9C-29A20FD6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" name="page-13">
            <a:extLst xmlns:a="http://schemas.openxmlformats.org/drawingml/2006/main">
              <a:ext uri="{FF2B5EF4-FFF2-40B4-BE49-F238E27FC236}">
                <a16:creationId xmlns:a16="http://schemas.microsoft.com/office/drawing/2014/main" id="{EA57FBD8-CDCA-44DD-91FA-4E6FE521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13</a:t>
            </a:r>
          </a:p>
        </p:txBody>
      </p:sp>
      <p:sp>
        <p:nvSpPr>
          <p:cNvPr id="4" name="sources-one-title">
            <a:extLst xmlns:a="http://schemas.openxmlformats.org/drawingml/2006/main">
              <a:ext uri="{FF2B5EF4-FFF2-40B4-BE49-F238E27FC236}">
                <a16:creationId xmlns:a16="http://schemas.microsoft.com/office/drawing/2014/main" id="{9D66DAA3-8D4C-473A-A299-284DDB93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B6E4F"/>
                </a:solidFill>
                <a:latin typeface="Arial"/>
                <a:ea typeface="Arial"/>
                <a:cs typeface="Arial"/>
              </a:defRPr>
            </a:pPr>
            <a:r>
              <a:t>Zensus 2022</a:t>
            </a:r>
          </a:p>
        </p:txBody>
      </p:sp>
      <p:sp>
        <p:nvSpPr>
          <p:cNvPr id="5" name="sources-one-body">
            <a:extLst xmlns:a="http://schemas.openxmlformats.org/drawingml/2006/main">
              <a:ext uri="{FF2B5EF4-FFF2-40B4-BE49-F238E27FC236}">
                <a16:creationId xmlns:a16="http://schemas.microsoft.com/office/drawing/2014/main" id="{4C5D4375-07B4-41A0-BE93-58DA547A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49530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Statistische Ämter des Bundes und der Länder
100-m-Gitterdaten · Datenlizenz Deutschland – Namensnennung 2.0
Stichtag: 15.05.2022 · Veröffentlichung 2025</a:t>
            </a:r>
          </a:p>
        </p:txBody>
      </p:sp>
      <p:sp>
        <p:nvSpPr>
          <p:cNvPr id="6" name="sources-two-title">
            <a:extLst xmlns:a="http://schemas.openxmlformats.org/drawingml/2006/main">
              <a:ext uri="{FF2B5EF4-FFF2-40B4-BE49-F238E27FC236}">
                <a16:creationId xmlns:a16="http://schemas.microsoft.com/office/drawing/2014/main" id="{BD00628D-D27A-4E7B-B080-0667B255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D5BFF"/>
                </a:solidFill>
                <a:latin typeface="Arial"/>
                <a:ea typeface="Arial"/>
                <a:cs typeface="Arial"/>
              </a:defRPr>
            </a:pPr>
            <a:r>
              <a:t>GREIX Mietpreisindex</a:t>
            </a:r>
          </a:p>
        </p:txBody>
      </p:sp>
      <p:sp>
        <p:nvSpPr>
          <p:cNvPr id="7" name="sources-two-body">
            <a:extLst xmlns:a="http://schemas.openxmlformats.org/drawingml/2006/main">
              <a:ext uri="{FF2B5EF4-FFF2-40B4-BE49-F238E27FC236}">
                <a16:creationId xmlns:a16="http://schemas.microsoft.com/office/drawing/2014/main" id="{CE03C17D-4814-4EA0-83A5-2BF38B9A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2197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Kiel Institut für Weltwirtschaft auf Basis der VALUE Marktdatenbank
Nominale Quartalswerte 2012-Q1 bis 2026-Q1
37 lokale Märkte plus Deutschlandreferenz</a:t>
            </a:r>
          </a:p>
        </p:txBody>
      </p:sp>
      <p:cxnSp>
        <p:nvCxnSpPr>
          <p:cNvPr id="20" name="sources-divider"/>
          <p:cNvCxnSpPr/>
          <p:nvPr/>
        </p:nvCxnSpPr>
        <p:spPr>
          <a:xfrm xmlns:a="http://schemas.openxmlformats.org/drawingml/2006/main">
            <a:off x="457200" y="3543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E0E8"/>
            </a:solidFill>
            <a:prstDash val="solid"/>
          </a:ln>
        </p:spPr>
      </p:cxnSp>
      <p:sp>
        <p:nvSpPr>
          <p:cNvPr id="9" name="sources-repro-title">
            <a:extLst xmlns:a="http://schemas.openxmlformats.org/drawingml/2006/main">
              <a:ext uri="{FF2B5EF4-FFF2-40B4-BE49-F238E27FC236}">
                <a16:creationId xmlns:a16="http://schemas.microsoft.com/office/drawing/2014/main" id="{7D30E10B-C1C0-4649-823C-19DCBA43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Reproduzierbar im Repository</a:t>
            </a:r>
          </a:p>
        </p:txBody>
      </p:sp>
      <p:sp>
        <p:nvSpPr>
          <p:cNvPr id="10" name="sources-repro-body">
            <a:extLst xmlns:a="http://schemas.openxmlformats.org/drawingml/2006/main">
              <a:ext uri="{FF2B5EF4-FFF2-40B4-BE49-F238E27FC236}">
                <a16:creationId xmlns:a16="http://schemas.microsoft.com/office/drawing/2014/main" id="{E05FECC3-DCE5-4817-9816-D3DBE01C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Download → Build → Spatial CV → Tuning → finales Training → GREIX-Profile → Notebooks → Streamlit</a:t>
            </a:r>
          </a:p>
        </p:txBody>
      </p:sp>
      <p:sp>
        <p:nvSpPr>
          <p:cNvPr id="11" name="sources-code">
            <a:extLst xmlns:a="http://schemas.openxmlformats.org/drawingml/2006/main">
              <a:ext uri="{FF2B5EF4-FFF2-40B4-BE49-F238E27FC236}">
                <a16:creationId xmlns:a16="http://schemas.microsoft.com/office/drawing/2014/main" id="{4E41CA60-901F-4354-BD8F-60B8F010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04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solidFill>
              <a:srgbClr val="EEF1EF"/>
            </a:solidFill>
            <a:prstDash val="solid"/>
          </a:ln>
        </p:spPr>
      </p:sp>
      <p:sp>
        <p:nvSpPr>
          <p:cNvPr id="12" name="sources-code-text">
            <a:extLst xmlns:a="http://schemas.openxmlformats.org/drawingml/2006/main">
              <a:ext uri="{FF2B5EF4-FFF2-40B4-BE49-F238E27FC236}">
                <a16:creationId xmlns:a16="http://schemas.microsoft.com/office/drawing/2014/main" id="{FFA51586-FF4A-4DE9-9396-42997E71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591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scripts/ · notebooks/ · reports/ · models/ · tests/ · docs/DATA_CARD.md · docs/MODEL_CARD.md</a:t>
            </a:r>
          </a:p>
        </p:txBody>
      </p:sp>
    </p:spTree>
    <p:extLst>
      <p:ext uri="{BB962C8B-B14F-4D97-AF65-F5344CB8AC3E}">
        <p14:creationId xmlns:p14="http://schemas.microsoft.com/office/powerpoint/2010/main" val="4847269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14">
            <a:extLst xmlns:a="http://schemas.openxmlformats.org/drawingml/2006/main">
              <a:ext uri="{FF2B5EF4-FFF2-40B4-BE49-F238E27FC236}">
                <a16:creationId xmlns:a16="http://schemas.microsoft.com/office/drawing/2014/main" id="{70EE301D-22A7-4C0A-B85F-C536BA24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2238"/>
                </a:solidFill>
                <a:latin typeface="Arial"/>
                <a:ea typeface="Arial"/>
                <a:cs typeface="Arial"/>
              </a:defRPr>
            </a:pPr>
            <a:r>
              <a:t>Methodische Detailwerte für Rückfragen</a:t>
            </a:r>
          </a:p>
        </p:txBody>
      </p:sp>
      <p:sp>
        <p:nvSpPr>
          <p:cNvPr id="2" name="source-14">
            <a:extLst xmlns:a="http://schemas.openxmlformats.org/drawingml/2006/main">
              <a:ext uri="{FF2B5EF4-FFF2-40B4-BE49-F238E27FC236}">
                <a16:creationId xmlns:a16="http://schemas.microsoft.com/office/drawing/2014/main" id="{25828580-A52B-43D5-B1A8-F105DAD3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Quelle: models/zensus_hgb_meta.json und reports/final_model_evaluation.json.</a:t>
            </a:r>
          </a:p>
        </p:txBody>
      </p:sp>
      <p:sp>
        <p:nvSpPr>
          <p:cNvPr id="3" name="page-14">
            <a:extLst xmlns:a="http://schemas.openxmlformats.org/drawingml/2006/main">
              <a:ext uri="{FF2B5EF4-FFF2-40B4-BE49-F238E27FC236}">
                <a16:creationId xmlns:a16="http://schemas.microsoft.com/office/drawing/2014/main" id="{CA090D69-9AC9-4B96-83BD-538A6A6C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14</a:t>
            </a:r>
          </a:p>
        </p:txBody>
      </p:sp>
      <p:sp>
        <p:nvSpPr>
          <p:cNvPr id="4" name="method-detail-lead">
            <a:extLst xmlns:a="http://schemas.openxmlformats.org/drawingml/2006/main">
              <a:ext uri="{FF2B5EF4-FFF2-40B4-BE49-F238E27FC236}">
                <a16:creationId xmlns:a16="http://schemas.microsoft.com/office/drawing/2014/main" id="{0494C52F-47B3-439A-B14D-D8A3A7DD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Finales HGB: learning_rate 0,06 · 300 Iterationen · 127 Blätter · min. 100 Zeilen/Blatt · L2 = 5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457200" y="2190750"/>
          <a:ext xmlns:a="http://schemas.openxmlformats.org/drawingml/2006/main" cx="11049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000250"/>
                <a:gridCol w="2000250"/>
                <a:gridCol w="2476500"/>
              </a:tblGrid>
              <a:tr h="5715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Subgruppe</a:t>
                      </a:r>
                    </a:p>
                  </a:txBody>
                  <a:tcPr marL="114300" marR="114300" marT="114300" marB="11430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Zeilen</a:t>
                      </a:r>
                    </a:p>
                  </a:txBody>
                  <a:tcPr marL="114300" marR="114300" marT="114300" marB="11430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MAE €/m²</a:t>
                      </a:r>
                    </a:p>
                  </a:txBody>
                  <a:tcPr marL="114300" marR="114300" marT="114300" marB="114300"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Intervall-Coverage</a:t>
                      </a:r>
                    </a:p>
                  </a:txBody>
                  <a:tcPr marL="114300" marR="114300" marT="114300" marB="114300">
                    <a:solidFill>
                      <a:srgbClr val="1322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Gebäude bis 1990 · ≤65 m²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81.662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1,436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87,4 %</a:t>
                      </a:r>
                    </a:p>
                  </a:txBody>
                  <a:tcPr marL="114300" marR="114300" marT="114300" marB="11430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Gebäude bis 1990 · &gt;65 m²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114.791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1,170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87,6 %</a:t>
                      </a:r>
                    </a:p>
                  </a:txBody>
                  <a:tcPr marL="114300" marR="114300" marT="114300" marB="11430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Gebäude nach 1990 · ≤65 m²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29.417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1,907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85,2 %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Gebäude nach 1990 · &gt;65 m²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50.588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1,642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2238"/>
                          </a:solidFill>
                        </a:rPr>
                        <a:t>85,1 %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6" name="method-detail-conclusion">
            <a:extLst xmlns:a="http://schemas.openxmlformats.org/drawingml/2006/main">
              <a:ext uri="{FF2B5EF4-FFF2-40B4-BE49-F238E27FC236}">
                <a16:creationId xmlns:a16="http://schemas.microsoft.com/office/drawing/2014/main" id="{703B4447-B87B-4B15-A02D-CF08B288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Neubauten generalisieren schwächer – deshalb nutzt MietCheck kategoriespezifische Intervallbreiten.</a:t>
            </a:r>
          </a:p>
        </p:txBody>
      </p:sp>
    </p:spTree>
    <p:extLst>
      <p:ext uri="{BB962C8B-B14F-4D97-AF65-F5344CB8AC3E}">
        <p14:creationId xmlns:p14="http://schemas.microsoft.com/office/powerpoint/2010/main" val="18851690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2026-07-17T08:53:44.9010000Z</dcterms:created>
  <dcterms:modified xsi:type="dcterms:W3CDTF">2026-07-17T08:53:44.9010000Z</dcterms:modified>
</coreProperties>
</file>